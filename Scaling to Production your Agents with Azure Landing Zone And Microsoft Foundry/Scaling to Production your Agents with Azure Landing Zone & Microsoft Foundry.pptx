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48"/>
  </p:notesMasterIdLst>
  <p:sldIdLst>
    <p:sldId id="263" r:id="rId5"/>
    <p:sldId id="262" r:id="rId6"/>
    <p:sldId id="258" r:id="rId7"/>
    <p:sldId id="264" r:id="rId8"/>
    <p:sldId id="2564" r:id="rId9"/>
    <p:sldId id="2565" r:id="rId10"/>
    <p:sldId id="259" r:id="rId11"/>
    <p:sldId id="2582" r:id="rId12"/>
    <p:sldId id="2567" r:id="rId13"/>
    <p:sldId id="2568" r:id="rId14"/>
    <p:sldId id="2569" r:id="rId15"/>
    <p:sldId id="2583" r:id="rId16"/>
    <p:sldId id="260" r:id="rId17"/>
    <p:sldId id="2571" r:id="rId18"/>
    <p:sldId id="2572" r:id="rId19"/>
    <p:sldId id="2597" r:id="rId20"/>
    <p:sldId id="2599" r:id="rId21"/>
    <p:sldId id="2603" r:id="rId22"/>
    <p:sldId id="2584" r:id="rId23"/>
    <p:sldId id="2585" r:id="rId24"/>
    <p:sldId id="2586" r:id="rId25"/>
    <p:sldId id="2573" r:id="rId26"/>
    <p:sldId id="2600" r:id="rId27"/>
    <p:sldId id="2575" r:id="rId28"/>
    <p:sldId id="2587" r:id="rId29"/>
    <p:sldId id="2576" r:id="rId30"/>
    <p:sldId id="2602" r:id="rId31"/>
    <p:sldId id="2588" r:id="rId32"/>
    <p:sldId id="2589" r:id="rId33"/>
    <p:sldId id="2590" r:id="rId34"/>
    <p:sldId id="2591" r:id="rId35"/>
    <p:sldId id="2592" r:id="rId36"/>
    <p:sldId id="2593" r:id="rId37"/>
    <p:sldId id="2594" r:id="rId38"/>
    <p:sldId id="2601" r:id="rId39"/>
    <p:sldId id="2578" r:id="rId40"/>
    <p:sldId id="2598" r:id="rId41"/>
    <p:sldId id="2579" r:id="rId42"/>
    <p:sldId id="2595" r:id="rId43"/>
    <p:sldId id="2580" r:id="rId44"/>
    <p:sldId id="2596" r:id="rId45"/>
    <p:sldId id="265" r:id="rId46"/>
    <p:sldId id="261" r:id="rId47"/>
  </p:sldIdLst>
  <p:sldSz cx="12192000" cy="6858000"/>
  <p:notesSz cx="6858000" cy="9144000"/>
  <p:embeddedFontLst>
    <p:embeddedFont>
      <p:font typeface="Avenir Next LT Pro" panose="020B0504020202020204" pitchFamily="34" charset="0"/>
      <p:regular r:id="rId49"/>
      <p:bold r:id="rId50"/>
    </p:embeddedFont>
    <p:embeddedFont>
      <p:font typeface="Avenir Next LT Pro Bold" panose="020B0604020202020204" charset="0"/>
      <p:bold r:id="rId51"/>
    </p:embeddedFont>
    <p:embeddedFont>
      <p:font typeface="Lufga" panose="020B0604020202020204" charset="0"/>
      <p:regular r:id="rId52"/>
      <p:bold r:id="rId53"/>
      <p:italic r:id="rId54"/>
      <p:boldItalic r:id="rId55"/>
    </p:embeddedFont>
    <p:embeddedFont>
      <p:font typeface="Neue Haas Grotesk Text Pro" panose="020B0504020202020204" pitchFamily="34"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A66"/>
    <a:srgbClr val="D552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4090C-9EF0-44B8-94D8-88329909BCF7}" v="1" dt="2026-01-16T05:15:13.439"/>
    <p1510:client id="{9302ED8C-FB82-4919-94E2-50C9F35C7678}" v="26" dt="2026-01-16T14:35:09.6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font" Target="fonts/font6.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font" Target="fonts/font10.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font" Target="fonts/font9.fntdata"/><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1.fntdata"/></Relationships>
</file>

<file path=ppt/diagrams/_rels/data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s>
</file>

<file path=ppt/diagrams/_rels/data5.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75.png"/><Relationship Id="rId7" Type="http://schemas.openxmlformats.org/officeDocument/2006/relationships/image" Target="../media/image85.png"/><Relationship Id="rId2" Type="http://schemas.openxmlformats.org/officeDocument/2006/relationships/image" Target="../media/image82.svg"/><Relationship Id="rId1" Type="http://schemas.openxmlformats.org/officeDocument/2006/relationships/image" Target="../media/image81.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7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75.png"/><Relationship Id="rId7" Type="http://schemas.openxmlformats.org/officeDocument/2006/relationships/image" Target="../media/image85.png"/><Relationship Id="rId2" Type="http://schemas.openxmlformats.org/officeDocument/2006/relationships/image" Target="../media/image82.svg"/><Relationship Id="rId1" Type="http://schemas.openxmlformats.org/officeDocument/2006/relationships/image" Target="../media/image81.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7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2936A5-10EF-442D-9DA9-0DCE77A1856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704737E-0FA5-4334-955D-230F5B619A58}">
      <dgm:prSet/>
      <dgm:spPr/>
      <dgm:t>
        <a:bodyPr/>
        <a:lstStyle/>
        <a:p>
          <a:r>
            <a:rPr lang="en-GB"/>
            <a:t>Current State</a:t>
          </a:r>
          <a:endParaRPr lang="en-US"/>
        </a:p>
      </dgm:t>
    </dgm:pt>
    <dgm:pt modelId="{0A5479C7-F983-4E1A-9C1D-DAE3D5F1F32F}" type="parTrans" cxnId="{36FFD966-F353-4F9B-8F56-ACFA029F90A5}">
      <dgm:prSet/>
      <dgm:spPr/>
      <dgm:t>
        <a:bodyPr/>
        <a:lstStyle/>
        <a:p>
          <a:endParaRPr lang="en-US"/>
        </a:p>
      </dgm:t>
    </dgm:pt>
    <dgm:pt modelId="{B9E7301B-85D5-4F67-97A8-2719528D0B36}" type="sibTrans" cxnId="{36FFD966-F353-4F9B-8F56-ACFA029F90A5}">
      <dgm:prSet/>
      <dgm:spPr/>
      <dgm:t>
        <a:bodyPr/>
        <a:lstStyle/>
        <a:p>
          <a:endParaRPr lang="en-US"/>
        </a:p>
      </dgm:t>
    </dgm:pt>
    <dgm:pt modelId="{CC6EC178-9127-4ED9-8903-0A185020B0F3}">
      <dgm:prSet/>
      <dgm:spPr/>
      <dgm:t>
        <a:bodyPr/>
        <a:lstStyle/>
        <a:p>
          <a:r>
            <a:rPr lang="en-GB"/>
            <a:t>API keys in source code, public endpoints, no network isolation</a:t>
          </a:r>
          <a:endParaRPr lang="en-US"/>
        </a:p>
      </dgm:t>
    </dgm:pt>
    <dgm:pt modelId="{6E317FA1-4575-4B4E-AE13-2860058EC4B2}" type="parTrans" cxnId="{B5E9A7ED-6C68-4B7F-A500-5D77AC8DBA67}">
      <dgm:prSet/>
      <dgm:spPr/>
      <dgm:t>
        <a:bodyPr/>
        <a:lstStyle/>
        <a:p>
          <a:endParaRPr lang="en-US"/>
        </a:p>
      </dgm:t>
    </dgm:pt>
    <dgm:pt modelId="{0D043F35-930B-48AE-9E32-AD9088A245A6}" type="sibTrans" cxnId="{B5E9A7ED-6C68-4B7F-A500-5D77AC8DBA67}">
      <dgm:prSet/>
      <dgm:spPr/>
      <dgm:t>
        <a:bodyPr/>
        <a:lstStyle/>
        <a:p>
          <a:endParaRPr lang="en-US"/>
        </a:p>
      </dgm:t>
    </dgm:pt>
    <dgm:pt modelId="{DE0B60A5-2817-48DB-ACD2-5E9D0000457C}">
      <dgm:prSet/>
      <dgm:spPr/>
      <dgm:t>
        <a:bodyPr/>
        <a:lstStyle/>
        <a:p>
          <a:r>
            <a:rPr lang="en-GB"/>
            <a:t>Solution</a:t>
          </a:r>
          <a:endParaRPr lang="en-US"/>
        </a:p>
      </dgm:t>
    </dgm:pt>
    <dgm:pt modelId="{1E6FB1FF-6977-45D1-B5E5-CE299F70EBF7}" type="parTrans" cxnId="{30560BE8-1916-4900-8C0E-4E483EE98FE6}">
      <dgm:prSet/>
      <dgm:spPr/>
      <dgm:t>
        <a:bodyPr/>
        <a:lstStyle/>
        <a:p>
          <a:endParaRPr lang="en-US"/>
        </a:p>
      </dgm:t>
    </dgm:pt>
    <dgm:pt modelId="{2907752E-D4D5-432A-B6EE-A24D2A5696D6}" type="sibTrans" cxnId="{30560BE8-1916-4900-8C0E-4E483EE98FE6}">
      <dgm:prSet/>
      <dgm:spPr/>
      <dgm:t>
        <a:bodyPr/>
        <a:lstStyle/>
        <a:p>
          <a:endParaRPr lang="en-US"/>
        </a:p>
      </dgm:t>
    </dgm:pt>
    <dgm:pt modelId="{BDC251EC-78C1-4F26-B3E8-35F2667A0AD2}">
      <dgm:prSet/>
      <dgm:spPr/>
      <dgm:t>
        <a:bodyPr/>
        <a:lstStyle/>
        <a:p>
          <a:r>
            <a:rPr lang="en-GB"/>
            <a:t>Private endpoints, managed identities, Entra ID tokens, Zero Trust</a:t>
          </a:r>
          <a:endParaRPr lang="en-US"/>
        </a:p>
      </dgm:t>
    </dgm:pt>
    <dgm:pt modelId="{7AE95489-3D26-4809-BAD7-9499E6DFBEB0}" type="parTrans" cxnId="{3BA815DF-A736-4EA3-86C0-DE28D01D956C}">
      <dgm:prSet/>
      <dgm:spPr/>
      <dgm:t>
        <a:bodyPr/>
        <a:lstStyle/>
        <a:p>
          <a:endParaRPr lang="en-US"/>
        </a:p>
      </dgm:t>
    </dgm:pt>
    <dgm:pt modelId="{A9516F76-4E9D-4D2A-8AED-49F44154B522}" type="sibTrans" cxnId="{3BA815DF-A736-4EA3-86C0-DE28D01D956C}">
      <dgm:prSet/>
      <dgm:spPr/>
      <dgm:t>
        <a:bodyPr/>
        <a:lstStyle/>
        <a:p>
          <a:endParaRPr lang="en-US"/>
        </a:p>
      </dgm:t>
    </dgm:pt>
    <dgm:pt modelId="{D43F7BB8-C878-453A-A1BD-0C034E43E1E8}" type="pres">
      <dgm:prSet presAssocID="{862936A5-10EF-442D-9DA9-0DCE77A1856D}" presName="root" presStyleCnt="0">
        <dgm:presLayoutVars>
          <dgm:dir/>
          <dgm:resizeHandles val="exact"/>
        </dgm:presLayoutVars>
      </dgm:prSet>
      <dgm:spPr/>
    </dgm:pt>
    <dgm:pt modelId="{3FFE7ED6-0845-460A-ACAA-D2EF95259D40}" type="pres">
      <dgm:prSet presAssocID="{C704737E-0FA5-4334-955D-230F5B619A58}" presName="compNode" presStyleCnt="0"/>
      <dgm:spPr/>
    </dgm:pt>
    <dgm:pt modelId="{86D15D88-1CAA-41FE-B67E-3FD450BE722B}" type="pres">
      <dgm:prSet presAssocID="{C704737E-0FA5-4334-955D-230F5B619A58}" presName="bgRect" presStyleLbl="bgShp" presStyleIdx="0" presStyleCnt="4" custLinFactNeighborX="-510" custLinFactNeighborY="9586"/>
      <dgm:spPr/>
    </dgm:pt>
    <dgm:pt modelId="{CC537192-7F05-41CE-B263-6CAE31EA6A08}" type="pres">
      <dgm:prSet presAssocID="{C704737E-0FA5-4334-955D-230F5B619A5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1CC596BD-8466-4560-A830-1BA34ECB1704}" type="pres">
      <dgm:prSet presAssocID="{C704737E-0FA5-4334-955D-230F5B619A58}" presName="spaceRect" presStyleCnt="0"/>
      <dgm:spPr/>
    </dgm:pt>
    <dgm:pt modelId="{CCD6B30D-F62B-4195-9B72-B41D5420ED7E}" type="pres">
      <dgm:prSet presAssocID="{C704737E-0FA5-4334-955D-230F5B619A58}" presName="parTx" presStyleLbl="revTx" presStyleIdx="0" presStyleCnt="4">
        <dgm:presLayoutVars>
          <dgm:chMax val="0"/>
          <dgm:chPref val="0"/>
        </dgm:presLayoutVars>
      </dgm:prSet>
      <dgm:spPr/>
    </dgm:pt>
    <dgm:pt modelId="{2723122B-5A8E-4396-A7A3-E03EA33AEE3E}" type="pres">
      <dgm:prSet presAssocID="{B9E7301B-85D5-4F67-97A8-2719528D0B36}" presName="sibTrans" presStyleCnt="0"/>
      <dgm:spPr/>
    </dgm:pt>
    <dgm:pt modelId="{ADA70D59-19B0-46E0-B684-43A49B69A9F7}" type="pres">
      <dgm:prSet presAssocID="{CC6EC178-9127-4ED9-8903-0A185020B0F3}" presName="compNode" presStyleCnt="0"/>
      <dgm:spPr/>
    </dgm:pt>
    <dgm:pt modelId="{21823D85-4077-49DC-8025-9E2933D1DB5B}" type="pres">
      <dgm:prSet presAssocID="{CC6EC178-9127-4ED9-8903-0A185020B0F3}" presName="bgRect" presStyleLbl="bgShp" presStyleIdx="1" presStyleCnt="4" custLinFactNeighborX="-87" custLinFactNeighborY="11321"/>
      <dgm:spPr/>
    </dgm:pt>
    <dgm:pt modelId="{383A1C5F-0CAF-4DB4-BBBB-3E02AB09D34F}" type="pres">
      <dgm:prSet presAssocID="{CC6EC178-9127-4ED9-8903-0A185020B0F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ADB5D3A1-14CB-49C2-B3F0-48DBB06C2672}" type="pres">
      <dgm:prSet presAssocID="{CC6EC178-9127-4ED9-8903-0A185020B0F3}" presName="spaceRect" presStyleCnt="0"/>
      <dgm:spPr/>
    </dgm:pt>
    <dgm:pt modelId="{3730D722-B365-474C-B228-F184926F5FC1}" type="pres">
      <dgm:prSet presAssocID="{CC6EC178-9127-4ED9-8903-0A185020B0F3}" presName="parTx" presStyleLbl="revTx" presStyleIdx="1" presStyleCnt="4">
        <dgm:presLayoutVars>
          <dgm:chMax val="0"/>
          <dgm:chPref val="0"/>
        </dgm:presLayoutVars>
      </dgm:prSet>
      <dgm:spPr/>
    </dgm:pt>
    <dgm:pt modelId="{ADC20B9C-176D-4198-A919-736908029CD4}" type="pres">
      <dgm:prSet presAssocID="{0D043F35-930B-48AE-9E32-AD9088A245A6}" presName="sibTrans" presStyleCnt="0"/>
      <dgm:spPr/>
    </dgm:pt>
    <dgm:pt modelId="{584B7BC7-A9AB-4926-98BE-C8DE4BBF92C7}" type="pres">
      <dgm:prSet presAssocID="{DE0B60A5-2817-48DB-ACD2-5E9D0000457C}" presName="compNode" presStyleCnt="0"/>
      <dgm:spPr/>
    </dgm:pt>
    <dgm:pt modelId="{1695102E-ED4E-44CE-9258-34457748D53C}" type="pres">
      <dgm:prSet presAssocID="{DE0B60A5-2817-48DB-ACD2-5E9D0000457C}" presName="bgRect" presStyleLbl="bgShp" presStyleIdx="2" presStyleCnt="4" custLinFactNeighborX="-87" custLinFactNeighborY="5633"/>
      <dgm:spPr/>
    </dgm:pt>
    <dgm:pt modelId="{5A0642CC-B48C-499B-AFAA-7C2C7E81B8B6}" type="pres">
      <dgm:prSet presAssocID="{DE0B60A5-2817-48DB-ACD2-5E9D000045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BAF1F6BA-A926-4142-A1D1-0C7BAEB69731}" type="pres">
      <dgm:prSet presAssocID="{DE0B60A5-2817-48DB-ACD2-5E9D0000457C}" presName="spaceRect" presStyleCnt="0"/>
      <dgm:spPr/>
    </dgm:pt>
    <dgm:pt modelId="{D2EED26D-B305-4198-8A74-1F985300CB52}" type="pres">
      <dgm:prSet presAssocID="{DE0B60A5-2817-48DB-ACD2-5E9D0000457C}" presName="parTx" presStyleLbl="revTx" presStyleIdx="2" presStyleCnt="4">
        <dgm:presLayoutVars>
          <dgm:chMax val="0"/>
          <dgm:chPref val="0"/>
        </dgm:presLayoutVars>
      </dgm:prSet>
      <dgm:spPr/>
    </dgm:pt>
    <dgm:pt modelId="{7F42C4A5-65E8-4389-8167-B44AE399EFF4}" type="pres">
      <dgm:prSet presAssocID="{2907752E-D4D5-432A-B6EE-A24D2A5696D6}" presName="sibTrans" presStyleCnt="0"/>
      <dgm:spPr/>
    </dgm:pt>
    <dgm:pt modelId="{214B67B4-3AAD-477C-BEBA-3EDE271A9784}" type="pres">
      <dgm:prSet presAssocID="{BDC251EC-78C1-4F26-B3E8-35F2667A0AD2}" presName="compNode" presStyleCnt="0"/>
      <dgm:spPr/>
    </dgm:pt>
    <dgm:pt modelId="{750A5016-8B1F-49D4-ABD7-C003ADCD798E}" type="pres">
      <dgm:prSet presAssocID="{BDC251EC-78C1-4F26-B3E8-35F2667A0AD2}" presName="bgRect" presStyleLbl="bgShp" presStyleIdx="3" presStyleCnt="4"/>
      <dgm:spPr/>
    </dgm:pt>
    <dgm:pt modelId="{E5CB463C-80E9-4DD2-AD33-4FC0E35D5D71}" type="pres">
      <dgm:prSet presAssocID="{BDC251EC-78C1-4F26-B3E8-35F2667A0AD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mployee Badge"/>
        </a:ext>
      </dgm:extLst>
    </dgm:pt>
    <dgm:pt modelId="{FC324A42-BCBC-42C5-8766-3B588C28B4B6}" type="pres">
      <dgm:prSet presAssocID="{BDC251EC-78C1-4F26-B3E8-35F2667A0AD2}" presName="spaceRect" presStyleCnt="0"/>
      <dgm:spPr/>
    </dgm:pt>
    <dgm:pt modelId="{AF6198D6-ABDD-4F0C-8A90-1717B96AA526}" type="pres">
      <dgm:prSet presAssocID="{BDC251EC-78C1-4F26-B3E8-35F2667A0AD2}" presName="parTx" presStyleLbl="revTx" presStyleIdx="3" presStyleCnt="4">
        <dgm:presLayoutVars>
          <dgm:chMax val="0"/>
          <dgm:chPref val="0"/>
        </dgm:presLayoutVars>
      </dgm:prSet>
      <dgm:spPr/>
    </dgm:pt>
  </dgm:ptLst>
  <dgm:cxnLst>
    <dgm:cxn modelId="{36FFD966-F353-4F9B-8F56-ACFA029F90A5}" srcId="{862936A5-10EF-442D-9DA9-0DCE77A1856D}" destId="{C704737E-0FA5-4334-955D-230F5B619A58}" srcOrd="0" destOrd="0" parTransId="{0A5479C7-F983-4E1A-9C1D-DAE3D5F1F32F}" sibTransId="{B9E7301B-85D5-4F67-97A8-2719528D0B36}"/>
    <dgm:cxn modelId="{5A60B883-AF93-4C28-829B-B762831CC882}" type="presOf" srcId="{862936A5-10EF-442D-9DA9-0DCE77A1856D}" destId="{D43F7BB8-C878-453A-A1BD-0C034E43E1E8}" srcOrd="0" destOrd="0" presId="urn:microsoft.com/office/officeart/2018/2/layout/IconVerticalSolidList"/>
    <dgm:cxn modelId="{AD82B1B5-5A80-40F4-93B3-CACD945BC2D9}" type="presOf" srcId="{BDC251EC-78C1-4F26-B3E8-35F2667A0AD2}" destId="{AF6198D6-ABDD-4F0C-8A90-1717B96AA526}" srcOrd="0" destOrd="0" presId="urn:microsoft.com/office/officeart/2018/2/layout/IconVerticalSolidList"/>
    <dgm:cxn modelId="{57BFFFBD-73FA-4D02-9A93-90463AE6C479}" type="presOf" srcId="{C704737E-0FA5-4334-955D-230F5B619A58}" destId="{CCD6B30D-F62B-4195-9B72-B41D5420ED7E}" srcOrd="0" destOrd="0" presId="urn:microsoft.com/office/officeart/2018/2/layout/IconVerticalSolidList"/>
    <dgm:cxn modelId="{C7D5C8CD-DB99-42C4-90CA-264BF0379C47}" type="presOf" srcId="{CC6EC178-9127-4ED9-8903-0A185020B0F3}" destId="{3730D722-B365-474C-B228-F184926F5FC1}" srcOrd="0" destOrd="0" presId="urn:microsoft.com/office/officeart/2018/2/layout/IconVerticalSolidList"/>
    <dgm:cxn modelId="{3BA815DF-A736-4EA3-86C0-DE28D01D956C}" srcId="{862936A5-10EF-442D-9DA9-0DCE77A1856D}" destId="{BDC251EC-78C1-4F26-B3E8-35F2667A0AD2}" srcOrd="3" destOrd="0" parTransId="{7AE95489-3D26-4809-BAD7-9499E6DFBEB0}" sibTransId="{A9516F76-4E9D-4D2A-8AED-49F44154B522}"/>
    <dgm:cxn modelId="{30560BE8-1916-4900-8C0E-4E483EE98FE6}" srcId="{862936A5-10EF-442D-9DA9-0DCE77A1856D}" destId="{DE0B60A5-2817-48DB-ACD2-5E9D0000457C}" srcOrd="2" destOrd="0" parTransId="{1E6FB1FF-6977-45D1-B5E5-CE299F70EBF7}" sibTransId="{2907752E-D4D5-432A-B6EE-A24D2A5696D6}"/>
    <dgm:cxn modelId="{B5E9A7ED-6C68-4B7F-A500-5D77AC8DBA67}" srcId="{862936A5-10EF-442D-9DA9-0DCE77A1856D}" destId="{CC6EC178-9127-4ED9-8903-0A185020B0F3}" srcOrd="1" destOrd="0" parTransId="{6E317FA1-4575-4B4E-AE13-2860058EC4B2}" sibTransId="{0D043F35-930B-48AE-9E32-AD9088A245A6}"/>
    <dgm:cxn modelId="{5AAE75F3-FEE2-4768-9029-AD98F662960F}" type="presOf" srcId="{DE0B60A5-2817-48DB-ACD2-5E9D0000457C}" destId="{D2EED26D-B305-4198-8A74-1F985300CB52}" srcOrd="0" destOrd="0" presId="urn:microsoft.com/office/officeart/2018/2/layout/IconVerticalSolidList"/>
    <dgm:cxn modelId="{8CE2B3CE-1F63-493E-8026-CEB518CF780C}" type="presParOf" srcId="{D43F7BB8-C878-453A-A1BD-0C034E43E1E8}" destId="{3FFE7ED6-0845-460A-ACAA-D2EF95259D40}" srcOrd="0" destOrd="0" presId="urn:microsoft.com/office/officeart/2018/2/layout/IconVerticalSolidList"/>
    <dgm:cxn modelId="{88D765B0-135D-4D60-AEE3-68AE1C650884}" type="presParOf" srcId="{3FFE7ED6-0845-460A-ACAA-D2EF95259D40}" destId="{86D15D88-1CAA-41FE-B67E-3FD450BE722B}" srcOrd="0" destOrd="0" presId="urn:microsoft.com/office/officeart/2018/2/layout/IconVerticalSolidList"/>
    <dgm:cxn modelId="{C925047A-2AE8-4F10-B7B1-B3FBC94B1AE2}" type="presParOf" srcId="{3FFE7ED6-0845-460A-ACAA-D2EF95259D40}" destId="{CC537192-7F05-41CE-B263-6CAE31EA6A08}" srcOrd="1" destOrd="0" presId="urn:microsoft.com/office/officeart/2018/2/layout/IconVerticalSolidList"/>
    <dgm:cxn modelId="{1C537095-1D1B-4CDD-8D3A-C18082D9EF62}" type="presParOf" srcId="{3FFE7ED6-0845-460A-ACAA-D2EF95259D40}" destId="{1CC596BD-8466-4560-A830-1BA34ECB1704}" srcOrd="2" destOrd="0" presId="urn:microsoft.com/office/officeart/2018/2/layout/IconVerticalSolidList"/>
    <dgm:cxn modelId="{502AD748-AA42-405C-A0B5-378F50B8C0AC}" type="presParOf" srcId="{3FFE7ED6-0845-460A-ACAA-D2EF95259D40}" destId="{CCD6B30D-F62B-4195-9B72-B41D5420ED7E}" srcOrd="3" destOrd="0" presId="urn:microsoft.com/office/officeart/2018/2/layout/IconVerticalSolidList"/>
    <dgm:cxn modelId="{125A690B-235E-49F3-9067-7A5087CAC08E}" type="presParOf" srcId="{D43F7BB8-C878-453A-A1BD-0C034E43E1E8}" destId="{2723122B-5A8E-4396-A7A3-E03EA33AEE3E}" srcOrd="1" destOrd="0" presId="urn:microsoft.com/office/officeart/2018/2/layout/IconVerticalSolidList"/>
    <dgm:cxn modelId="{5AC202B3-CCD3-48FF-89D9-156AE108258D}" type="presParOf" srcId="{D43F7BB8-C878-453A-A1BD-0C034E43E1E8}" destId="{ADA70D59-19B0-46E0-B684-43A49B69A9F7}" srcOrd="2" destOrd="0" presId="urn:microsoft.com/office/officeart/2018/2/layout/IconVerticalSolidList"/>
    <dgm:cxn modelId="{D6C71D24-FD16-4CA3-9180-29D2482C3867}" type="presParOf" srcId="{ADA70D59-19B0-46E0-B684-43A49B69A9F7}" destId="{21823D85-4077-49DC-8025-9E2933D1DB5B}" srcOrd="0" destOrd="0" presId="urn:microsoft.com/office/officeart/2018/2/layout/IconVerticalSolidList"/>
    <dgm:cxn modelId="{56F2D457-F4CC-4934-BDC5-386BF3EC942E}" type="presParOf" srcId="{ADA70D59-19B0-46E0-B684-43A49B69A9F7}" destId="{383A1C5F-0CAF-4DB4-BBBB-3E02AB09D34F}" srcOrd="1" destOrd="0" presId="urn:microsoft.com/office/officeart/2018/2/layout/IconVerticalSolidList"/>
    <dgm:cxn modelId="{CF9495C8-4812-4A43-88DE-646BF8B73750}" type="presParOf" srcId="{ADA70D59-19B0-46E0-B684-43A49B69A9F7}" destId="{ADB5D3A1-14CB-49C2-B3F0-48DBB06C2672}" srcOrd="2" destOrd="0" presId="urn:microsoft.com/office/officeart/2018/2/layout/IconVerticalSolidList"/>
    <dgm:cxn modelId="{89DD34BA-802A-4179-BBBF-04C9A463F102}" type="presParOf" srcId="{ADA70D59-19B0-46E0-B684-43A49B69A9F7}" destId="{3730D722-B365-474C-B228-F184926F5FC1}" srcOrd="3" destOrd="0" presId="urn:microsoft.com/office/officeart/2018/2/layout/IconVerticalSolidList"/>
    <dgm:cxn modelId="{1F1083CC-17BB-4273-88FA-3BF426BB54AD}" type="presParOf" srcId="{D43F7BB8-C878-453A-A1BD-0C034E43E1E8}" destId="{ADC20B9C-176D-4198-A919-736908029CD4}" srcOrd="3" destOrd="0" presId="urn:microsoft.com/office/officeart/2018/2/layout/IconVerticalSolidList"/>
    <dgm:cxn modelId="{EE8EED7E-D0FE-49C7-A624-1FF84DFA799A}" type="presParOf" srcId="{D43F7BB8-C878-453A-A1BD-0C034E43E1E8}" destId="{584B7BC7-A9AB-4926-98BE-C8DE4BBF92C7}" srcOrd="4" destOrd="0" presId="urn:microsoft.com/office/officeart/2018/2/layout/IconVerticalSolidList"/>
    <dgm:cxn modelId="{2C872F43-DC20-4F9A-A654-A5E2FD61A480}" type="presParOf" srcId="{584B7BC7-A9AB-4926-98BE-C8DE4BBF92C7}" destId="{1695102E-ED4E-44CE-9258-34457748D53C}" srcOrd="0" destOrd="0" presId="urn:microsoft.com/office/officeart/2018/2/layout/IconVerticalSolidList"/>
    <dgm:cxn modelId="{5486AAE3-0E30-41DE-84FD-9D26F0F02B21}" type="presParOf" srcId="{584B7BC7-A9AB-4926-98BE-C8DE4BBF92C7}" destId="{5A0642CC-B48C-499B-AFAA-7C2C7E81B8B6}" srcOrd="1" destOrd="0" presId="urn:microsoft.com/office/officeart/2018/2/layout/IconVerticalSolidList"/>
    <dgm:cxn modelId="{11C57615-669C-4C41-B6AB-B412E8E7A69D}" type="presParOf" srcId="{584B7BC7-A9AB-4926-98BE-C8DE4BBF92C7}" destId="{BAF1F6BA-A926-4142-A1D1-0C7BAEB69731}" srcOrd="2" destOrd="0" presId="urn:microsoft.com/office/officeart/2018/2/layout/IconVerticalSolidList"/>
    <dgm:cxn modelId="{C8783780-C2EF-4110-96D2-C83E74676324}" type="presParOf" srcId="{584B7BC7-A9AB-4926-98BE-C8DE4BBF92C7}" destId="{D2EED26D-B305-4198-8A74-1F985300CB52}" srcOrd="3" destOrd="0" presId="urn:microsoft.com/office/officeart/2018/2/layout/IconVerticalSolidList"/>
    <dgm:cxn modelId="{2FF788A6-7A39-4758-8760-63C696FBA84B}" type="presParOf" srcId="{D43F7BB8-C878-453A-A1BD-0C034E43E1E8}" destId="{7F42C4A5-65E8-4389-8167-B44AE399EFF4}" srcOrd="5" destOrd="0" presId="urn:microsoft.com/office/officeart/2018/2/layout/IconVerticalSolidList"/>
    <dgm:cxn modelId="{2B58378D-6434-44E1-B80A-4354042997BA}" type="presParOf" srcId="{D43F7BB8-C878-453A-A1BD-0C034E43E1E8}" destId="{214B67B4-3AAD-477C-BEBA-3EDE271A9784}" srcOrd="6" destOrd="0" presId="urn:microsoft.com/office/officeart/2018/2/layout/IconVerticalSolidList"/>
    <dgm:cxn modelId="{58F9A464-E2B4-42FD-94DC-A9E3FB5883F9}" type="presParOf" srcId="{214B67B4-3AAD-477C-BEBA-3EDE271A9784}" destId="{750A5016-8B1F-49D4-ABD7-C003ADCD798E}" srcOrd="0" destOrd="0" presId="urn:microsoft.com/office/officeart/2018/2/layout/IconVerticalSolidList"/>
    <dgm:cxn modelId="{6BD73EA1-71F6-49E0-B93D-17F6C5858AFC}" type="presParOf" srcId="{214B67B4-3AAD-477C-BEBA-3EDE271A9784}" destId="{E5CB463C-80E9-4DD2-AD33-4FC0E35D5D71}" srcOrd="1" destOrd="0" presId="urn:microsoft.com/office/officeart/2018/2/layout/IconVerticalSolidList"/>
    <dgm:cxn modelId="{284EB013-626F-450E-AEBD-4BF66F83E877}" type="presParOf" srcId="{214B67B4-3AAD-477C-BEBA-3EDE271A9784}" destId="{FC324A42-BCBC-42C5-8766-3B588C28B4B6}" srcOrd="2" destOrd="0" presId="urn:microsoft.com/office/officeart/2018/2/layout/IconVerticalSolidList"/>
    <dgm:cxn modelId="{D8EAE22F-98B3-4835-A90F-11FE8676F651}" type="presParOf" srcId="{214B67B4-3AAD-477C-BEBA-3EDE271A9784}" destId="{AF6198D6-ABDD-4F0C-8A90-1717B96AA52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28BA4C-D4E2-4642-80E4-A17DE58927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336C9F2-B04C-4596-992E-BFFD243A204E}">
      <dgm:prSet/>
      <dgm:spPr/>
      <dgm:t>
        <a:bodyPr/>
        <a:lstStyle/>
        <a:p>
          <a:r>
            <a:rPr lang="en-GB"/>
            <a:t>40-60% reduction in deployment time</a:t>
          </a:r>
          <a:endParaRPr lang="en-US"/>
        </a:p>
      </dgm:t>
    </dgm:pt>
    <dgm:pt modelId="{63135138-7387-4EC7-A9A4-4E40C6C1D1E0}" type="parTrans" cxnId="{61B00066-693C-45BC-B905-849BFAA4AFD5}">
      <dgm:prSet/>
      <dgm:spPr/>
      <dgm:t>
        <a:bodyPr/>
        <a:lstStyle/>
        <a:p>
          <a:endParaRPr lang="en-US"/>
        </a:p>
      </dgm:t>
    </dgm:pt>
    <dgm:pt modelId="{F8B1602F-0692-4E1E-8F24-B25D4B233D10}" type="sibTrans" cxnId="{61B00066-693C-45BC-B905-849BFAA4AFD5}">
      <dgm:prSet/>
      <dgm:spPr/>
      <dgm:t>
        <a:bodyPr/>
        <a:lstStyle/>
        <a:p>
          <a:endParaRPr lang="en-US"/>
        </a:p>
      </dgm:t>
    </dgm:pt>
    <dgm:pt modelId="{ECC6D132-6E0E-40C2-B5B4-2F330F94F2F5}">
      <dgm:prSet/>
      <dgm:spPr/>
      <dgm:t>
        <a:bodyPr/>
        <a:lstStyle/>
        <a:p>
          <a:r>
            <a:rPr lang="en-GB"/>
            <a:t>30-50% cost savings via shared PTU capacity</a:t>
          </a:r>
          <a:endParaRPr lang="en-US"/>
        </a:p>
      </dgm:t>
    </dgm:pt>
    <dgm:pt modelId="{5BB5455D-F77A-4555-97F2-8CD84762A6BA}" type="parTrans" cxnId="{A17CE42D-61B4-4EC2-9140-8E48ED1F4A0A}">
      <dgm:prSet/>
      <dgm:spPr/>
      <dgm:t>
        <a:bodyPr/>
        <a:lstStyle/>
        <a:p>
          <a:endParaRPr lang="en-US"/>
        </a:p>
      </dgm:t>
    </dgm:pt>
    <dgm:pt modelId="{65AC6CE4-6F4C-44DF-A71F-92135E5B26AD}" type="sibTrans" cxnId="{A17CE42D-61B4-4EC2-9140-8E48ED1F4A0A}">
      <dgm:prSet/>
      <dgm:spPr/>
      <dgm:t>
        <a:bodyPr/>
        <a:lstStyle/>
        <a:p>
          <a:endParaRPr lang="en-US"/>
        </a:p>
      </dgm:t>
    </dgm:pt>
    <dgm:pt modelId="{A800E3BE-94E9-4CB0-977B-FC47CC3D1820}">
      <dgm:prSet/>
      <dgm:spPr/>
      <dgm:t>
        <a:bodyPr/>
        <a:lstStyle/>
        <a:p>
          <a:r>
            <a:rPr lang="en-GB"/>
            <a:t>Zero public endpoints and API keys</a:t>
          </a:r>
          <a:endParaRPr lang="en-US"/>
        </a:p>
      </dgm:t>
    </dgm:pt>
    <dgm:pt modelId="{6FF5D027-FC12-4061-BCDC-138C8F81684D}" type="parTrans" cxnId="{22B2A8F4-07B5-40EA-81EC-112BD498D09F}">
      <dgm:prSet/>
      <dgm:spPr/>
      <dgm:t>
        <a:bodyPr/>
        <a:lstStyle/>
        <a:p>
          <a:endParaRPr lang="en-US"/>
        </a:p>
      </dgm:t>
    </dgm:pt>
    <dgm:pt modelId="{7B89859B-854E-4E25-9676-8908A3DA3337}" type="sibTrans" cxnId="{22B2A8F4-07B5-40EA-81EC-112BD498D09F}">
      <dgm:prSet/>
      <dgm:spPr/>
      <dgm:t>
        <a:bodyPr/>
        <a:lstStyle/>
        <a:p>
          <a:endParaRPr lang="en-US"/>
        </a:p>
      </dgm:t>
    </dgm:pt>
    <dgm:pt modelId="{BE48269A-7C2B-4E9C-ABF7-89A3359BCD8E}">
      <dgm:prSet/>
      <dgm:spPr/>
      <dgm:t>
        <a:bodyPr/>
        <a:lstStyle/>
        <a:p>
          <a:r>
            <a:rPr lang="en-GB"/>
            <a:t>Supports 10s to 100s of AI applications</a:t>
          </a:r>
          <a:endParaRPr lang="en-US"/>
        </a:p>
      </dgm:t>
    </dgm:pt>
    <dgm:pt modelId="{C0DA8294-5BCB-4410-9509-BD6F6340436E}" type="parTrans" cxnId="{58D3CEFA-C7A3-4F12-9970-E3D163624AF7}">
      <dgm:prSet/>
      <dgm:spPr/>
      <dgm:t>
        <a:bodyPr/>
        <a:lstStyle/>
        <a:p>
          <a:endParaRPr lang="en-US"/>
        </a:p>
      </dgm:t>
    </dgm:pt>
    <dgm:pt modelId="{890BAC40-C456-4088-A7C3-9CEAECE767E2}" type="sibTrans" cxnId="{58D3CEFA-C7A3-4F12-9970-E3D163624AF7}">
      <dgm:prSet/>
      <dgm:spPr/>
      <dgm:t>
        <a:bodyPr/>
        <a:lstStyle/>
        <a:p>
          <a:endParaRPr lang="en-US"/>
        </a:p>
      </dgm:t>
    </dgm:pt>
    <dgm:pt modelId="{F1A8CBC8-3BE7-4279-B891-6C55C0DA606E}" type="pres">
      <dgm:prSet presAssocID="{CD28BA4C-D4E2-4642-80E4-A17DE5892749}" presName="root" presStyleCnt="0">
        <dgm:presLayoutVars>
          <dgm:dir/>
          <dgm:resizeHandles val="exact"/>
        </dgm:presLayoutVars>
      </dgm:prSet>
      <dgm:spPr/>
    </dgm:pt>
    <dgm:pt modelId="{F44F4BAA-29E1-4754-BDCB-BC9E65D0D6C3}" type="pres">
      <dgm:prSet presAssocID="{D336C9F2-B04C-4596-992E-BFFD243A204E}" presName="compNode" presStyleCnt="0"/>
      <dgm:spPr/>
    </dgm:pt>
    <dgm:pt modelId="{081D9939-D6BD-48E0-BD5D-E6BEFE395C3B}" type="pres">
      <dgm:prSet presAssocID="{D336C9F2-B04C-4596-992E-BFFD243A204E}" presName="bgRect" presStyleLbl="bgShp" presStyleIdx="0" presStyleCnt="4"/>
      <dgm:spPr/>
    </dgm:pt>
    <dgm:pt modelId="{EBD85389-D4C4-4F15-BE8E-71B58DED0870}" type="pres">
      <dgm:prSet presAssocID="{D336C9F2-B04C-4596-992E-BFFD243A204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2E0B39F0-20AF-49D2-B552-A51F63A84ED5}" type="pres">
      <dgm:prSet presAssocID="{D336C9F2-B04C-4596-992E-BFFD243A204E}" presName="spaceRect" presStyleCnt="0"/>
      <dgm:spPr/>
    </dgm:pt>
    <dgm:pt modelId="{3BEDD3EA-6A17-4FC4-9DC5-4E23516F0240}" type="pres">
      <dgm:prSet presAssocID="{D336C9F2-B04C-4596-992E-BFFD243A204E}" presName="parTx" presStyleLbl="revTx" presStyleIdx="0" presStyleCnt="4">
        <dgm:presLayoutVars>
          <dgm:chMax val="0"/>
          <dgm:chPref val="0"/>
        </dgm:presLayoutVars>
      </dgm:prSet>
      <dgm:spPr/>
    </dgm:pt>
    <dgm:pt modelId="{BCA43FD1-5DE4-4CD1-B4E6-B003A366FAAC}" type="pres">
      <dgm:prSet presAssocID="{F8B1602F-0692-4E1E-8F24-B25D4B233D10}" presName="sibTrans" presStyleCnt="0"/>
      <dgm:spPr/>
    </dgm:pt>
    <dgm:pt modelId="{0E652EEB-2249-4C72-B23B-D954A1B39ABC}" type="pres">
      <dgm:prSet presAssocID="{ECC6D132-6E0E-40C2-B5B4-2F330F94F2F5}" presName="compNode" presStyleCnt="0"/>
      <dgm:spPr/>
    </dgm:pt>
    <dgm:pt modelId="{49417C81-423A-42DC-8C3E-D677CDEFEDEA}" type="pres">
      <dgm:prSet presAssocID="{ECC6D132-6E0E-40C2-B5B4-2F330F94F2F5}" presName="bgRect" presStyleLbl="bgShp" presStyleIdx="1" presStyleCnt="4"/>
      <dgm:spPr/>
    </dgm:pt>
    <dgm:pt modelId="{890FE1F7-4F5A-4DDD-A2A1-34BE905FE572}" type="pres">
      <dgm:prSet presAssocID="{ECC6D132-6E0E-40C2-B5B4-2F330F94F2F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F2B9DFAE-C20E-4638-9437-3D5B77EBE395}" type="pres">
      <dgm:prSet presAssocID="{ECC6D132-6E0E-40C2-B5B4-2F330F94F2F5}" presName="spaceRect" presStyleCnt="0"/>
      <dgm:spPr/>
    </dgm:pt>
    <dgm:pt modelId="{3E259844-FC3B-4327-9066-DC0625436B15}" type="pres">
      <dgm:prSet presAssocID="{ECC6D132-6E0E-40C2-B5B4-2F330F94F2F5}" presName="parTx" presStyleLbl="revTx" presStyleIdx="1" presStyleCnt="4">
        <dgm:presLayoutVars>
          <dgm:chMax val="0"/>
          <dgm:chPref val="0"/>
        </dgm:presLayoutVars>
      </dgm:prSet>
      <dgm:spPr/>
    </dgm:pt>
    <dgm:pt modelId="{17BEDDCD-C37D-45D7-876B-B9FF3897E15A}" type="pres">
      <dgm:prSet presAssocID="{65AC6CE4-6F4C-44DF-A71F-92135E5B26AD}" presName="sibTrans" presStyleCnt="0"/>
      <dgm:spPr/>
    </dgm:pt>
    <dgm:pt modelId="{7BB55F05-CDE1-433A-B59A-26D875796DC7}" type="pres">
      <dgm:prSet presAssocID="{A800E3BE-94E9-4CB0-977B-FC47CC3D1820}" presName="compNode" presStyleCnt="0"/>
      <dgm:spPr/>
    </dgm:pt>
    <dgm:pt modelId="{82992714-A18D-4B83-A56E-4FDF9EACD97E}" type="pres">
      <dgm:prSet presAssocID="{A800E3BE-94E9-4CB0-977B-FC47CC3D1820}" presName="bgRect" presStyleLbl="bgShp" presStyleIdx="2" presStyleCnt="4"/>
      <dgm:spPr/>
    </dgm:pt>
    <dgm:pt modelId="{0D8D5F2C-7E6A-4582-BB36-7548BDD40AE4}" type="pres">
      <dgm:prSet presAssocID="{A800E3BE-94E9-4CB0-977B-FC47CC3D182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FEE7F232-CE80-4BF3-9CB6-93272D4F2036}" type="pres">
      <dgm:prSet presAssocID="{A800E3BE-94E9-4CB0-977B-FC47CC3D1820}" presName="spaceRect" presStyleCnt="0"/>
      <dgm:spPr/>
    </dgm:pt>
    <dgm:pt modelId="{1C53B57C-44D2-4F80-8A5E-548D1280C6E6}" type="pres">
      <dgm:prSet presAssocID="{A800E3BE-94E9-4CB0-977B-FC47CC3D1820}" presName="parTx" presStyleLbl="revTx" presStyleIdx="2" presStyleCnt="4">
        <dgm:presLayoutVars>
          <dgm:chMax val="0"/>
          <dgm:chPref val="0"/>
        </dgm:presLayoutVars>
      </dgm:prSet>
      <dgm:spPr/>
    </dgm:pt>
    <dgm:pt modelId="{2EDA4410-903B-4331-9FF2-90A7AD57D192}" type="pres">
      <dgm:prSet presAssocID="{7B89859B-854E-4E25-9676-8908A3DA3337}" presName="sibTrans" presStyleCnt="0"/>
      <dgm:spPr/>
    </dgm:pt>
    <dgm:pt modelId="{A563F08D-7322-4F8B-9028-7E72113B8080}" type="pres">
      <dgm:prSet presAssocID="{BE48269A-7C2B-4E9C-ABF7-89A3359BCD8E}" presName="compNode" presStyleCnt="0"/>
      <dgm:spPr/>
    </dgm:pt>
    <dgm:pt modelId="{1D431D70-A8E3-4DF7-AD77-17F2CA346B25}" type="pres">
      <dgm:prSet presAssocID="{BE48269A-7C2B-4E9C-ABF7-89A3359BCD8E}" presName="bgRect" presStyleLbl="bgShp" presStyleIdx="3" presStyleCnt="4"/>
      <dgm:spPr/>
    </dgm:pt>
    <dgm:pt modelId="{CC22B616-846D-43DF-A006-AD4C4338F19E}" type="pres">
      <dgm:prSet presAssocID="{BE48269A-7C2B-4E9C-ABF7-89A3359BCD8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C5176E5A-C6F8-4040-8D67-EF7E547246F2}" type="pres">
      <dgm:prSet presAssocID="{BE48269A-7C2B-4E9C-ABF7-89A3359BCD8E}" presName="spaceRect" presStyleCnt="0"/>
      <dgm:spPr/>
    </dgm:pt>
    <dgm:pt modelId="{46C0D8FC-4775-443B-AF6B-42F1D65828C9}" type="pres">
      <dgm:prSet presAssocID="{BE48269A-7C2B-4E9C-ABF7-89A3359BCD8E}" presName="parTx" presStyleLbl="revTx" presStyleIdx="3" presStyleCnt="4">
        <dgm:presLayoutVars>
          <dgm:chMax val="0"/>
          <dgm:chPref val="0"/>
        </dgm:presLayoutVars>
      </dgm:prSet>
      <dgm:spPr/>
    </dgm:pt>
  </dgm:ptLst>
  <dgm:cxnLst>
    <dgm:cxn modelId="{7DBB9D1C-5021-49D5-98A9-EFF053A1A23A}" type="presOf" srcId="{A800E3BE-94E9-4CB0-977B-FC47CC3D1820}" destId="{1C53B57C-44D2-4F80-8A5E-548D1280C6E6}" srcOrd="0" destOrd="0" presId="urn:microsoft.com/office/officeart/2018/2/layout/IconVerticalSolidList"/>
    <dgm:cxn modelId="{A17CE42D-61B4-4EC2-9140-8E48ED1F4A0A}" srcId="{CD28BA4C-D4E2-4642-80E4-A17DE5892749}" destId="{ECC6D132-6E0E-40C2-B5B4-2F330F94F2F5}" srcOrd="1" destOrd="0" parTransId="{5BB5455D-F77A-4555-97F2-8CD84762A6BA}" sibTransId="{65AC6CE4-6F4C-44DF-A71F-92135E5B26AD}"/>
    <dgm:cxn modelId="{61B00066-693C-45BC-B905-849BFAA4AFD5}" srcId="{CD28BA4C-D4E2-4642-80E4-A17DE5892749}" destId="{D336C9F2-B04C-4596-992E-BFFD243A204E}" srcOrd="0" destOrd="0" parTransId="{63135138-7387-4EC7-A9A4-4E40C6C1D1E0}" sibTransId="{F8B1602F-0692-4E1E-8F24-B25D4B233D10}"/>
    <dgm:cxn modelId="{62AFB289-BCEA-41E3-9E0B-DDCE8ABE559E}" type="presOf" srcId="{ECC6D132-6E0E-40C2-B5B4-2F330F94F2F5}" destId="{3E259844-FC3B-4327-9066-DC0625436B15}" srcOrd="0" destOrd="0" presId="urn:microsoft.com/office/officeart/2018/2/layout/IconVerticalSolidList"/>
    <dgm:cxn modelId="{009E83AB-D97F-4A65-8CF1-F0D1695C2190}" type="presOf" srcId="{BE48269A-7C2B-4E9C-ABF7-89A3359BCD8E}" destId="{46C0D8FC-4775-443B-AF6B-42F1D65828C9}" srcOrd="0" destOrd="0" presId="urn:microsoft.com/office/officeart/2018/2/layout/IconVerticalSolidList"/>
    <dgm:cxn modelId="{184958E5-8CEC-4D15-B734-73E84095087A}" type="presOf" srcId="{CD28BA4C-D4E2-4642-80E4-A17DE5892749}" destId="{F1A8CBC8-3BE7-4279-B891-6C55C0DA606E}" srcOrd="0" destOrd="0" presId="urn:microsoft.com/office/officeart/2018/2/layout/IconVerticalSolidList"/>
    <dgm:cxn modelId="{22B2A8F4-07B5-40EA-81EC-112BD498D09F}" srcId="{CD28BA4C-D4E2-4642-80E4-A17DE5892749}" destId="{A800E3BE-94E9-4CB0-977B-FC47CC3D1820}" srcOrd="2" destOrd="0" parTransId="{6FF5D027-FC12-4061-BCDC-138C8F81684D}" sibTransId="{7B89859B-854E-4E25-9676-8908A3DA3337}"/>
    <dgm:cxn modelId="{58D3CEFA-C7A3-4F12-9970-E3D163624AF7}" srcId="{CD28BA4C-D4E2-4642-80E4-A17DE5892749}" destId="{BE48269A-7C2B-4E9C-ABF7-89A3359BCD8E}" srcOrd="3" destOrd="0" parTransId="{C0DA8294-5BCB-4410-9509-BD6F6340436E}" sibTransId="{890BAC40-C456-4088-A7C3-9CEAECE767E2}"/>
    <dgm:cxn modelId="{1535B9FE-E748-48FD-8F37-E1AC35EDC85E}" type="presOf" srcId="{D336C9F2-B04C-4596-992E-BFFD243A204E}" destId="{3BEDD3EA-6A17-4FC4-9DC5-4E23516F0240}" srcOrd="0" destOrd="0" presId="urn:microsoft.com/office/officeart/2018/2/layout/IconVerticalSolidList"/>
    <dgm:cxn modelId="{07122EB9-9903-4813-A46E-4243B8AA5D9F}" type="presParOf" srcId="{F1A8CBC8-3BE7-4279-B891-6C55C0DA606E}" destId="{F44F4BAA-29E1-4754-BDCB-BC9E65D0D6C3}" srcOrd="0" destOrd="0" presId="urn:microsoft.com/office/officeart/2018/2/layout/IconVerticalSolidList"/>
    <dgm:cxn modelId="{42001017-4F8A-4141-8788-40EC8E4B0C78}" type="presParOf" srcId="{F44F4BAA-29E1-4754-BDCB-BC9E65D0D6C3}" destId="{081D9939-D6BD-48E0-BD5D-E6BEFE395C3B}" srcOrd="0" destOrd="0" presId="urn:microsoft.com/office/officeart/2018/2/layout/IconVerticalSolidList"/>
    <dgm:cxn modelId="{EA50FFD4-A7F7-4540-93A4-EC20FBA2CC72}" type="presParOf" srcId="{F44F4BAA-29E1-4754-BDCB-BC9E65D0D6C3}" destId="{EBD85389-D4C4-4F15-BE8E-71B58DED0870}" srcOrd="1" destOrd="0" presId="urn:microsoft.com/office/officeart/2018/2/layout/IconVerticalSolidList"/>
    <dgm:cxn modelId="{56D2B9DD-9C6B-4D8C-827C-EDE0DFEC7D3A}" type="presParOf" srcId="{F44F4BAA-29E1-4754-BDCB-BC9E65D0D6C3}" destId="{2E0B39F0-20AF-49D2-B552-A51F63A84ED5}" srcOrd="2" destOrd="0" presId="urn:microsoft.com/office/officeart/2018/2/layout/IconVerticalSolidList"/>
    <dgm:cxn modelId="{B65C8558-DE61-4545-A313-7CB0BA2E5AE7}" type="presParOf" srcId="{F44F4BAA-29E1-4754-BDCB-BC9E65D0D6C3}" destId="{3BEDD3EA-6A17-4FC4-9DC5-4E23516F0240}" srcOrd="3" destOrd="0" presId="urn:microsoft.com/office/officeart/2018/2/layout/IconVerticalSolidList"/>
    <dgm:cxn modelId="{8CE7A4CF-19AF-42AF-BF3C-64B6B949A219}" type="presParOf" srcId="{F1A8CBC8-3BE7-4279-B891-6C55C0DA606E}" destId="{BCA43FD1-5DE4-4CD1-B4E6-B003A366FAAC}" srcOrd="1" destOrd="0" presId="urn:microsoft.com/office/officeart/2018/2/layout/IconVerticalSolidList"/>
    <dgm:cxn modelId="{065E06A9-CCB3-463B-AC99-B1BE5673F8D7}" type="presParOf" srcId="{F1A8CBC8-3BE7-4279-B891-6C55C0DA606E}" destId="{0E652EEB-2249-4C72-B23B-D954A1B39ABC}" srcOrd="2" destOrd="0" presId="urn:microsoft.com/office/officeart/2018/2/layout/IconVerticalSolidList"/>
    <dgm:cxn modelId="{925B2DA9-FFC2-4F39-9EC7-CC5940045319}" type="presParOf" srcId="{0E652EEB-2249-4C72-B23B-D954A1B39ABC}" destId="{49417C81-423A-42DC-8C3E-D677CDEFEDEA}" srcOrd="0" destOrd="0" presId="urn:microsoft.com/office/officeart/2018/2/layout/IconVerticalSolidList"/>
    <dgm:cxn modelId="{9D67605F-9A1F-471B-84BF-4BA1EFF30646}" type="presParOf" srcId="{0E652EEB-2249-4C72-B23B-D954A1B39ABC}" destId="{890FE1F7-4F5A-4DDD-A2A1-34BE905FE572}" srcOrd="1" destOrd="0" presId="urn:microsoft.com/office/officeart/2018/2/layout/IconVerticalSolidList"/>
    <dgm:cxn modelId="{25426424-7AFB-4F5D-9106-8591C862B7A5}" type="presParOf" srcId="{0E652EEB-2249-4C72-B23B-D954A1B39ABC}" destId="{F2B9DFAE-C20E-4638-9437-3D5B77EBE395}" srcOrd="2" destOrd="0" presId="urn:microsoft.com/office/officeart/2018/2/layout/IconVerticalSolidList"/>
    <dgm:cxn modelId="{EFA4A5E4-6992-4D35-B2C4-779FC8261EFA}" type="presParOf" srcId="{0E652EEB-2249-4C72-B23B-D954A1B39ABC}" destId="{3E259844-FC3B-4327-9066-DC0625436B15}" srcOrd="3" destOrd="0" presId="urn:microsoft.com/office/officeart/2018/2/layout/IconVerticalSolidList"/>
    <dgm:cxn modelId="{7D2931D1-F902-4E34-B457-837826715EE1}" type="presParOf" srcId="{F1A8CBC8-3BE7-4279-B891-6C55C0DA606E}" destId="{17BEDDCD-C37D-45D7-876B-B9FF3897E15A}" srcOrd="3" destOrd="0" presId="urn:microsoft.com/office/officeart/2018/2/layout/IconVerticalSolidList"/>
    <dgm:cxn modelId="{19CF1CD6-649B-40B4-9208-5C002DA9E00A}" type="presParOf" srcId="{F1A8CBC8-3BE7-4279-B891-6C55C0DA606E}" destId="{7BB55F05-CDE1-433A-B59A-26D875796DC7}" srcOrd="4" destOrd="0" presId="urn:microsoft.com/office/officeart/2018/2/layout/IconVerticalSolidList"/>
    <dgm:cxn modelId="{5F32D88B-A633-4A19-8025-1F3382D48940}" type="presParOf" srcId="{7BB55F05-CDE1-433A-B59A-26D875796DC7}" destId="{82992714-A18D-4B83-A56E-4FDF9EACD97E}" srcOrd="0" destOrd="0" presId="urn:microsoft.com/office/officeart/2018/2/layout/IconVerticalSolidList"/>
    <dgm:cxn modelId="{57300225-5700-4225-A1CF-44EF1D964038}" type="presParOf" srcId="{7BB55F05-CDE1-433A-B59A-26D875796DC7}" destId="{0D8D5F2C-7E6A-4582-BB36-7548BDD40AE4}" srcOrd="1" destOrd="0" presId="urn:microsoft.com/office/officeart/2018/2/layout/IconVerticalSolidList"/>
    <dgm:cxn modelId="{E3123319-5A37-475C-B100-D14A33D52964}" type="presParOf" srcId="{7BB55F05-CDE1-433A-B59A-26D875796DC7}" destId="{FEE7F232-CE80-4BF3-9CB6-93272D4F2036}" srcOrd="2" destOrd="0" presId="urn:microsoft.com/office/officeart/2018/2/layout/IconVerticalSolidList"/>
    <dgm:cxn modelId="{C0A113D3-2298-4FC7-95D3-A09B2282A0E0}" type="presParOf" srcId="{7BB55F05-CDE1-433A-B59A-26D875796DC7}" destId="{1C53B57C-44D2-4F80-8A5E-548D1280C6E6}" srcOrd="3" destOrd="0" presId="urn:microsoft.com/office/officeart/2018/2/layout/IconVerticalSolidList"/>
    <dgm:cxn modelId="{7549FB02-4CDC-4014-A712-6E508321B4AF}" type="presParOf" srcId="{F1A8CBC8-3BE7-4279-B891-6C55C0DA606E}" destId="{2EDA4410-903B-4331-9FF2-90A7AD57D192}" srcOrd="5" destOrd="0" presId="urn:microsoft.com/office/officeart/2018/2/layout/IconVerticalSolidList"/>
    <dgm:cxn modelId="{768DB699-CA30-4D1E-B5AD-65E760607A38}" type="presParOf" srcId="{F1A8CBC8-3BE7-4279-B891-6C55C0DA606E}" destId="{A563F08D-7322-4F8B-9028-7E72113B8080}" srcOrd="6" destOrd="0" presId="urn:microsoft.com/office/officeart/2018/2/layout/IconVerticalSolidList"/>
    <dgm:cxn modelId="{7A505DE5-1FE6-4A05-B8CC-7CA6DAC6BF18}" type="presParOf" srcId="{A563F08D-7322-4F8B-9028-7E72113B8080}" destId="{1D431D70-A8E3-4DF7-AD77-17F2CA346B25}" srcOrd="0" destOrd="0" presId="urn:microsoft.com/office/officeart/2018/2/layout/IconVerticalSolidList"/>
    <dgm:cxn modelId="{8C8CC7A1-97AB-4944-83D6-4424D9839CF5}" type="presParOf" srcId="{A563F08D-7322-4F8B-9028-7E72113B8080}" destId="{CC22B616-846D-43DF-A006-AD4C4338F19E}" srcOrd="1" destOrd="0" presId="urn:microsoft.com/office/officeart/2018/2/layout/IconVerticalSolidList"/>
    <dgm:cxn modelId="{84D60D19-A13A-49A6-B151-1B02D068C2D2}" type="presParOf" srcId="{A563F08D-7322-4F8B-9028-7E72113B8080}" destId="{C5176E5A-C6F8-4040-8D67-EF7E547246F2}" srcOrd="2" destOrd="0" presId="urn:microsoft.com/office/officeart/2018/2/layout/IconVerticalSolidList"/>
    <dgm:cxn modelId="{9061D910-20D5-4E86-81E5-BB1942D5A0F5}" type="presParOf" srcId="{A563F08D-7322-4F8B-9028-7E72113B8080}" destId="{46C0D8FC-4775-443B-AF6B-42F1D65828C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DC817D-9A9D-4917-81EA-EE7FC8D4020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D82D465-EFE1-4750-B719-1C27EB22CBE4}">
      <dgm:prSet/>
      <dgm:spPr/>
      <dgm:t>
        <a:bodyPr/>
        <a:lstStyle/>
        <a:p>
          <a:r>
            <a:rPr lang="en-GB"/>
            <a:t>Verify explicitly: Entra ID OAuth tokens</a:t>
          </a:r>
          <a:endParaRPr lang="en-US"/>
        </a:p>
      </dgm:t>
    </dgm:pt>
    <dgm:pt modelId="{DEBCAB75-EA40-4A16-8B0B-39A986F910A2}" type="parTrans" cxnId="{80C77880-63AC-42C5-A7A6-BAD8432E65E3}">
      <dgm:prSet/>
      <dgm:spPr/>
      <dgm:t>
        <a:bodyPr/>
        <a:lstStyle/>
        <a:p>
          <a:endParaRPr lang="en-US"/>
        </a:p>
      </dgm:t>
    </dgm:pt>
    <dgm:pt modelId="{BE8E36DA-3247-4D10-A378-33ED50D4EB21}" type="sibTrans" cxnId="{80C77880-63AC-42C5-A7A6-BAD8432E65E3}">
      <dgm:prSet/>
      <dgm:spPr/>
      <dgm:t>
        <a:bodyPr/>
        <a:lstStyle/>
        <a:p>
          <a:endParaRPr lang="en-US"/>
        </a:p>
      </dgm:t>
    </dgm:pt>
    <dgm:pt modelId="{D4E9C6C4-B674-4FC5-AB16-0AFA3473A6D7}">
      <dgm:prSet/>
      <dgm:spPr/>
      <dgm:t>
        <a:bodyPr/>
        <a:lstStyle/>
        <a:p>
          <a:r>
            <a:rPr lang="en-GB"/>
            <a:t>Least-privilege: RBAC and custom roles</a:t>
          </a:r>
          <a:endParaRPr lang="en-US"/>
        </a:p>
      </dgm:t>
    </dgm:pt>
    <dgm:pt modelId="{CB8230F4-4303-492A-AAED-D0AF4B999548}" type="parTrans" cxnId="{F85FBC04-9D64-4B38-AD0B-FEF731F24701}">
      <dgm:prSet/>
      <dgm:spPr/>
      <dgm:t>
        <a:bodyPr/>
        <a:lstStyle/>
        <a:p>
          <a:endParaRPr lang="en-US"/>
        </a:p>
      </dgm:t>
    </dgm:pt>
    <dgm:pt modelId="{E579E7A0-5381-4E89-ABA2-E37088F6566E}" type="sibTrans" cxnId="{F85FBC04-9D64-4B38-AD0B-FEF731F24701}">
      <dgm:prSet/>
      <dgm:spPr/>
      <dgm:t>
        <a:bodyPr/>
        <a:lstStyle/>
        <a:p>
          <a:endParaRPr lang="en-US"/>
        </a:p>
      </dgm:t>
    </dgm:pt>
    <dgm:pt modelId="{9A66140E-66A2-45C5-A133-E65F8509DA47}">
      <dgm:prSet/>
      <dgm:spPr/>
      <dgm:t>
        <a:bodyPr/>
        <a:lstStyle/>
        <a:p>
          <a:r>
            <a:rPr lang="en-GB"/>
            <a:t>Assume breach: NSG segmentation, private endpoints</a:t>
          </a:r>
          <a:endParaRPr lang="en-US"/>
        </a:p>
      </dgm:t>
    </dgm:pt>
    <dgm:pt modelId="{29CA52B0-BEC4-487C-9F5E-637CD2979C8E}" type="parTrans" cxnId="{ABD7D3B8-064F-45A2-B297-E37F57F30E5A}">
      <dgm:prSet/>
      <dgm:spPr/>
      <dgm:t>
        <a:bodyPr/>
        <a:lstStyle/>
        <a:p>
          <a:endParaRPr lang="en-US"/>
        </a:p>
      </dgm:t>
    </dgm:pt>
    <dgm:pt modelId="{596796BA-F0F0-49D1-8871-3BDF8F7AC6D6}" type="sibTrans" cxnId="{ABD7D3B8-064F-45A2-B297-E37F57F30E5A}">
      <dgm:prSet/>
      <dgm:spPr/>
      <dgm:t>
        <a:bodyPr/>
        <a:lstStyle/>
        <a:p>
          <a:endParaRPr lang="en-US"/>
        </a:p>
      </dgm:t>
    </dgm:pt>
    <dgm:pt modelId="{82F12AB6-76E6-44D9-A177-30C5257B1293}">
      <dgm:prSet/>
      <dgm:spPr/>
      <dgm:t>
        <a:bodyPr/>
        <a:lstStyle/>
        <a:p>
          <a:r>
            <a:rPr lang="en-GB"/>
            <a:t>Defender for AI: threat protection</a:t>
          </a:r>
          <a:endParaRPr lang="en-US"/>
        </a:p>
      </dgm:t>
    </dgm:pt>
    <dgm:pt modelId="{757B01C2-5A0B-495C-9BED-72B3DB50A8E6}" type="parTrans" cxnId="{EB2F7BB4-1F0A-4296-8A37-3749CA16F96E}">
      <dgm:prSet/>
      <dgm:spPr/>
      <dgm:t>
        <a:bodyPr/>
        <a:lstStyle/>
        <a:p>
          <a:endParaRPr lang="en-US"/>
        </a:p>
      </dgm:t>
    </dgm:pt>
    <dgm:pt modelId="{E8785D7A-2A6D-4451-A5B8-84343F167159}" type="sibTrans" cxnId="{EB2F7BB4-1F0A-4296-8A37-3749CA16F96E}">
      <dgm:prSet/>
      <dgm:spPr/>
      <dgm:t>
        <a:bodyPr/>
        <a:lstStyle/>
        <a:p>
          <a:endParaRPr lang="en-US"/>
        </a:p>
      </dgm:t>
    </dgm:pt>
    <dgm:pt modelId="{5DD13ED0-43FF-4035-B22A-01E57A98EF45}" type="pres">
      <dgm:prSet presAssocID="{17DC817D-9A9D-4917-81EA-EE7FC8D40208}" presName="root" presStyleCnt="0">
        <dgm:presLayoutVars>
          <dgm:dir/>
          <dgm:resizeHandles val="exact"/>
        </dgm:presLayoutVars>
      </dgm:prSet>
      <dgm:spPr/>
    </dgm:pt>
    <dgm:pt modelId="{B2BC32CE-E926-4AA0-A5FE-A7823503C7C9}" type="pres">
      <dgm:prSet presAssocID="{FD82D465-EFE1-4750-B719-1C27EB22CBE4}" presName="compNode" presStyleCnt="0"/>
      <dgm:spPr/>
    </dgm:pt>
    <dgm:pt modelId="{EED5C692-156B-4661-AD6E-AA5D520409A5}" type="pres">
      <dgm:prSet presAssocID="{FD82D465-EFE1-4750-B719-1C27EB22CBE4}" presName="bgRect" presStyleLbl="bgShp" presStyleIdx="0" presStyleCnt="4"/>
      <dgm:spPr/>
    </dgm:pt>
    <dgm:pt modelId="{6D70E087-43B1-472C-94D4-A08CAA8E40C4}" type="pres">
      <dgm:prSet presAssocID="{FD82D465-EFE1-4750-B719-1C27EB22CBE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8FD90A49-335D-4079-85F7-23689FED1FEA}" type="pres">
      <dgm:prSet presAssocID="{FD82D465-EFE1-4750-B719-1C27EB22CBE4}" presName="spaceRect" presStyleCnt="0"/>
      <dgm:spPr/>
    </dgm:pt>
    <dgm:pt modelId="{341FDBDB-8C28-4E48-B9FA-2B68A9421160}" type="pres">
      <dgm:prSet presAssocID="{FD82D465-EFE1-4750-B719-1C27EB22CBE4}" presName="parTx" presStyleLbl="revTx" presStyleIdx="0" presStyleCnt="4">
        <dgm:presLayoutVars>
          <dgm:chMax val="0"/>
          <dgm:chPref val="0"/>
        </dgm:presLayoutVars>
      </dgm:prSet>
      <dgm:spPr/>
    </dgm:pt>
    <dgm:pt modelId="{B8349A70-FCA7-47E4-A296-CFD22CB3FC1A}" type="pres">
      <dgm:prSet presAssocID="{BE8E36DA-3247-4D10-A378-33ED50D4EB21}" presName="sibTrans" presStyleCnt="0"/>
      <dgm:spPr/>
    </dgm:pt>
    <dgm:pt modelId="{AF142592-BADD-4FD4-B69D-3F0852FC0E13}" type="pres">
      <dgm:prSet presAssocID="{D4E9C6C4-B674-4FC5-AB16-0AFA3473A6D7}" presName="compNode" presStyleCnt="0"/>
      <dgm:spPr/>
    </dgm:pt>
    <dgm:pt modelId="{A07C1922-0703-4E8E-A835-39CAA42EE274}" type="pres">
      <dgm:prSet presAssocID="{D4E9C6C4-B674-4FC5-AB16-0AFA3473A6D7}" presName="bgRect" presStyleLbl="bgShp" presStyleIdx="1" presStyleCnt="4"/>
      <dgm:spPr/>
    </dgm:pt>
    <dgm:pt modelId="{3C18691A-1BF9-4FA6-B00E-342E09D2E16C}" type="pres">
      <dgm:prSet presAssocID="{D4E9C6C4-B674-4FC5-AB16-0AFA3473A6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D838A6A6-2DED-4953-8ADC-767B15CBFDAD}" type="pres">
      <dgm:prSet presAssocID="{D4E9C6C4-B674-4FC5-AB16-0AFA3473A6D7}" presName="spaceRect" presStyleCnt="0"/>
      <dgm:spPr/>
    </dgm:pt>
    <dgm:pt modelId="{8D53ED0D-85B5-4D64-A6D8-7DB0FB32C74B}" type="pres">
      <dgm:prSet presAssocID="{D4E9C6C4-B674-4FC5-AB16-0AFA3473A6D7}" presName="parTx" presStyleLbl="revTx" presStyleIdx="1" presStyleCnt="4">
        <dgm:presLayoutVars>
          <dgm:chMax val="0"/>
          <dgm:chPref val="0"/>
        </dgm:presLayoutVars>
      </dgm:prSet>
      <dgm:spPr/>
    </dgm:pt>
    <dgm:pt modelId="{073995C9-A270-47EF-BF8C-AF6D75FCEFCB}" type="pres">
      <dgm:prSet presAssocID="{E579E7A0-5381-4E89-ABA2-E37088F6566E}" presName="sibTrans" presStyleCnt="0"/>
      <dgm:spPr/>
    </dgm:pt>
    <dgm:pt modelId="{09B120F2-29A5-4456-B009-B8D57101765E}" type="pres">
      <dgm:prSet presAssocID="{9A66140E-66A2-45C5-A133-E65F8509DA47}" presName="compNode" presStyleCnt="0"/>
      <dgm:spPr/>
    </dgm:pt>
    <dgm:pt modelId="{B113B3CC-2AB2-4244-8C94-8689935119E4}" type="pres">
      <dgm:prSet presAssocID="{9A66140E-66A2-45C5-A133-E65F8509DA47}" presName="bgRect" presStyleLbl="bgShp" presStyleIdx="2" presStyleCnt="4"/>
      <dgm:spPr/>
    </dgm:pt>
    <dgm:pt modelId="{0E3A330D-C80D-42C5-B434-BF326015BB9A}" type="pres">
      <dgm:prSet presAssocID="{9A66140E-66A2-45C5-A133-E65F8509DA4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BC95554F-2BB2-4889-9BC8-3E5F789B8902}" type="pres">
      <dgm:prSet presAssocID="{9A66140E-66A2-45C5-A133-E65F8509DA47}" presName="spaceRect" presStyleCnt="0"/>
      <dgm:spPr/>
    </dgm:pt>
    <dgm:pt modelId="{FD36EF8F-57A9-464B-ADD9-9259235D4C88}" type="pres">
      <dgm:prSet presAssocID="{9A66140E-66A2-45C5-A133-E65F8509DA47}" presName="parTx" presStyleLbl="revTx" presStyleIdx="2" presStyleCnt="4">
        <dgm:presLayoutVars>
          <dgm:chMax val="0"/>
          <dgm:chPref val="0"/>
        </dgm:presLayoutVars>
      </dgm:prSet>
      <dgm:spPr/>
    </dgm:pt>
    <dgm:pt modelId="{F12DC1BA-5E83-4446-9EC4-3A6736203CF0}" type="pres">
      <dgm:prSet presAssocID="{596796BA-F0F0-49D1-8871-3BDF8F7AC6D6}" presName="sibTrans" presStyleCnt="0"/>
      <dgm:spPr/>
    </dgm:pt>
    <dgm:pt modelId="{1ABE9194-9D16-403C-B2A5-10DDE9B39E37}" type="pres">
      <dgm:prSet presAssocID="{82F12AB6-76E6-44D9-A177-30C5257B1293}" presName="compNode" presStyleCnt="0"/>
      <dgm:spPr/>
    </dgm:pt>
    <dgm:pt modelId="{8B4A263A-4DB2-40C2-9288-A933F76CB374}" type="pres">
      <dgm:prSet presAssocID="{82F12AB6-76E6-44D9-A177-30C5257B1293}" presName="bgRect" presStyleLbl="bgShp" presStyleIdx="3" presStyleCnt="4"/>
      <dgm:spPr/>
    </dgm:pt>
    <dgm:pt modelId="{0432D474-2FD5-4898-A73D-858888D620E4}" type="pres">
      <dgm:prSet presAssocID="{82F12AB6-76E6-44D9-A177-30C5257B129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CE65D5BE-9599-4D87-AEB7-B67009144B2C}" type="pres">
      <dgm:prSet presAssocID="{82F12AB6-76E6-44D9-A177-30C5257B1293}" presName="spaceRect" presStyleCnt="0"/>
      <dgm:spPr/>
    </dgm:pt>
    <dgm:pt modelId="{120AB718-A5C9-460C-902D-AD2467AF6C56}" type="pres">
      <dgm:prSet presAssocID="{82F12AB6-76E6-44D9-A177-30C5257B1293}" presName="parTx" presStyleLbl="revTx" presStyleIdx="3" presStyleCnt="4">
        <dgm:presLayoutVars>
          <dgm:chMax val="0"/>
          <dgm:chPref val="0"/>
        </dgm:presLayoutVars>
      </dgm:prSet>
      <dgm:spPr/>
    </dgm:pt>
  </dgm:ptLst>
  <dgm:cxnLst>
    <dgm:cxn modelId="{F85FBC04-9D64-4B38-AD0B-FEF731F24701}" srcId="{17DC817D-9A9D-4917-81EA-EE7FC8D40208}" destId="{D4E9C6C4-B674-4FC5-AB16-0AFA3473A6D7}" srcOrd="1" destOrd="0" parTransId="{CB8230F4-4303-492A-AAED-D0AF4B999548}" sibTransId="{E579E7A0-5381-4E89-ABA2-E37088F6566E}"/>
    <dgm:cxn modelId="{34C7641F-7BC4-4265-98D8-5A5A90F55E6E}" type="presOf" srcId="{82F12AB6-76E6-44D9-A177-30C5257B1293}" destId="{120AB718-A5C9-460C-902D-AD2467AF6C56}" srcOrd="0" destOrd="0" presId="urn:microsoft.com/office/officeart/2018/2/layout/IconVerticalSolidList"/>
    <dgm:cxn modelId="{5608887B-A484-414C-AD3A-073A0B725971}" type="presOf" srcId="{D4E9C6C4-B674-4FC5-AB16-0AFA3473A6D7}" destId="{8D53ED0D-85B5-4D64-A6D8-7DB0FB32C74B}" srcOrd="0" destOrd="0" presId="urn:microsoft.com/office/officeart/2018/2/layout/IconVerticalSolidList"/>
    <dgm:cxn modelId="{80C77880-63AC-42C5-A7A6-BAD8432E65E3}" srcId="{17DC817D-9A9D-4917-81EA-EE7FC8D40208}" destId="{FD82D465-EFE1-4750-B719-1C27EB22CBE4}" srcOrd="0" destOrd="0" parTransId="{DEBCAB75-EA40-4A16-8B0B-39A986F910A2}" sibTransId="{BE8E36DA-3247-4D10-A378-33ED50D4EB21}"/>
    <dgm:cxn modelId="{64409B9F-5060-475F-B385-6E816BD85D64}" type="presOf" srcId="{FD82D465-EFE1-4750-B719-1C27EB22CBE4}" destId="{341FDBDB-8C28-4E48-B9FA-2B68A9421160}" srcOrd="0" destOrd="0" presId="urn:microsoft.com/office/officeart/2018/2/layout/IconVerticalSolidList"/>
    <dgm:cxn modelId="{EB2F7BB4-1F0A-4296-8A37-3749CA16F96E}" srcId="{17DC817D-9A9D-4917-81EA-EE7FC8D40208}" destId="{82F12AB6-76E6-44D9-A177-30C5257B1293}" srcOrd="3" destOrd="0" parTransId="{757B01C2-5A0B-495C-9BED-72B3DB50A8E6}" sibTransId="{E8785D7A-2A6D-4451-A5B8-84343F167159}"/>
    <dgm:cxn modelId="{ABD7D3B8-064F-45A2-B297-E37F57F30E5A}" srcId="{17DC817D-9A9D-4917-81EA-EE7FC8D40208}" destId="{9A66140E-66A2-45C5-A133-E65F8509DA47}" srcOrd="2" destOrd="0" parTransId="{29CA52B0-BEC4-487C-9F5E-637CD2979C8E}" sibTransId="{596796BA-F0F0-49D1-8871-3BDF8F7AC6D6}"/>
    <dgm:cxn modelId="{B6AB22D8-2225-4EC9-82F7-52F4A84E951E}" type="presOf" srcId="{17DC817D-9A9D-4917-81EA-EE7FC8D40208}" destId="{5DD13ED0-43FF-4035-B22A-01E57A98EF45}" srcOrd="0" destOrd="0" presId="urn:microsoft.com/office/officeart/2018/2/layout/IconVerticalSolidList"/>
    <dgm:cxn modelId="{A8A897F8-2897-4036-8E9E-4B5A2739A752}" type="presOf" srcId="{9A66140E-66A2-45C5-A133-E65F8509DA47}" destId="{FD36EF8F-57A9-464B-ADD9-9259235D4C88}" srcOrd="0" destOrd="0" presId="urn:microsoft.com/office/officeart/2018/2/layout/IconVerticalSolidList"/>
    <dgm:cxn modelId="{3ADC3D1A-FF34-44C8-A361-79A094DAA334}" type="presParOf" srcId="{5DD13ED0-43FF-4035-B22A-01E57A98EF45}" destId="{B2BC32CE-E926-4AA0-A5FE-A7823503C7C9}" srcOrd="0" destOrd="0" presId="urn:microsoft.com/office/officeart/2018/2/layout/IconVerticalSolidList"/>
    <dgm:cxn modelId="{AB08222E-B2A5-4A7F-AC2B-B896A43FFAFE}" type="presParOf" srcId="{B2BC32CE-E926-4AA0-A5FE-A7823503C7C9}" destId="{EED5C692-156B-4661-AD6E-AA5D520409A5}" srcOrd="0" destOrd="0" presId="urn:microsoft.com/office/officeart/2018/2/layout/IconVerticalSolidList"/>
    <dgm:cxn modelId="{4D2FE5E4-473E-4B94-9C46-6E1BC0805067}" type="presParOf" srcId="{B2BC32CE-E926-4AA0-A5FE-A7823503C7C9}" destId="{6D70E087-43B1-472C-94D4-A08CAA8E40C4}" srcOrd="1" destOrd="0" presId="urn:microsoft.com/office/officeart/2018/2/layout/IconVerticalSolidList"/>
    <dgm:cxn modelId="{1C1E4406-7F88-479E-A248-547C68A6A5F7}" type="presParOf" srcId="{B2BC32CE-E926-4AA0-A5FE-A7823503C7C9}" destId="{8FD90A49-335D-4079-85F7-23689FED1FEA}" srcOrd="2" destOrd="0" presId="urn:microsoft.com/office/officeart/2018/2/layout/IconVerticalSolidList"/>
    <dgm:cxn modelId="{1E6EB8C7-B62C-4B9E-BA0C-CBB32ECE1CDE}" type="presParOf" srcId="{B2BC32CE-E926-4AA0-A5FE-A7823503C7C9}" destId="{341FDBDB-8C28-4E48-B9FA-2B68A9421160}" srcOrd="3" destOrd="0" presId="urn:microsoft.com/office/officeart/2018/2/layout/IconVerticalSolidList"/>
    <dgm:cxn modelId="{490F1497-8F6E-4226-A11D-92D6E1A5D09A}" type="presParOf" srcId="{5DD13ED0-43FF-4035-B22A-01E57A98EF45}" destId="{B8349A70-FCA7-47E4-A296-CFD22CB3FC1A}" srcOrd="1" destOrd="0" presId="urn:microsoft.com/office/officeart/2018/2/layout/IconVerticalSolidList"/>
    <dgm:cxn modelId="{BF4E7BF7-F32D-42C6-9BCA-F8A71B4B95B4}" type="presParOf" srcId="{5DD13ED0-43FF-4035-B22A-01E57A98EF45}" destId="{AF142592-BADD-4FD4-B69D-3F0852FC0E13}" srcOrd="2" destOrd="0" presId="urn:microsoft.com/office/officeart/2018/2/layout/IconVerticalSolidList"/>
    <dgm:cxn modelId="{61D6A056-AE2F-453B-909E-3DDE9B6C75DF}" type="presParOf" srcId="{AF142592-BADD-4FD4-B69D-3F0852FC0E13}" destId="{A07C1922-0703-4E8E-A835-39CAA42EE274}" srcOrd="0" destOrd="0" presId="urn:microsoft.com/office/officeart/2018/2/layout/IconVerticalSolidList"/>
    <dgm:cxn modelId="{41DE52CC-58AC-4A17-89C1-6A0464C3E14C}" type="presParOf" srcId="{AF142592-BADD-4FD4-B69D-3F0852FC0E13}" destId="{3C18691A-1BF9-4FA6-B00E-342E09D2E16C}" srcOrd="1" destOrd="0" presId="urn:microsoft.com/office/officeart/2018/2/layout/IconVerticalSolidList"/>
    <dgm:cxn modelId="{0B5E9023-76A1-4089-8CD0-7E0693281520}" type="presParOf" srcId="{AF142592-BADD-4FD4-B69D-3F0852FC0E13}" destId="{D838A6A6-2DED-4953-8ADC-767B15CBFDAD}" srcOrd="2" destOrd="0" presId="urn:microsoft.com/office/officeart/2018/2/layout/IconVerticalSolidList"/>
    <dgm:cxn modelId="{0972B4A7-F7C6-4936-9968-10E3496E67BF}" type="presParOf" srcId="{AF142592-BADD-4FD4-B69D-3F0852FC0E13}" destId="{8D53ED0D-85B5-4D64-A6D8-7DB0FB32C74B}" srcOrd="3" destOrd="0" presId="urn:microsoft.com/office/officeart/2018/2/layout/IconVerticalSolidList"/>
    <dgm:cxn modelId="{ED83F774-2C87-430B-B9C2-7D14976B3458}" type="presParOf" srcId="{5DD13ED0-43FF-4035-B22A-01E57A98EF45}" destId="{073995C9-A270-47EF-BF8C-AF6D75FCEFCB}" srcOrd="3" destOrd="0" presId="urn:microsoft.com/office/officeart/2018/2/layout/IconVerticalSolidList"/>
    <dgm:cxn modelId="{0D09ED25-A3C4-48A2-9B7B-AA5BBF6E9B96}" type="presParOf" srcId="{5DD13ED0-43FF-4035-B22A-01E57A98EF45}" destId="{09B120F2-29A5-4456-B009-B8D57101765E}" srcOrd="4" destOrd="0" presId="urn:microsoft.com/office/officeart/2018/2/layout/IconVerticalSolidList"/>
    <dgm:cxn modelId="{FE4BB129-AF81-4978-B488-8DEE4C7037F3}" type="presParOf" srcId="{09B120F2-29A5-4456-B009-B8D57101765E}" destId="{B113B3CC-2AB2-4244-8C94-8689935119E4}" srcOrd="0" destOrd="0" presId="urn:microsoft.com/office/officeart/2018/2/layout/IconVerticalSolidList"/>
    <dgm:cxn modelId="{8B99676D-4A6E-43DF-8A31-D80B02CB7FB4}" type="presParOf" srcId="{09B120F2-29A5-4456-B009-B8D57101765E}" destId="{0E3A330D-C80D-42C5-B434-BF326015BB9A}" srcOrd="1" destOrd="0" presId="urn:microsoft.com/office/officeart/2018/2/layout/IconVerticalSolidList"/>
    <dgm:cxn modelId="{545FA530-A335-484D-A514-8AA137003AB4}" type="presParOf" srcId="{09B120F2-29A5-4456-B009-B8D57101765E}" destId="{BC95554F-2BB2-4889-9BC8-3E5F789B8902}" srcOrd="2" destOrd="0" presId="urn:microsoft.com/office/officeart/2018/2/layout/IconVerticalSolidList"/>
    <dgm:cxn modelId="{FE753448-8AC0-4345-8617-326672AE2314}" type="presParOf" srcId="{09B120F2-29A5-4456-B009-B8D57101765E}" destId="{FD36EF8F-57A9-464B-ADD9-9259235D4C88}" srcOrd="3" destOrd="0" presId="urn:microsoft.com/office/officeart/2018/2/layout/IconVerticalSolidList"/>
    <dgm:cxn modelId="{0A210AA8-E4D4-4270-A344-CBCFAFDFA187}" type="presParOf" srcId="{5DD13ED0-43FF-4035-B22A-01E57A98EF45}" destId="{F12DC1BA-5E83-4446-9EC4-3A6736203CF0}" srcOrd="5" destOrd="0" presId="urn:microsoft.com/office/officeart/2018/2/layout/IconVerticalSolidList"/>
    <dgm:cxn modelId="{BB646D3D-4971-4DC0-BBE0-E519D986DEF4}" type="presParOf" srcId="{5DD13ED0-43FF-4035-B22A-01E57A98EF45}" destId="{1ABE9194-9D16-403C-B2A5-10DDE9B39E37}" srcOrd="6" destOrd="0" presId="urn:microsoft.com/office/officeart/2018/2/layout/IconVerticalSolidList"/>
    <dgm:cxn modelId="{30CB2AA1-9299-4CC1-8340-FE53BE0B07C8}" type="presParOf" srcId="{1ABE9194-9D16-403C-B2A5-10DDE9B39E37}" destId="{8B4A263A-4DB2-40C2-9288-A933F76CB374}" srcOrd="0" destOrd="0" presId="urn:microsoft.com/office/officeart/2018/2/layout/IconVerticalSolidList"/>
    <dgm:cxn modelId="{BC23BE6F-3666-4F12-83C1-14A4FD686B50}" type="presParOf" srcId="{1ABE9194-9D16-403C-B2A5-10DDE9B39E37}" destId="{0432D474-2FD5-4898-A73D-858888D620E4}" srcOrd="1" destOrd="0" presId="urn:microsoft.com/office/officeart/2018/2/layout/IconVerticalSolidList"/>
    <dgm:cxn modelId="{59956FAB-BDE4-4A6A-8CF7-FFACC025CB79}" type="presParOf" srcId="{1ABE9194-9D16-403C-B2A5-10DDE9B39E37}" destId="{CE65D5BE-9599-4D87-AEB7-B67009144B2C}" srcOrd="2" destOrd="0" presId="urn:microsoft.com/office/officeart/2018/2/layout/IconVerticalSolidList"/>
    <dgm:cxn modelId="{1609472D-6B0C-4F22-A466-8C59FEEC420C}" type="presParOf" srcId="{1ABE9194-9D16-403C-B2A5-10DDE9B39E37}" destId="{120AB718-A5C9-460C-902D-AD2467AF6C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C445AC-ABB2-4294-A106-F840E494D314}" type="doc">
      <dgm:prSet loTypeId="urn:microsoft.com/office/officeart/2005/8/layout/process5" loCatId="process" qsTypeId="urn:microsoft.com/office/officeart/2005/8/quickstyle/simple4" qsCatId="simple" csTypeId="urn:microsoft.com/office/officeart/2005/8/colors/accent2_2" csCatId="accent2"/>
      <dgm:spPr/>
      <dgm:t>
        <a:bodyPr/>
        <a:lstStyle/>
        <a:p>
          <a:endParaRPr lang="en-US"/>
        </a:p>
      </dgm:t>
    </dgm:pt>
    <dgm:pt modelId="{CD04876E-A92A-4FA9-B728-8C2F510911BE}">
      <dgm:prSet/>
      <dgm:spPr/>
      <dgm:t>
        <a:bodyPr/>
        <a:lstStyle/>
        <a:p>
          <a:r>
            <a:rPr lang="en-GB"/>
            <a:t>Service-to-service authentication:</a:t>
          </a:r>
          <a:endParaRPr lang="en-US"/>
        </a:p>
      </dgm:t>
    </dgm:pt>
    <dgm:pt modelId="{0E1D2A95-CF33-4981-A022-091C97FE5868}" type="parTrans" cxnId="{35BA3DCE-5BB6-4C8F-9769-A43D80D5CF6F}">
      <dgm:prSet/>
      <dgm:spPr/>
      <dgm:t>
        <a:bodyPr/>
        <a:lstStyle/>
        <a:p>
          <a:endParaRPr lang="en-US"/>
        </a:p>
      </dgm:t>
    </dgm:pt>
    <dgm:pt modelId="{DD402329-045C-441C-B504-31481A6BD1D5}" type="sibTrans" cxnId="{35BA3DCE-5BB6-4C8F-9769-A43D80D5CF6F}">
      <dgm:prSet/>
      <dgm:spPr/>
      <dgm:t>
        <a:bodyPr/>
        <a:lstStyle/>
        <a:p>
          <a:endParaRPr lang="en-US"/>
        </a:p>
      </dgm:t>
    </dgm:pt>
    <dgm:pt modelId="{D6D3C513-4307-45F9-95A8-A425B91A0B40}">
      <dgm:prSet/>
      <dgm:spPr/>
      <dgm:t>
        <a:bodyPr/>
        <a:lstStyle/>
        <a:p>
          <a:r>
            <a:rPr lang="en-GB"/>
            <a:t>App requests token from Azure IMDS</a:t>
          </a:r>
          <a:endParaRPr lang="en-US"/>
        </a:p>
      </dgm:t>
    </dgm:pt>
    <dgm:pt modelId="{6FABD00D-43A4-4886-A2C0-63C3A19BC9C6}" type="parTrans" cxnId="{43D19A5F-650D-469F-B0C2-9ACCBCD67BE5}">
      <dgm:prSet/>
      <dgm:spPr/>
      <dgm:t>
        <a:bodyPr/>
        <a:lstStyle/>
        <a:p>
          <a:endParaRPr lang="en-US"/>
        </a:p>
      </dgm:t>
    </dgm:pt>
    <dgm:pt modelId="{B60F78F5-556D-4409-9897-2DB647540C8A}" type="sibTrans" cxnId="{43D19A5F-650D-469F-B0C2-9ACCBCD67BE5}">
      <dgm:prSet/>
      <dgm:spPr/>
      <dgm:t>
        <a:bodyPr/>
        <a:lstStyle/>
        <a:p>
          <a:endParaRPr lang="en-US"/>
        </a:p>
      </dgm:t>
    </dgm:pt>
    <dgm:pt modelId="{DFE37398-1149-4001-BF6A-C5536BEDFCC9}">
      <dgm:prSet/>
      <dgm:spPr/>
      <dgm:t>
        <a:bodyPr/>
        <a:lstStyle/>
        <a:p>
          <a:r>
            <a:rPr lang="en-GB"/>
            <a:t>Calls APIM with Bearer token</a:t>
          </a:r>
          <a:endParaRPr lang="en-US"/>
        </a:p>
      </dgm:t>
    </dgm:pt>
    <dgm:pt modelId="{3C2D3D37-A49A-4A4F-B739-3581E85998B7}" type="parTrans" cxnId="{12350FA8-C2E5-4B72-B100-5640F1903A42}">
      <dgm:prSet/>
      <dgm:spPr/>
      <dgm:t>
        <a:bodyPr/>
        <a:lstStyle/>
        <a:p>
          <a:endParaRPr lang="en-US"/>
        </a:p>
      </dgm:t>
    </dgm:pt>
    <dgm:pt modelId="{5E96EA5F-0B9C-4CB0-9D26-D50C72989941}" type="sibTrans" cxnId="{12350FA8-C2E5-4B72-B100-5640F1903A42}">
      <dgm:prSet/>
      <dgm:spPr/>
      <dgm:t>
        <a:bodyPr/>
        <a:lstStyle/>
        <a:p>
          <a:endParaRPr lang="en-US"/>
        </a:p>
      </dgm:t>
    </dgm:pt>
    <dgm:pt modelId="{D972B94E-1784-45AB-8DDB-4823191E774F}">
      <dgm:prSet/>
      <dgm:spPr/>
      <dgm:t>
        <a:bodyPr/>
        <a:lstStyle/>
        <a:p>
          <a:r>
            <a:rPr lang="en-GB"/>
            <a:t>APIM validates and extracts user identity</a:t>
          </a:r>
          <a:endParaRPr lang="en-US"/>
        </a:p>
      </dgm:t>
    </dgm:pt>
    <dgm:pt modelId="{BECB79ED-B83F-4652-8412-782DE58E6E2C}" type="parTrans" cxnId="{8061DEBE-750D-4F88-B2EB-D18BFEAEEFA6}">
      <dgm:prSet/>
      <dgm:spPr/>
      <dgm:t>
        <a:bodyPr/>
        <a:lstStyle/>
        <a:p>
          <a:endParaRPr lang="en-US"/>
        </a:p>
      </dgm:t>
    </dgm:pt>
    <dgm:pt modelId="{3006D9A2-441D-4D86-846B-B21E78CD8AB8}" type="sibTrans" cxnId="{8061DEBE-750D-4F88-B2EB-D18BFEAEEFA6}">
      <dgm:prSet/>
      <dgm:spPr/>
      <dgm:t>
        <a:bodyPr/>
        <a:lstStyle/>
        <a:p>
          <a:endParaRPr lang="en-US"/>
        </a:p>
      </dgm:t>
    </dgm:pt>
    <dgm:pt modelId="{B80101F9-9D3C-40B4-A803-3FDA236641B7}">
      <dgm:prSet/>
      <dgm:spPr/>
      <dgm:t>
        <a:bodyPr/>
        <a:lstStyle/>
        <a:p>
          <a:r>
            <a:rPr lang="en-GB"/>
            <a:t>APIM uses its identity to call Azure OpenAI</a:t>
          </a:r>
          <a:endParaRPr lang="en-US"/>
        </a:p>
      </dgm:t>
    </dgm:pt>
    <dgm:pt modelId="{740F1B5B-9965-40C5-B9E1-1F698E212EC0}" type="parTrans" cxnId="{ECD8259A-B726-4549-BD6F-5E8F851E26A7}">
      <dgm:prSet/>
      <dgm:spPr/>
      <dgm:t>
        <a:bodyPr/>
        <a:lstStyle/>
        <a:p>
          <a:endParaRPr lang="en-US"/>
        </a:p>
      </dgm:t>
    </dgm:pt>
    <dgm:pt modelId="{77ED8F9B-287C-4042-B460-3CBE11469339}" type="sibTrans" cxnId="{ECD8259A-B726-4549-BD6F-5E8F851E26A7}">
      <dgm:prSet/>
      <dgm:spPr/>
      <dgm:t>
        <a:bodyPr/>
        <a:lstStyle/>
        <a:p>
          <a:endParaRPr lang="en-US"/>
        </a:p>
      </dgm:t>
    </dgm:pt>
    <dgm:pt modelId="{FC350B35-521B-4EC4-8A0A-B20ACBFCD111}" type="pres">
      <dgm:prSet presAssocID="{F7C445AC-ABB2-4294-A106-F840E494D314}" presName="diagram" presStyleCnt="0">
        <dgm:presLayoutVars>
          <dgm:dir/>
          <dgm:resizeHandles val="exact"/>
        </dgm:presLayoutVars>
      </dgm:prSet>
      <dgm:spPr/>
    </dgm:pt>
    <dgm:pt modelId="{A2FA2C82-607E-4978-ABA1-CE9F6E721DFB}" type="pres">
      <dgm:prSet presAssocID="{CD04876E-A92A-4FA9-B728-8C2F510911BE}" presName="node" presStyleLbl="node1" presStyleIdx="0" presStyleCnt="5">
        <dgm:presLayoutVars>
          <dgm:bulletEnabled val="1"/>
        </dgm:presLayoutVars>
      </dgm:prSet>
      <dgm:spPr/>
    </dgm:pt>
    <dgm:pt modelId="{391B42E8-FBE8-4F01-9694-ADDE68A307DA}" type="pres">
      <dgm:prSet presAssocID="{DD402329-045C-441C-B504-31481A6BD1D5}" presName="sibTrans" presStyleLbl="sibTrans2D1" presStyleIdx="0" presStyleCnt="4"/>
      <dgm:spPr/>
    </dgm:pt>
    <dgm:pt modelId="{592A2596-CA60-486C-8D2E-4E9EA67F4750}" type="pres">
      <dgm:prSet presAssocID="{DD402329-045C-441C-B504-31481A6BD1D5}" presName="connectorText" presStyleLbl="sibTrans2D1" presStyleIdx="0" presStyleCnt="4"/>
      <dgm:spPr/>
    </dgm:pt>
    <dgm:pt modelId="{02C372FB-50E1-4B0A-BE9C-AB1C32F85997}" type="pres">
      <dgm:prSet presAssocID="{D6D3C513-4307-45F9-95A8-A425B91A0B40}" presName="node" presStyleLbl="node1" presStyleIdx="1" presStyleCnt="5">
        <dgm:presLayoutVars>
          <dgm:bulletEnabled val="1"/>
        </dgm:presLayoutVars>
      </dgm:prSet>
      <dgm:spPr/>
    </dgm:pt>
    <dgm:pt modelId="{CC5D2DB5-D9E1-40A7-8B7E-40DBABBDC1D3}" type="pres">
      <dgm:prSet presAssocID="{B60F78F5-556D-4409-9897-2DB647540C8A}" presName="sibTrans" presStyleLbl="sibTrans2D1" presStyleIdx="1" presStyleCnt="4"/>
      <dgm:spPr/>
    </dgm:pt>
    <dgm:pt modelId="{87B87D6B-ABDE-42C7-BABE-6FA51AE9B2A6}" type="pres">
      <dgm:prSet presAssocID="{B60F78F5-556D-4409-9897-2DB647540C8A}" presName="connectorText" presStyleLbl="sibTrans2D1" presStyleIdx="1" presStyleCnt="4"/>
      <dgm:spPr/>
    </dgm:pt>
    <dgm:pt modelId="{F869D3A8-F749-4DFC-BC16-22127968E3B8}" type="pres">
      <dgm:prSet presAssocID="{DFE37398-1149-4001-BF6A-C5536BEDFCC9}" presName="node" presStyleLbl="node1" presStyleIdx="2" presStyleCnt="5">
        <dgm:presLayoutVars>
          <dgm:bulletEnabled val="1"/>
        </dgm:presLayoutVars>
      </dgm:prSet>
      <dgm:spPr/>
    </dgm:pt>
    <dgm:pt modelId="{5B112CDC-E5F0-4E8B-95D1-ACE33EABE1FD}" type="pres">
      <dgm:prSet presAssocID="{5E96EA5F-0B9C-4CB0-9D26-D50C72989941}" presName="sibTrans" presStyleLbl="sibTrans2D1" presStyleIdx="2" presStyleCnt="4"/>
      <dgm:spPr/>
    </dgm:pt>
    <dgm:pt modelId="{1CB28425-5D52-4316-A3A5-A4D96C7823F9}" type="pres">
      <dgm:prSet presAssocID="{5E96EA5F-0B9C-4CB0-9D26-D50C72989941}" presName="connectorText" presStyleLbl="sibTrans2D1" presStyleIdx="2" presStyleCnt="4"/>
      <dgm:spPr/>
    </dgm:pt>
    <dgm:pt modelId="{B76EBB12-9909-4004-A5EB-35FF51478E15}" type="pres">
      <dgm:prSet presAssocID="{D972B94E-1784-45AB-8DDB-4823191E774F}" presName="node" presStyleLbl="node1" presStyleIdx="3" presStyleCnt="5">
        <dgm:presLayoutVars>
          <dgm:bulletEnabled val="1"/>
        </dgm:presLayoutVars>
      </dgm:prSet>
      <dgm:spPr/>
    </dgm:pt>
    <dgm:pt modelId="{97C666BC-0501-4EBB-BC2A-484B44D8A51D}" type="pres">
      <dgm:prSet presAssocID="{3006D9A2-441D-4D86-846B-B21E78CD8AB8}" presName="sibTrans" presStyleLbl="sibTrans2D1" presStyleIdx="3" presStyleCnt="4"/>
      <dgm:spPr/>
    </dgm:pt>
    <dgm:pt modelId="{0C2701CE-C024-469C-B37E-B3B928768A41}" type="pres">
      <dgm:prSet presAssocID="{3006D9A2-441D-4D86-846B-B21E78CD8AB8}" presName="connectorText" presStyleLbl="sibTrans2D1" presStyleIdx="3" presStyleCnt="4"/>
      <dgm:spPr/>
    </dgm:pt>
    <dgm:pt modelId="{46060680-CB81-4A85-904E-B43CF5475D4D}" type="pres">
      <dgm:prSet presAssocID="{B80101F9-9D3C-40B4-A803-3FDA236641B7}" presName="node" presStyleLbl="node1" presStyleIdx="4" presStyleCnt="5">
        <dgm:presLayoutVars>
          <dgm:bulletEnabled val="1"/>
        </dgm:presLayoutVars>
      </dgm:prSet>
      <dgm:spPr/>
    </dgm:pt>
  </dgm:ptLst>
  <dgm:cxnLst>
    <dgm:cxn modelId="{7025D72C-6474-4650-B6CB-EAD3E2407CE2}" type="presOf" srcId="{CD04876E-A92A-4FA9-B728-8C2F510911BE}" destId="{A2FA2C82-607E-4978-ABA1-CE9F6E721DFB}" srcOrd="0" destOrd="0" presId="urn:microsoft.com/office/officeart/2005/8/layout/process5"/>
    <dgm:cxn modelId="{CD9FCC2D-90E2-448C-93E5-40AE1ADB7FE5}" type="presOf" srcId="{B60F78F5-556D-4409-9897-2DB647540C8A}" destId="{87B87D6B-ABDE-42C7-BABE-6FA51AE9B2A6}" srcOrd="1" destOrd="0" presId="urn:microsoft.com/office/officeart/2005/8/layout/process5"/>
    <dgm:cxn modelId="{6E485539-4D51-4D2A-83F9-BB160F68FFF3}" type="presOf" srcId="{5E96EA5F-0B9C-4CB0-9D26-D50C72989941}" destId="{1CB28425-5D52-4316-A3A5-A4D96C7823F9}" srcOrd="1" destOrd="0" presId="urn:microsoft.com/office/officeart/2005/8/layout/process5"/>
    <dgm:cxn modelId="{07B7295B-C794-4122-B7CC-35953BC91263}" type="presOf" srcId="{5E96EA5F-0B9C-4CB0-9D26-D50C72989941}" destId="{5B112CDC-E5F0-4E8B-95D1-ACE33EABE1FD}" srcOrd="0" destOrd="0" presId="urn:microsoft.com/office/officeart/2005/8/layout/process5"/>
    <dgm:cxn modelId="{43D19A5F-650D-469F-B0C2-9ACCBCD67BE5}" srcId="{F7C445AC-ABB2-4294-A106-F840E494D314}" destId="{D6D3C513-4307-45F9-95A8-A425B91A0B40}" srcOrd="1" destOrd="0" parTransId="{6FABD00D-43A4-4886-A2C0-63C3A19BC9C6}" sibTransId="{B60F78F5-556D-4409-9897-2DB647540C8A}"/>
    <dgm:cxn modelId="{E1FE0F52-F9F6-4905-9A1C-660AA50350ED}" type="presOf" srcId="{DD402329-045C-441C-B504-31481A6BD1D5}" destId="{391B42E8-FBE8-4F01-9694-ADDE68A307DA}" srcOrd="0" destOrd="0" presId="urn:microsoft.com/office/officeart/2005/8/layout/process5"/>
    <dgm:cxn modelId="{1472F989-5786-4F8E-B0E8-78E4D80C6F17}" type="presOf" srcId="{3006D9A2-441D-4D86-846B-B21E78CD8AB8}" destId="{97C666BC-0501-4EBB-BC2A-484B44D8A51D}" srcOrd="0" destOrd="0" presId="urn:microsoft.com/office/officeart/2005/8/layout/process5"/>
    <dgm:cxn modelId="{ECD8259A-B726-4549-BD6F-5E8F851E26A7}" srcId="{F7C445AC-ABB2-4294-A106-F840E494D314}" destId="{B80101F9-9D3C-40B4-A803-3FDA236641B7}" srcOrd="4" destOrd="0" parTransId="{740F1B5B-9965-40C5-B9E1-1F698E212EC0}" sibTransId="{77ED8F9B-287C-4042-B460-3CBE11469339}"/>
    <dgm:cxn modelId="{6E9DEC9C-BFF5-4BF1-B2B5-562E02575D51}" type="presOf" srcId="{F7C445AC-ABB2-4294-A106-F840E494D314}" destId="{FC350B35-521B-4EC4-8A0A-B20ACBFCD111}" srcOrd="0" destOrd="0" presId="urn:microsoft.com/office/officeart/2005/8/layout/process5"/>
    <dgm:cxn modelId="{12350FA8-C2E5-4B72-B100-5640F1903A42}" srcId="{F7C445AC-ABB2-4294-A106-F840E494D314}" destId="{DFE37398-1149-4001-BF6A-C5536BEDFCC9}" srcOrd="2" destOrd="0" parTransId="{3C2D3D37-A49A-4A4F-B739-3581E85998B7}" sibTransId="{5E96EA5F-0B9C-4CB0-9D26-D50C72989941}"/>
    <dgm:cxn modelId="{3C5F58A8-55B5-4FDF-8EDF-BC0151FE126F}" type="presOf" srcId="{B60F78F5-556D-4409-9897-2DB647540C8A}" destId="{CC5D2DB5-D9E1-40A7-8B7E-40DBABBDC1D3}" srcOrd="0" destOrd="0" presId="urn:microsoft.com/office/officeart/2005/8/layout/process5"/>
    <dgm:cxn modelId="{3BC694AA-5069-4399-9CFE-82EE2895AE9E}" type="presOf" srcId="{B80101F9-9D3C-40B4-A803-3FDA236641B7}" destId="{46060680-CB81-4A85-904E-B43CF5475D4D}" srcOrd="0" destOrd="0" presId="urn:microsoft.com/office/officeart/2005/8/layout/process5"/>
    <dgm:cxn modelId="{33F129B8-968E-4BB7-A8AF-84E153588DB3}" type="presOf" srcId="{D972B94E-1784-45AB-8DDB-4823191E774F}" destId="{B76EBB12-9909-4004-A5EB-35FF51478E15}" srcOrd="0" destOrd="0" presId="urn:microsoft.com/office/officeart/2005/8/layout/process5"/>
    <dgm:cxn modelId="{A62B54B9-D470-4F5B-BB73-A74A93D815D1}" type="presOf" srcId="{3006D9A2-441D-4D86-846B-B21E78CD8AB8}" destId="{0C2701CE-C024-469C-B37E-B3B928768A41}" srcOrd="1" destOrd="0" presId="urn:microsoft.com/office/officeart/2005/8/layout/process5"/>
    <dgm:cxn modelId="{8061DEBE-750D-4F88-B2EB-D18BFEAEEFA6}" srcId="{F7C445AC-ABB2-4294-A106-F840E494D314}" destId="{D972B94E-1784-45AB-8DDB-4823191E774F}" srcOrd="3" destOrd="0" parTransId="{BECB79ED-B83F-4652-8412-782DE58E6E2C}" sibTransId="{3006D9A2-441D-4D86-846B-B21E78CD8AB8}"/>
    <dgm:cxn modelId="{35BA3DCE-5BB6-4C8F-9769-A43D80D5CF6F}" srcId="{F7C445AC-ABB2-4294-A106-F840E494D314}" destId="{CD04876E-A92A-4FA9-B728-8C2F510911BE}" srcOrd="0" destOrd="0" parTransId="{0E1D2A95-CF33-4981-A022-091C97FE5868}" sibTransId="{DD402329-045C-441C-B504-31481A6BD1D5}"/>
    <dgm:cxn modelId="{463923DE-8CB1-4757-81A1-0487C5C7D300}" type="presOf" srcId="{D6D3C513-4307-45F9-95A8-A425B91A0B40}" destId="{02C372FB-50E1-4B0A-BE9C-AB1C32F85997}" srcOrd="0" destOrd="0" presId="urn:microsoft.com/office/officeart/2005/8/layout/process5"/>
    <dgm:cxn modelId="{07C80BF6-0DEF-455E-9F27-746EEDDC3069}" type="presOf" srcId="{DD402329-045C-441C-B504-31481A6BD1D5}" destId="{592A2596-CA60-486C-8D2E-4E9EA67F4750}" srcOrd="1" destOrd="0" presId="urn:microsoft.com/office/officeart/2005/8/layout/process5"/>
    <dgm:cxn modelId="{0A6F6BFE-9CEE-446D-B5FA-D339D3BB76F6}" type="presOf" srcId="{DFE37398-1149-4001-BF6A-C5536BEDFCC9}" destId="{F869D3A8-F749-4DFC-BC16-22127968E3B8}" srcOrd="0" destOrd="0" presId="urn:microsoft.com/office/officeart/2005/8/layout/process5"/>
    <dgm:cxn modelId="{053DC5E4-51F9-4EFF-94E3-1138E71AA84C}" type="presParOf" srcId="{FC350B35-521B-4EC4-8A0A-B20ACBFCD111}" destId="{A2FA2C82-607E-4978-ABA1-CE9F6E721DFB}" srcOrd="0" destOrd="0" presId="urn:microsoft.com/office/officeart/2005/8/layout/process5"/>
    <dgm:cxn modelId="{9E031DA9-7CAA-4C41-BF02-3956D362F4D3}" type="presParOf" srcId="{FC350B35-521B-4EC4-8A0A-B20ACBFCD111}" destId="{391B42E8-FBE8-4F01-9694-ADDE68A307DA}" srcOrd="1" destOrd="0" presId="urn:microsoft.com/office/officeart/2005/8/layout/process5"/>
    <dgm:cxn modelId="{BD5146AA-5B75-4F4E-984A-AC05C14198DD}" type="presParOf" srcId="{391B42E8-FBE8-4F01-9694-ADDE68A307DA}" destId="{592A2596-CA60-486C-8D2E-4E9EA67F4750}" srcOrd="0" destOrd="0" presId="urn:microsoft.com/office/officeart/2005/8/layout/process5"/>
    <dgm:cxn modelId="{1079969B-3C41-4249-BBA2-44B2F2C477D9}" type="presParOf" srcId="{FC350B35-521B-4EC4-8A0A-B20ACBFCD111}" destId="{02C372FB-50E1-4B0A-BE9C-AB1C32F85997}" srcOrd="2" destOrd="0" presId="urn:microsoft.com/office/officeart/2005/8/layout/process5"/>
    <dgm:cxn modelId="{0B5D09EF-CDA9-47A0-B16B-CC6021CD5DC4}" type="presParOf" srcId="{FC350B35-521B-4EC4-8A0A-B20ACBFCD111}" destId="{CC5D2DB5-D9E1-40A7-8B7E-40DBABBDC1D3}" srcOrd="3" destOrd="0" presId="urn:microsoft.com/office/officeart/2005/8/layout/process5"/>
    <dgm:cxn modelId="{54753C60-F6B5-49C1-BFF3-8B99D919E4A2}" type="presParOf" srcId="{CC5D2DB5-D9E1-40A7-8B7E-40DBABBDC1D3}" destId="{87B87D6B-ABDE-42C7-BABE-6FA51AE9B2A6}" srcOrd="0" destOrd="0" presId="urn:microsoft.com/office/officeart/2005/8/layout/process5"/>
    <dgm:cxn modelId="{343A3148-5BE3-4E91-BFB5-E05196C7A938}" type="presParOf" srcId="{FC350B35-521B-4EC4-8A0A-B20ACBFCD111}" destId="{F869D3A8-F749-4DFC-BC16-22127968E3B8}" srcOrd="4" destOrd="0" presId="urn:microsoft.com/office/officeart/2005/8/layout/process5"/>
    <dgm:cxn modelId="{90973ACA-97D1-4B78-A372-2D5D02D4B7E7}" type="presParOf" srcId="{FC350B35-521B-4EC4-8A0A-B20ACBFCD111}" destId="{5B112CDC-E5F0-4E8B-95D1-ACE33EABE1FD}" srcOrd="5" destOrd="0" presId="urn:microsoft.com/office/officeart/2005/8/layout/process5"/>
    <dgm:cxn modelId="{10426808-A32E-4586-A28E-4EB118EDAE56}" type="presParOf" srcId="{5B112CDC-E5F0-4E8B-95D1-ACE33EABE1FD}" destId="{1CB28425-5D52-4316-A3A5-A4D96C7823F9}" srcOrd="0" destOrd="0" presId="urn:microsoft.com/office/officeart/2005/8/layout/process5"/>
    <dgm:cxn modelId="{04CA6922-C797-4341-82FA-E162F1E16858}" type="presParOf" srcId="{FC350B35-521B-4EC4-8A0A-B20ACBFCD111}" destId="{B76EBB12-9909-4004-A5EB-35FF51478E15}" srcOrd="6" destOrd="0" presId="urn:microsoft.com/office/officeart/2005/8/layout/process5"/>
    <dgm:cxn modelId="{F48B8FCF-8BB1-4FFB-B46F-54950D848019}" type="presParOf" srcId="{FC350B35-521B-4EC4-8A0A-B20ACBFCD111}" destId="{97C666BC-0501-4EBB-BC2A-484B44D8A51D}" srcOrd="7" destOrd="0" presId="urn:microsoft.com/office/officeart/2005/8/layout/process5"/>
    <dgm:cxn modelId="{4F999264-F1DA-4AAA-B73F-D54C3322CE8E}" type="presParOf" srcId="{97C666BC-0501-4EBB-BC2A-484B44D8A51D}" destId="{0C2701CE-C024-469C-B37E-B3B928768A41}" srcOrd="0" destOrd="0" presId="urn:microsoft.com/office/officeart/2005/8/layout/process5"/>
    <dgm:cxn modelId="{5434FA84-934D-447D-B376-ED93395C46B8}" type="presParOf" srcId="{FC350B35-521B-4EC4-8A0A-B20ACBFCD111}" destId="{46060680-CB81-4A85-904E-B43CF5475D4D}"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766AD9-7B1C-454D-98B7-C32A604A4C3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25CDAA0-BF83-469B-8A69-E4B69D6C048E}">
      <dgm:prSet/>
      <dgm:spPr/>
      <dgm:t>
        <a:bodyPr/>
        <a:lstStyle/>
        <a:p>
          <a:r>
            <a:rPr lang="en-GB"/>
            <a:t>JWT validation on inbound requests</a:t>
          </a:r>
          <a:endParaRPr lang="en-US"/>
        </a:p>
      </dgm:t>
    </dgm:pt>
    <dgm:pt modelId="{21112F0F-2F39-45F0-A0EB-6EA42C766188}" type="parTrans" cxnId="{0B5FF34E-860C-47B8-A922-4E34C3398745}">
      <dgm:prSet/>
      <dgm:spPr/>
      <dgm:t>
        <a:bodyPr/>
        <a:lstStyle/>
        <a:p>
          <a:endParaRPr lang="en-US"/>
        </a:p>
      </dgm:t>
    </dgm:pt>
    <dgm:pt modelId="{94EAEA9F-D013-4362-B1A7-96583F09ECDE}" type="sibTrans" cxnId="{0B5FF34E-860C-47B8-A922-4E34C3398745}">
      <dgm:prSet/>
      <dgm:spPr/>
      <dgm:t>
        <a:bodyPr/>
        <a:lstStyle/>
        <a:p>
          <a:endParaRPr lang="en-US"/>
        </a:p>
      </dgm:t>
    </dgm:pt>
    <dgm:pt modelId="{D96E1D3E-722A-4480-961E-A803D3D64D11}">
      <dgm:prSet/>
      <dgm:spPr/>
      <dgm:t>
        <a:bodyPr/>
        <a:lstStyle/>
        <a:p>
          <a:r>
            <a:rPr lang="en-GB"/>
            <a:t>Rate limiting per user and application</a:t>
          </a:r>
          <a:endParaRPr lang="en-US"/>
        </a:p>
      </dgm:t>
    </dgm:pt>
    <dgm:pt modelId="{10AFD836-145B-4339-8E5B-42F881263612}" type="parTrans" cxnId="{476F0FE6-30E9-4BFD-B3C4-AB71DDD70430}">
      <dgm:prSet/>
      <dgm:spPr/>
      <dgm:t>
        <a:bodyPr/>
        <a:lstStyle/>
        <a:p>
          <a:endParaRPr lang="en-US"/>
        </a:p>
      </dgm:t>
    </dgm:pt>
    <dgm:pt modelId="{BBE94C9D-753A-4C8C-83C9-3A072FD7746D}" type="sibTrans" cxnId="{476F0FE6-30E9-4BFD-B3C4-AB71DDD70430}">
      <dgm:prSet/>
      <dgm:spPr/>
      <dgm:t>
        <a:bodyPr/>
        <a:lstStyle/>
        <a:p>
          <a:endParaRPr lang="en-US"/>
        </a:p>
      </dgm:t>
    </dgm:pt>
    <dgm:pt modelId="{F8918FF8-380B-4112-8940-211FBEC00842}">
      <dgm:prSet/>
      <dgm:spPr/>
      <dgm:t>
        <a:bodyPr/>
        <a:lstStyle/>
        <a:p>
          <a:r>
            <a:rPr lang="en-GB"/>
            <a:t>Token usage tracking to Event Hub</a:t>
          </a:r>
          <a:endParaRPr lang="en-US"/>
        </a:p>
      </dgm:t>
    </dgm:pt>
    <dgm:pt modelId="{A820235D-2216-44E8-BBCE-2874CAF62616}" type="parTrans" cxnId="{40D7B95B-3983-4E76-9D8E-F9080BDFBD08}">
      <dgm:prSet/>
      <dgm:spPr/>
      <dgm:t>
        <a:bodyPr/>
        <a:lstStyle/>
        <a:p>
          <a:endParaRPr lang="en-US"/>
        </a:p>
      </dgm:t>
    </dgm:pt>
    <dgm:pt modelId="{083CC29E-2563-4A2A-9994-0482701976A8}" type="sibTrans" cxnId="{40D7B95B-3983-4E76-9D8E-F9080BDFBD08}">
      <dgm:prSet/>
      <dgm:spPr/>
      <dgm:t>
        <a:bodyPr/>
        <a:lstStyle/>
        <a:p>
          <a:endParaRPr lang="en-US"/>
        </a:p>
      </dgm:t>
    </dgm:pt>
    <dgm:pt modelId="{F0781E79-7143-4B97-8AD4-9DB3B93718C8}">
      <dgm:prSet/>
      <dgm:spPr/>
      <dgm:t>
        <a:bodyPr/>
        <a:lstStyle/>
        <a:p>
          <a:r>
            <a:rPr lang="en-GB"/>
            <a:t>Content filtering for sensitive prompts</a:t>
          </a:r>
          <a:endParaRPr lang="en-US"/>
        </a:p>
      </dgm:t>
    </dgm:pt>
    <dgm:pt modelId="{4BB94FC5-38DE-4D24-8077-E5BE365AE6AE}" type="parTrans" cxnId="{09B89406-55C0-4F63-A192-C25C3523DBA1}">
      <dgm:prSet/>
      <dgm:spPr/>
      <dgm:t>
        <a:bodyPr/>
        <a:lstStyle/>
        <a:p>
          <a:endParaRPr lang="en-US"/>
        </a:p>
      </dgm:t>
    </dgm:pt>
    <dgm:pt modelId="{3C1AF380-065A-48E5-ABB7-A74803CB800A}" type="sibTrans" cxnId="{09B89406-55C0-4F63-A192-C25C3523DBA1}">
      <dgm:prSet/>
      <dgm:spPr/>
      <dgm:t>
        <a:bodyPr/>
        <a:lstStyle/>
        <a:p>
          <a:endParaRPr lang="en-US"/>
        </a:p>
      </dgm:t>
    </dgm:pt>
    <dgm:pt modelId="{D4C4E712-DA9E-4841-8F1C-AC2DC685F111}" type="pres">
      <dgm:prSet presAssocID="{BA766AD9-7B1C-454D-98B7-C32A604A4C38}" presName="root" presStyleCnt="0">
        <dgm:presLayoutVars>
          <dgm:dir/>
          <dgm:resizeHandles val="exact"/>
        </dgm:presLayoutVars>
      </dgm:prSet>
      <dgm:spPr/>
    </dgm:pt>
    <dgm:pt modelId="{8CBF1354-90EA-4B1F-8262-1CBFBEAF1C29}" type="pres">
      <dgm:prSet presAssocID="{925CDAA0-BF83-469B-8A69-E4B69D6C048E}" presName="compNode" presStyleCnt="0"/>
      <dgm:spPr/>
    </dgm:pt>
    <dgm:pt modelId="{8D85899D-C1AC-49CD-A735-9D886F7E17E4}" type="pres">
      <dgm:prSet presAssocID="{925CDAA0-BF83-469B-8A69-E4B69D6C048E}" presName="bgRect" presStyleLbl="bgShp" presStyleIdx="0" presStyleCnt="4"/>
      <dgm:spPr/>
    </dgm:pt>
    <dgm:pt modelId="{251BEF6A-0A5A-4212-BF8C-021CE7AB8413}" type="pres">
      <dgm:prSet presAssocID="{925CDAA0-BF83-469B-8A69-E4B69D6C04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131D3422-5D3C-44B7-B397-307C1A3C62C0}" type="pres">
      <dgm:prSet presAssocID="{925CDAA0-BF83-469B-8A69-E4B69D6C048E}" presName="spaceRect" presStyleCnt="0"/>
      <dgm:spPr/>
    </dgm:pt>
    <dgm:pt modelId="{533E74C6-4AB0-4DE6-AF75-C0E0DAB3724E}" type="pres">
      <dgm:prSet presAssocID="{925CDAA0-BF83-469B-8A69-E4B69D6C048E}" presName="parTx" presStyleLbl="revTx" presStyleIdx="0" presStyleCnt="4">
        <dgm:presLayoutVars>
          <dgm:chMax val="0"/>
          <dgm:chPref val="0"/>
        </dgm:presLayoutVars>
      </dgm:prSet>
      <dgm:spPr/>
    </dgm:pt>
    <dgm:pt modelId="{C7B6B43A-4C24-413A-B5FD-6335CFCC5ACE}" type="pres">
      <dgm:prSet presAssocID="{94EAEA9F-D013-4362-B1A7-96583F09ECDE}" presName="sibTrans" presStyleCnt="0"/>
      <dgm:spPr/>
    </dgm:pt>
    <dgm:pt modelId="{7D92CF96-4681-4D1A-8694-98DC920F3F79}" type="pres">
      <dgm:prSet presAssocID="{D96E1D3E-722A-4480-961E-A803D3D64D11}" presName="compNode" presStyleCnt="0"/>
      <dgm:spPr/>
    </dgm:pt>
    <dgm:pt modelId="{DD6BFF02-4ADF-45D9-8135-8B9A83D42A42}" type="pres">
      <dgm:prSet presAssocID="{D96E1D3E-722A-4480-961E-A803D3D64D11}" presName="bgRect" presStyleLbl="bgShp" presStyleIdx="1" presStyleCnt="4"/>
      <dgm:spPr/>
    </dgm:pt>
    <dgm:pt modelId="{8D45CA7E-B85A-4D9C-AB22-940671DDDAF4}" type="pres">
      <dgm:prSet presAssocID="{D96E1D3E-722A-4480-961E-A803D3D64D1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82E5C25D-34CA-43F2-A0BD-034F49A9F4F1}" type="pres">
      <dgm:prSet presAssocID="{D96E1D3E-722A-4480-961E-A803D3D64D11}" presName="spaceRect" presStyleCnt="0"/>
      <dgm:spPr/>
    </dgm:pt>
    <dgm:pt modelId="{49F42E79-3416-4949-A660-A94F8BC590A6}" type="pres">
      <dgm:prSet presAssocID="{D96E1D3E-722A-4480-961E-A803D3D64D11}" presName="parTx" presStyleLbl="revTx" presStyleIdx="1" presStyleCnt="4">
        <dgm:presLayoutVars>
          <dgm:chMax val="0"/>
          <dgm:chPref val="0"/>
        </dgm:presLayoutVars>
      </dgm:prSet>
      <dgm:spPr/>
    </dgm:pt>
    <dgm:pt modelId="{FB1DC618-86B8-46E5-A403-FDABC13505FF}" type="pres">
      <dgm:prSet presAssocID="{BBE94C9D-753A-4C8C-83C9-3A072FD7746D}" presName="sibTrans" presStyleCnt="0"/>
      <dgm:spPr/>
    </dgm:pt>
    <dgm:pt modelId="{00D8F630-8CD7-4E35-8A20-EA4B4BC73B78}" type="pres">
      <dgm:prSet presAssocID="{F8918FF8-380B-4112-8940-211FBEC00842}" presName="compNode" presStyleCnt="0"/>
      <dgm:spPr/>
    </dgm:pt>
    <dgm:pt modelId="{8145116A-C661-43D7-B402-1B5210B92384}" type="pres">
      <dgm:prSet presAssocID="{F8918FF8-380B-4112-8940-211FBEC00842}" presName="bgRect" presStyleLbl="bgShp" presStyleIdx="2" presStyleCnt="4"/>
      <dgm:spPr/>
    </dgm:pt>
    <dgm:pt modelId="{A4F12C1E-FE22-4A98-84B3-AF040975A9DC}" type="pres">
      <dgm:prSet presAssocID="{F8918FF8-380B-4112-8940-211FBEC0084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70B82405-AA6D-45AE-A9B7-28E8698CBF26}" type="pres">
      <dgm:prSet presAssocID="{F8918FF8-380B-4112-8940-211FBEC00842}" presName="spaceRect" presStyleCnt="0"/>
      <dgm:spPr/>
    </dgm:pt>
    <dgm:pt modelId="{6E6257AD-53D5-40EF-8BD1-6BFD96684C39}" type="pres">
      <dgm:prSet presAssocID="{F8918FF8-380B-4112-8940-211FBEC00842}" presName="parTx" presStyleLbl="revTx" presStyleIdx="2" presStyleCnt="4">
        <dgm:presLayoutVars>
          <dgm:chMax val="0"/>
          <dgm:chPref val="0"/>
        </dgm:presLayoutVars>
      </dgm:prSet>
      <dgm:spPr/>
    </dgm:pt>
    <dgm:pt modelId="{FD4E16B6-A5DD-462D-9609-24C87AC4094C}" type="pres">
      <dgm:prSet presAssocID="{083CC29E-2563-4A2A-9994-0482701976A8}" presName="sibTrans" presStyleCnt="0"/>
      <dgm:spPr/>
    </dgm:pt>
    <dgm:pt modelId="{830FE304-0F9A-416A-B00C-D77FE352E18E}" type="pres">
      <dgm:prSet presAssocID="{F0781E79-7143-4B97-8AD4-9DB3B93718C8}" presName="compNode" presStyleCnt="0"/>
      <dgm:spPr/>
    </dgm:pt>
    <dgm:pt modelId="{6B7E2F8D-68C4-46C0-AD56-82C30D26F260}" type="pres">
      <dgm:prSet presAssocID="{F0781E79-7143-4B97-8AD4-9DB3B93718C8}" presName="bgRect" presStyleLbl="bgShp" presStyleIdx="3" presStyleCnt="4"/>
      <dgm:spPr/>
    </dgm:pt>
    <dgm:pt modelId="{C2F58DC0-3A32-4D84-98E0-E7FEB9E22967}" type="pres">
      <dgm:prSet presAssocID="{F0781E79-7143-4B97-8AD4-9DB3B93718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ter"/>
        </a:ext>
      </dgm:extLst>
    </dgm:pt>
    <dgm:pt modelId="{E9C44D61-D404-4903-8553-40E7A21D5B14}" type="pres">
      <dgm:prSet presAssocID="{F0781E79-7143-4B97-8AD4-9DB3B93718C8}" presName="spaceRect" presStyleCnt="0"/>
      <dgm:spPr/>
    </dgm:pt>
    <dgm:pt modelId="{EE4C9660-D266-4111-841C-E67AB9BC7EBE}" type="pres">
      <dgm:prSet presAssocID="{F0781E79-7143-4B97-8AD4-9DB3B93718C8}" presName="parTx" presStyleLbl="revTx" presStyleIdx="3" presStyleCnt="4">
        <dgm:presLayoutVars>
          <dgm:chMax val="0"/>
          <dgm:chPref val="0"/>
        </dgm:presLayoutVars>
      </dgm:prSet>
      <dgm:spPr/>
    </dgm:pt>
  </dgm:ptLst>
  <dgm:cxnLst>
    <dgm:cxn modelId="{09B89406-55C0-4F63-A192-C25C3523DBA1}" srcId="{BA766AD9-7B1C-454D-98B7-C32A604A4C38}" destId="{F0781E79-7143-4B97-8AD4-9DB3B93718C8}" srcOrd="3" destOrd="0" parTransId="{4BB94FC5-38DE-4D24-8077-E5BE365AE6AE}" sibTransId="{3C1AF380-065A-48E5-ABB7-A74803CB800A}"/>
    <dgm:cxn modelId="{FD6A0118-161E-45EC-BCEA-7D1E3B43A5B0}" type="presOf" srcId="{D96E1D3E-722A-4480-961E-A803D3D64D11}" destId="{49F42E79-3416-4949-A660-A94F8BC590A6}" srcOrd="0" destOrd="0" presId="urn:microsoft.com/office/officeart/2018/2/layout/IconVerticalSolidList"/>
    <dgm:cxn modelId="{FB5C2E19-33ED-4E18-8BBB-E25D282CC64C}" type="presOf" srcId="{925CDAA0-BF83-469B-8A69-E4B69D6C048E}" destId="{533E74C6-4AB0-4DE6-AF75-C0E0DAB3724E}" srcOrd="0" destOrd="0" presId="urn:microsoft.com/office/officeart/2018/2/layout/IconVerticalSolidList"/>
    <dgm:cxn modelId="{40D7B95B-3983-4E76-9D8E-F9080BDFBD08}" srcId="{BA766AD9-7B1C-454D-98B7-C32A604A4C38}" destId="{F8918FF8-380B-4112-8940-211FBEC00842}" srcOrd="2" destOrd="0" parTransId="{A820235D-2216-44E8-BBCE-2874CAF62616}" sibTransId="{083CC29E-2563-4A2A-9994-0482701976A8}"/>
    <dgm:cxn modelId="{CFC4CB41-98DE-41DC-8AB5-BFF83C09519D}" type="presOf" srcId="{BA766AD9-7B1C-454D-98B7-C32A604A4C38}" destId="{D4C4E712-DA9E-4841-8F1C-AC2DC685F111}" srcOrd="0" destOrd="0" presId="urn:microsoft.com/office/officeart/2018/2/layout/IconVerticalSolidList"/>
    <dgm:cxn modelId="{0B5FF34E-860C-47B8-A922-4E34C3398745}" srcId="{BA766AD9-7B1C-454D-98B7-C32A604A4C38}" destId="{925CDAA0-BF83-469B-8A69-E4B69D6C048E}" srcOrd="0" destOrd="0" parTransId="{21112F0F-2F39-45F0-A0EB-6EA42C766188}" sibTransId="{94EAEA9F-D013-4362-B1A7-96583F09ECDE}"/>
    <dgm:cxn modelId="{DE8DAB51-3F1B-4DE8-861B-D2A937950D6F}" type="presOf" srcId="{F0781E79-7143-4B97-8AD4-9DB3B93718C8}" destId="{EE4C9660-D266-4111-841C-E67AB9BC7EBE}" srcOrd="0" destOrd="0" presId="urn:microsoft.com/office/officeart/2018/2/layout/IconVerticalSolidList"/>
    <dgm:cxn modelId="{2D7CD8AC-A4AF-4709-9D76-FDDBC73139CF}" type="presOf" srcId="{F8918FF8-380B-4112-8940-211FBEC00842}" destId="{6E6257AD-53D5-40EF-8BD1-6BFD96684C39}" srcOrd="0" destOrd="0" presId="urn:microsoft.com/office/officeart/2018/2/layout/IconVerticalSolidList"/>
    <dgm:cxn modelId="{476F0FE6-30E9-4BFD-B3C4-AB71DDD70430}" srcId="{BA766AD9-7B1C-454D-98B7-C32A604A4C38}" destId="{D96E1D3E-722A-4480-961E-A803D3D64D11}" srcOrd="1" destOrd="0" parTransId="{10AFD836-145B-4339-8E5B-42F881263612}" sibTransId="{BBE94C9D-753A-4C8C-83C9-3A072FD7746D}"/>
    <dgm:cxn modelId="{E4AE94D3-DA3A-45F1-9321-A5CB407E397E}" type="presParOf" srcId="{D4C4E712-DA9E-4841-8F1C-AC2DC685F111}" destId="{8CBF1354-90EA-4B1F-8262-1CBFBEAF1C29}" srcOrd="0" destOrd="0" presId="urn:microsoft.com/office/officeart/2018/2/layout/IconVerticalSolidList"/>
    <dgm:cxn modelId="{D47FC8BC-B2E7-4508-A649-0E0C0CA05E0F}" type="presParOf" srcId="{8CBF1354-90EA-4B1F-8262-1CBFBEAF1C29}" destId="{8D85899D-C1AC-49CD-A735-9D886F7E17E4}" srcOrd="0" destOrd="0" presId="urn:microsoft.com/office/officeart/2018/2/layout/IconVerticalSolidList"/>
    <dgm:cxn modelId="{B58C241E-49A8-4A3D-A4B3-176F54283024}" type="presParOf" srcId="{8CBF1354-90EA-4B1F-8262-1CBFBEAF1C29}" destId="{251BEF6A-0A5A-4212-BF8C-021CE7AB8413}" srcOrd="1" destOrd="0" presId="urn:microsoft.com/office/officeart/2018/2/layout/IconVerticalSolidList"/>
    <dgm:cxn modelId="{080C001E-E99E-4636-85E9-700C4F3EC4B4}" type="presParOf" srcId="{8CBF1354-90EA-4B1F-8262-1CBFBEAF1C29}" destId="{131D3422-5D3C-44B7-B397-307C1A3C62C0}" srcOrd="2" destOrd="0" presId="urn:microsoft.com/office/officeart/2018/2/layout/IconVerticalSolidList"/>
    <dgm:cxn modelId="{5C4339DB-A175-4A08-864F-AAB878EEECEB}" type="presParOf" srcId="{8CBF1354-90EA-4B1F-8262-1CBFBEAF1C29}" destId="{533E74C6-4AB0-4DE6-AF75-C0E0DAB3724E}" srcOrd="3" destOrd="0" presId="urn:microsoft.com/office/officeart/2018/2/layout/IconVerticalSolidList"/>
    <dgm:cxn modelId="{4691410E-A0FB-45C1-A7C1-0C15A7377E5C}" type="presParOf" srcId="{D4C4E712-DA9E-4841-8F1C-AC2DC685F111}" destId="{C7B6B43A-4C24-413A-B5FD-6335CFCC5ACE}" srcOrd="1" destOrd="0" presId="urn:microsoft.com/office/officeart/2018/2/layout/IconVerticalSolidList"/>
    <dgm:cxn modelId="{4D69760D-43D6-4E26-BD06-7D11F5EA735B}" type="presParOf" srcId="{D4C4E712-DA9E-4841-8F1C-AC2DC685F111}" destId="{7D92CF96-4681-4D1A-8694-98DC920F3F79}" srcOrd="2" destOrd="0" presId="urn:microsoft.com/office/officeart/2018/2/layout/IconVerticalSolidList"/>
    <dgm:cxn modelId="{D67C9A29-0A8A-4F77-80C4-2DD37D8920C8}" type="presParOf" srcId="{7D92CF96-4681-4D1A-8694-98DC920F3F79}" destId="{DD6BFF02-4ADF-45D9-8135-8B9A83D42A42}" srcOrd="0" destOrd="0" presId="urn:microsoft.com/office/officeart/2018/2/layout/IconVerticalSolidList"/>
    <dgm:cxn modelId="{DAB6BA0A-A2C4-43AD-9780-690B21E0F7A3}" type="presParOf" srcId="{7D92CF96-4681-4D1A-8694-98DC920F3F79}" destId="{8D45CA7E-B85A-4D9C-AB22-940671DDDAF4}" srcOrd="1" destOrd="0" presId="urn:microsoft.com/office/officeart/2018/2/layout/IconVerticalSolidList"/>
    <dgm:cxn modelId="{BF61C842-8156-49E6-91C6-2482F3100E5C}" type="presParOf" srcId="{7D92CF96-4681-4D1A-8694-98DC920F3F79}" destId="{82E5C25D-34CA-43F2-A0BD-034F49A9F4F1}" srcOrd="2" destOrd="0" presId="urn:microsoft.com/office/officeart/2018/2/layout/IconVerticalSolidList"/>
    <dgm:cxn modelId="{1CF15712-F7FE-46CA-9F36-0FF09CED4C2D}" type="presParOf" srcId="{7D92CF96-4681-4D1A-8694-98DC920F3F79}" destId="{49F42E79-3416-4949-A660-A94F8BC590A6}" srcOrd="3" destOrd="0" presId="urn:microsoft.com/office/officeart/2018/2/layout/IconVerticalSolidList"/>
    <dgm:cxn modelId="{6F9995D3-BCC1-4CBD-BB4D-0D4CD6F6C8B2}" type="presParOf" srcId="{D4C4E712-DA9E-4841-8F1C-AC2DC685F111}" destId="{FB1DC618-86B8-46E5-A403-FDABC13505FF}" srcOrd="3" destOrd="0" presId="urn:microsoft.com/office/officeart/2018/2/layout/IconVerticalSolidList"/>
    <dgm:cxn modelId="{980E5E20-E100-44B3-B763-8C36BA0EA5E9}" type="presParOf" srcId="{D4C4E712-DA9E-4841-8F1C-AC2DC685F111}" destId="{00D8F630-8CD7-4E35-8A20-EA4B4BC73B78}" srcOrd="4" destOrd="0" presId="urn:microsoft.com/office/officeart/2018/2/layout/IconVerticalSolidList"/>
    <dgm:cxn modelId="{759FE7EE-6130-4F65-9F6E-6E39B44E5BB0}" type="presParOf" srcId="{00D8F630-8CD7-4E35-8A20-EA4B4BC73B78}" destId="{8145116A-C661-43D7-B402-1B5210B92384}" srcOrd="0" destOrd="0" presId="urn:microsoft.com/office/officeart/2018/2/layout/IconVerticalSolidList"/>
    <dgm:cxn modelId="{72D4431A-E898-47A8-8F54-6C5E964910E7}" type="presParOf" srcId="{00D8F630-8CD7-4E35-8A20-EA4B4BC73B78}" destId="{A4F12C1E-FE22-4A98-84B3-AF040975A9DC}" srcOrd="1" destOrd="0" presId="urn:microsoft.com/office/officeart/2018/2/layout/IconVerticalSolidList"/>
    <dgm:cxn modelId="{3B92C0D6-D7FA-4EC7-8AE9-1310EC6E9C2C}" type="presParOf" srcId="{00D8F630-8CD7-4E35-8A20-EA4B4BC73B78}" destId="{70B82405-AA6D-45AE-A9B7-28E8698CBF26}" srcOrd="2" destOrd="0" presId="urn:microsoft.com/office/officeart/2018/2/layout/IconVerticalSolidList"/>
    <dgm:cxn modelId="{11E1B1F5-BD8D-45DD-9BD4-1F48C09BFDA1}" type="presParOf" srcId="{00D8F630-8CD7-4E35-8A20-EA4B4BC73B78}" destId="{6E6257AD-53D5-40EF-8BD1-6BFD96684C39}" srcOrd="3" destOrd="0" presId="urn:microsoft.com/office/officeart/2018/2/layout/IconVerticalSolidList"/>
    <dgm:cxn modelId="{4E6805D6-C295-4BE0-AC4F-5966E7054999}" type="presParOf" srcId="{D4C4E712-DA9E-4841-8F1C-AC2DC685F111}" destId="{FD4E16B6-A5DD-462D-9609-24C87AC4094C}" srcOrd="5" destOrd="0" presId="urn:microsoft.com/office/officeart/2018/2/layout/IconVerticalSolidList"/>
    <dgm:cxn modelId="{D3E4C263-ADB1-4CDA-B866-C6266590F699}" type="presParOf" srcId="{D4C4E712-DA9E-4841-8F1C-AC2DC685F111}" destId="{830FE304-0F9A-416A-B00C-D77FE352E18E}" srcOrd="6" destOrd="0" presId="urn:microsoft.com/office/officeart/2018/2/layout/IconVerticalSolidList"/>
    <dgm:cxn modelId="{CB309333-6AE6-4B16-816E-736C53CDDE30}" type="presParOf" srcId="{830FE304-0F9A-416A-B00C-D77FE352E18E}" destId="{6B7E2F8D-68C4-46C0-AD56-82C30D26F260}" srcOrd="0" destOrd="0" presId="urn:microsoft.com/office/officeart/2018/2/layout/IconVerticalSolidList"/>
    <dgm:cxn modelId="{DE3437C4-4F8B-47E5-AD85-2BDB3A006AAC}" type="presParOf" srcId="{830FE304-0F9A-416A-B00C-D77FE352E18E}" destId="{C2F58DC0-3A32-4D84-98E0-E7FEB9E22967}" srcOrd="1" destOrd="0" presId="urn:microsoft.com/office/officeart/2018/2/layout/IconVerticalSolidList"/>
    <dgm:cxn modelId="{D0CAF19A-1D65-4871-AE96-76582634106B}" type="presParOf" srcId="{830FE304-0F9A-416A-B00C-D77FE352E18E}" destId="{E9C44D61-D404-4903-8553-40E7A21D5B14}" srcOrd="2" destOrd="0" presId="urn:microsoft.com/office/officeart/2018/2/layout/IconVerticalSolidList"/>
    <dgm:cxn modelId="{FC5CB9D3-52D6-4833-AC5C-A02BAA8D96E5}" type="presParOf" srcId="{830FE304-0F9A-416A-B00C-D77FE352E18E}" destId="{EE4C9660-D266-4111-841C-E67AB9BC7EB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C242B4-8145-4E90-89C8-43A487B104B8}" type="doc">
      <dgm:prSet loTypeId="urn:microsoft.com/office/officeart/2016/7/layout/ChevronBlockProcess" loCatId="process" qsTypeId="urn:microsoft.com/office/officeart/2005/8/quickstyle/simple4" qsCatId="simple" csTypeId="urn:microsoft.com/office/officeart/2005/8/colors/accent2_2" csCatId="accent2"/>
      <dgm:spPr/>
      <dgm:t>
        <a:bodyPr/>
        <a:lstStyle/>
        <a:p>
          <a:endParaRPr lang="en-US"/>
        </a:p>
      </dgm:t>
    </dgm:pt>
    <dgm:pt modelId="{AA22DECE-F4F0-41C9-A12B-9F4F54C9D781}">
      <dgm:prSet/>
      <dgm:spPr/>
      <dgm:t>
        <a:bodyPr/>
        <a:lstStyle/>
        <a:p>
          <a:r>
            <a:rPr lang="en-US"/>
            <a:t>Phase 1</a:t>
          </a:r>
        </a:p>
      </dgm:t>
    </dgm:pt>
    <dgm:pt modelId="{CF64AFE2-B71B-4ED0-B8AE-828AD12588EE}" type="parTrans" cxnId="{182224AF-EE90-482E-9B68-BB38CA7B5D8D}">
      <dgm:prSet/>
      <dgm:spPr/>
      <dgm:t>
        <a:bodyPr/>
        <a:lstStyle/>
        <a:p>
          <a:endParaRPr lang="en-US"/>
        </a:p>
      </dgm:t>
    </dgm:pt>
    <dgm:pt modelId="{5F31B106-7180-44AA-9846-4351827F3F04}" type="sibTrans" cxnId="{182224AF-EE90-482E-9B68-BB38CA7B5D8D}">
      <dgm:prSet/>
      <dgm:spPr/>
      <dgm:t>
        <a:bodyPr/>
        <a:lstStyle/>
        <a:p>
          <a:endParaRPr lang="en-US"/>
        </a:p>
      </dgm:t>
    </dgm:pt>
    <dgm:pt modelId="{A595B24A-5447-4E1A-B22F-E01A734B324A}">
      <dgm:prSet/>
      <dgm:spPr/>
      <dgm:t>
        <a:bodyPr/>
        <a:lstStyle/>
        <a:p>
          <a:r>
            <a:rPr lang="en-US"/>
            <a:t>Assessment (2-4 weeks)</a:t>
          </a:r>
        </a:p>
      </dgm:t>
    </dgm:pt>
    <dgm:pt modelId="{B5B67DC0-B495-4295-B453-EF8EBB51344B}" type="parTrans" cxnId="{2E213E07-A5FF-48E6-88B2-5D385E880792}">
      <dgm:prSet/>
      <dgm:spPr/>
      <dgm:t>
        <a:bodyPr/>
        <a:lstStyle/>
        <a:p>
          <a:endParaRPr lang="en-US"/>
        </a:p>
      </dgm:t>
    </dgm:pt>
    <dgm:pt modelId="{82E98943-BFC8-479E-82E7-D68C9FE1D36A}" type="sibTrans" cxnId="{2E213E07-A5FF-48E6-88B2-5D385E880792}">
      <dgm:prSet/>
      <dgm:spPr/>
      <dgm:t>
        <a:bodyPr/>
        <a:lstStyle/>
        <a:p>
          <a:endParaRPr lang="en-US"/>
        </a:p>
      </dgm:t>
    </dgm:pt>
    <dgm:pt modelId="{2F5F30AD-3355-4AC8-BD14-30B6D837B1CD}">
      <dgm:prSet/>
      <dgm:spPr/>
      <dgm:t>
        <a:bodyPr/>
        <a:lstStyle/>
        <a:p>
          <a:r>
            <a:rPr lang="en-US"/>
            <a:t>Phase 2</a:t>
          </a:r>
        </a:p>
      </dgm:t>
    </dgm:pt>
    <dgm:pt modelId="{05DA46E4-8EB3-4FE6-B2FB-A237C20AF865}" type="parTrans" cxnId="{959C24A2-4992-4D16-BA62-1B3BFCA65E29}">
      <dgm:prSet/>
      <dgm:spPr/>
      <dgm:t>
        <a:bodyPr/>
        <a:lstStyle/>
        <a:p>
          <a:endParaRPr lang="en-US"/>
        </a:p>
      </dgm:t>
    </dgm:pt>
    <dgm:pt modelId="{DC79077A-D28C-4218-93DA-9FE78D7B17B6}" type="sibTrans" cxnId="{959C24A2-4992-4D16-BA62-1B3BFCA65E29}">
      <dgm:prSet/>
      <dgm:spPr/>
      <dgm:t>
        <a:bodyPr/>
        <a:lstStyle/>
        <a:p>
          <a:endParaRPr lang="en-US"/>
        </a:p>
      </dgm:t>
    </dgm:pt>
    <dgm:pt modelId="{DDF7B6E7-AE59-42DE-8EDE-5B11F00DACFA}">
      <dgm:prSet/>
      <dgm:spPr/>
      <dgm:t>
        <a:bodyPr/>
        <a:lstStyle/>
        <a:p>
          <a:r>
            <a:rPr lang="en-US"/>
            <a:t>Platform deployment (4-6 weeks)</a:t>
          </a:r>
        </a:p>
      </dgm:t>
    </dgm:pt>
    <dgm:pt modelId="{17FF2BA4-FC0C-47CE-A27F-72A352F308FA}" type="parTrans" cxnId="{6799B84A-B26A-4614-B1FC-EB25BAD7B6D8}">
      <dgm:prSet/>
      <dgm:spPr/>
      <dgm:t>
        <a:bodyPr/>
        <a:lstStyle/>
        <a:p>
          <a:endParaRPr lang="en-US"/>
        </a:p>
      </dgm:t>
    </dgm:pt>
    <dgm:pt modelId="{794C654E-E0F1-40A3-9738-9D85A2FD26A5}" type="sibTrans" cxnId="{6799B84A-B26A-4614-B1FC-EB25BAD7B6D8}">
      <dgm:prSet/>
      <dgm:spPr/>
      <dgm:t>
        <a:bodyPr/>
        <a:lstStyle/>
        <a:p>
          <a:endParaRPr lang="en-US"/>
        </a:p>
      </dgm:t>
    </dgm:pt>
    <dgm:pt modelId="{76D45BBA-3D43-46A3-86CC-FA345CDB7C2B}">
      <dgm:prSet/>
      <dgm:spPr/>
      <dgm:t>
        <a:bodyPr/>
        <a:lstStyle/>
        <a:p>
          <a:r>
            <a:rPr lang="en-US"/>
            <a:t>Phase 3</a:t>
          </a:r>
        </a:p>
      </dgm:t>
    </dgm:pt>
    <dgm:pt modelId="{11015090-9762-4D91-948D-F7813EF18BF9}" type="parTrans" cxnId="{3FC671BD-D6EE-4386-B812-E05597E4AD05}">
      <dgm:prSet/>
      <dgm:spPr/>
      <dgm:t>
        <a:bodyPr/>
        <a:lstStyle/>
        <a:p>
          <a:endParaRPr lang="en-US"/>
        </a:p>
      </dgm:t>
    </dgm:pt>
    <dgm:pt modelId="{5D7709B2-0E48-4C2B-9CED-02FB5B4DB7BD}" type="sibTrans" cxnId="{3FC671BD-D6EE-4386-B812-E05597E4AD05}">
      <dgm:prSet/>
      <dgm:spPr/>
      <dgm:t>
        <a:bodyPr/>
        <a:lstStyle/>
        <a:p>
          <a:endParaRPr lang="en-US"/>
        </a:p>
      </dgm:t>
    </dgm:pt>
    <dgm:pt modelId="{2E6FF799-50E6-49A0-9817-2B190ADA89C2}">
      <dgm:prSet/>
      <dgm:spPr/>
      <dgm:t>
        <a:bodyPr/>
        <a:lstStyle/>
        <a:p>
          <a:r>
            <a:rPr lang="en-US"/>
            <a:t>Pilot migration (4-6 weeks)</a:t>
          </a:r>
        </a:p>
      </dgm:t>
    </dgm:pt>
    <dgm:pt modelId="{F7F6524C-D2C5-4920-AC77-1993DA5013F1}" type="parTrans" cxnId="{0666B998-0992-4107-8154-AFEF1174D27F}">
      <dgm:prSet/>
      <dgm:spPr/>
      <dgm:t>
        <a:bodyPr/>
        <a:lstStyle/>
        <a:p>
          <a:endParaRPr lang="en-US"/>
        </a:p>
      </dgm:t>
    </dgm:pt>
    <dgm:pt modelId="{16FC9F94-BAF0-45F7-B941-1B13089885D2}" type="sibTrans" cxnId="{0666B998-0992-4107-8154-AFEF1174D27F}">
      <dgm:prSet/>
      <dgm:spPr/>
      <dgm:t>
        <a:bodyPr/>
        <a:lstStyle/>
        <a:p>
          <a:endParaRPr lang="en-US"/>
        </a:p>
      </dgm:t>
    </dgm:pt>
    <dgm:pt modelId="{4E84278F-2EF7-49F1-AC47-188DEC12A2B5}">
      <dgm:prSet/>
      <dgm:spPr/>
      <dgm:t>
        <a:bodyPr/>
        <a:lstStyle/>
        <a:p>
          <a:r>
            <a:rPr lang="en-US"/>
            <a:t>Phase 4</a:t>
          </a:r>
        </a:p>
      </dgm:t>
    </dgm:pt>
    <dgm:pt modelId="{703DB38C-3B17-418C-AEEF-07B210AD1490}" type="parTrans" cxnId="{8E138579-B242-4D85-BE85-AAF64EA8A641}">
      <dgm:prSet/>
      <dgm:spPr/>
      <dgm:t>
        <a:bodyPr/>
        <a:lstStyle/>
        <a:p>
          <a:endParaRPr lang="en-US"/>
        </a:p>
      </dgm:t>
    </dgm:pt>
    <dgm:pt modelId="{B3642584-115C-418C-897E-AE9ED1B90270}" type="sibTrans" cxnId="{8E138579-B242-4D85-BE85-AAF64EA8A641}">
      <dgm:prSet/>
      <dgm:spPr/>
      <dgm:t>
        <a:bodyPr/>
        <a:lstStyle/>
        <a:p>
          <a:endParaRPr lang="en-US"/>
        </a:p>
      </dgm:t>
    </dgm:pt>
    <dgm:pt modelId="{C6D95BDE-396A-446D-A958-8330B03DE4CE}">
      <dgm:prSet/>
      <dgm:spPr/>
      <dgm:t>
        <a:bodyPr/>
        <a:lstStyle/>
        <a:p>
          <a:r>
            <a:rPr lang="en-US"/>
            <a:t>Bulk migration (8-12 weeks)</a:t>
          </a:r>
        </a:p>
      </dgm:t>
    </dgm:pt>
    <dgm:pt modelId="{7F3558E4-FC8C-4AD2-AC60-3FB79324EFEA}" type="parTrans" cxnId="{68E6DCBC-686C-40A8-B7EC-CA68EABCE1C5}">
      <dgm:prSet/>
      <dgm:spPr/>
      <dgm:t>
        <a:bodyPr/>
        <a:lstStyle/>
        <a:p>
          <a:endParaRPr lang="en-US"/>
        </a:p>
      </dgm:t>
    </dgm:pt>
    <dgm:pt modelId="{A936BE24-504E-4963-864F-98F1F2D588A3}" type="sibTrans" cxnId="{68E6DCBC-686C-40A8-B7EC-CA68EABCE1C5}">
      <dgm:prSet/>
      <dgm:spPr/>
      <dgm:t>
        <a:bodyPr/>
        <a:lstStyle/>
        <a:p>
          <a:endParaRPr lang="en-US"/>
        </a:p>
      </dgm:t>
    </dgm:pt>
    <dgm:pt modelId="{3CBB6B77-0C3A-4DF5-BE80-1A260355824E}" type="pres">
      <dgm:prSet presAssocID="{06C242B4-8145-4E90-89C8-43A487B104B8}" presName="Name0" presStyleCnt="0">
        <dgm:presLayoutVars>
          <dgm:dir/>
          <dgm:animLvl val="lvl"/>
          <dgm:resizeHandles val="exact"/>
        </dgm:presLayoutVars>
      </dgm:prSet>
      <dgm:spPr/>
    </dgm:pt>
    <dgm:pt modelId="{963DF47F-146F-4C78-948B-1D524520F932}" type="pres">
      <dgm:prSet presAssocID="{AA22DECE-F4F0-41C9-A12B-9F4F54C9D781}" presName="composite" presStyleCnt="0"/>
      <dgm:spPr/>
    </dgm:pt>
    <dgm:pt modelId="{BB77EA3C-3F91-4875-BE3A-6CA9B3496233}" type="pres">
      <dgm:prSet presAssocID="{AA22DECE-F4F0-41C9-A12B-9F4F54C9D781}" presName="parTx" presStyleLbl="alignNode1" presStyleIdx="0" presStyleCnt="4">
        <dgm:presLayoutVars>
          <dgm:chMax val="0"/>
          <dgm:chPref val="0"/>
        </dgm:presLayoutVars>
      </dgm:prSet>
      <dgm:spPr/>
    </dgm:pt>
    <dgm:pt modelId="{BE049934-690D-4672-8834-4B21D7415D11}" type="pres">
      <dgm:prSet presAssocID="{AA22DECE-F4F0-41C9-A12B-9F4F54C9D781}" presName="desTx" presStyleLbl="alignAccFollowNode1" presStyleIdx="0" presStyleCnt="4">
        <dgm:presLayoutVars/>
      </dgm:prSet>
      <dgm:spPr/>
    </dgm:pt>
    <dgm:pt modelId="{53D9D971-F1A5-4C45-9717-4939793D7010}" type="pres">
      <dgm:prSet presAssocID="{5F31B106-7180-44AA-9846-4351827F3F04}" presName="space" presStyleCnt="0"/>
      <dgm:spPr/>
    </dgm:pt>
    <dgm:pt modelId="{42AF447A-1F07-457B-B857-685530479DAE}" type="pres">
      <dgm:prSet presAssocID="{2F5F30AD-3355-4AC8-BD14-30B6D837B1CD}" presName="composite" presStyleCnt="0"/>
      <dgm:spPr/>
    </dgm:pt>
    <dgm:pt modelId="{266593CA-0D7E-4379-8657-BF748F70C887}" type="pres">
      <dgm:prSet presAssocID="{2F5F30AD-3355-4AC8-BD14-30B6D837B1CD}" presName="parTx" presStyleLbl="alignNode1" presStyleIdx="1" presStyleCnt="4">
        <dgm:presLayoutVars>
          <dgm:chMax val="0"/>
          <dgm:chPref val="0"/>
        </dgm:presLayoutVars>
      </dgm:prSet>
      <dgm:spPr/>
    </dgm:pt>
    <dgm:pt modelId="{FE73C870-7D77-4548-8490-D86EF4482EE2}" type="pres">
      <dgm:prSet presAssocID="{2F5F30AD-3355-4AC8-BD14-30B6D837B1CD}" presName="desTx" presStyleLbl="alignAccFollowNode1" presStyleIdx="1" presStyleCnt="4">
        <dgm:presLayoutVars/>
      </dgm:prSet>
      <dgm:spPr/>
    </dgm:pt>
    <dgm:pt modelId="{F21A482D-AD51-4B0F-AD4E-9EE689BE1146}" type="pres">
      <dgm:prSet presAssocID="{DC79077A-D28C-4218-93DA-9FE78D7B17B6}" presName="space" presStyleCnt="0"/>
      <dgm:spPr/>
    </dgm:pt>
    <dgm:pt modelId="{4FDEDD16-39B2-432F-AB56-2F0D5379C9C0}" type="pres">
      <dgm:prSet presAssocID="{76D45BBA-3D43-46A3-86CC-FA345CDB7C2B}" presName="composite" presStyleCnt="0"/>
      <dgm:spPr/>
    </dgm:pt>
    <dgm:pt modelId="{59C86240-2322-41D5-9B2C-F1D1BB6A7046}" type="pres">
      <dgm:prSet presAssocID="{76D45BBA-3D43-46A3-86CC-FA345CDB7C2B}" presName="parTx" presStyleLbl="alignNode1" presStyleIdx="2" presStyleCnt="4">
        <dgm:presLayoutVars>
          <dgm:chMax val="0"/>
          <dgm:chPref val="0"/>
        </dgm:presLayoutVars>
      </dgm:prSet>
      <dgm:spPr/>
    </dgm:pt>
    <dgm:pt modelId="{02EE6DB2-02F6-44DA-8B8F-D21743F9C730}" type="pres">
      <dgm:prSet presAssocID="{76D45BBA-3D43-46A3-86CC-FA345CDB7C2B}" presName="desTx" presStyleLbl="alignAccFollowNode1" presStyleIdx="2" presStyleCnt="4">
        <dgm:presLayoutVars/>
      </dgm:prSet>
      <dgm:spPr/>
    </dgm:pt>
    <dgm:pt modelId="{342A2E00-DBBF-4D4A-9ABA-3162558EE2FD}" type="pres">
      <dgm:prSet presAssocID="{5D7709B2-0E48-4C2B-9CED-02FB5B4DB7BD}" presName="space" presStyleCnt="0"/>
      <dgm:spPr/>
    </dgm:pt>
    <dgm:pt modelId="{10EF3A2A-37AD-4512-81D3-BA42C577B880}" type="pres">
      <dgm:prSet presAssocID="{4E84278F-2EF7-49F1-AC47-188DEC12A2B5}" presName="composite" presStyleCnt="0"/>
      <dgm:spPr/>
    </dgm:pt>
    <dgm:pt modelId="{65A8F1FB-3C52-4773-9864-913DCC857B44}" type="pres">
      <dgm:prSet presAssocID="{4E84278F-2EF7-49F1-AC47-188DEC12A2B5}" presName="parTx" presStyleLbl="alignNode1" presStyleIdx="3" presStyleCnt="4">
        <dgm:presLayoutVars>
          <dgm:chMax val="0"/>
          <dgm:chPref val="0"/>
        </dgm:presLayoutVars>
      </dgm:prSet>
      <dgm:spPr/>
    </dgm:pt>
    <dgm:pt modelId="{388310EE-1183-4872-8144-4FF0AAD504A7}" type="pres">
      <dgm:prSet presAssocID="{4E84278F-2EF7-49F1-AC47-188DEC12A2B5}" presName="desTx" presStyleLbl="alignAccFollowNode1" presStyleIdx="3" presStyleCnt="4">
        <dgm:presLayoutVars/>
      </dgm:prSet>
      <dgm:spPr/>
    </dgm:pt>
  </dgm:ptLst>
  <dgm:cxnLst>
    <dgm:cxn modelId="{2E213E07-A5FF-48E6-88B2-5D385E880792}" srcId="{AA22DECE-F4F0-41C9-A12B-9F4F54C9D781}" destId="{A595B24A-5447-4E1A-B22F-E01A734B324A}" srcOrd="0" destOrd="0" parTransId="{B5B67DC0-B495-4295-B453-EF8EBB51344B}" sibTransId="{82E98943-BFC8-479E-82E7-D68C9FE1D36A}"/>
    <dgm:cxn modelId="{4FD6A90E-67DE-4368-89F3-544866511802}" type="presOf" srcId="{2E6FF799-50E6-49A0-9817-2B190ADA89C2}" destId="{02EE6DB2-02F6-44DA-8B8F-D21743F9C730}" srcOrd="0" destOrd="0" presId="urn:microsoft.com/office/officeart/2016/7/layout/ChevronBlockProcess"/>
    <dgm:cxn modelId="{22AE4A21-7D69-4D39-9F7C-105E99607DF7}" type="presOf" srcId="{C6D95BDE-396A-446D-A958-8330B03DE4CE}" destId="{388310EE-1183-4872-8144-4FF0AAD504A7}" srcOrd="0" destOrd="0" presId="urn:microsoft.com/office/officeart/2016/7/layout/ChevronBlockProcess"/>
    <dgm:cxn modelId="{91CE6229-1A9E-4124-988A-36A8030A857E}" type="presOf" srcId="{4E84278F-2EF7-49F1-AC47-188DEC12A2B5}" destId="{65A8F1FB-3C52-4773-9864-913DCC857B44}" srcOrd="0" destOrd="0" presId="urn:microsoft.com/office/officeart/2016/7/layout/ChevronBlockProcess"/>
    <dgm:cxn modelId="{6799B84A-B26A-4614-B1FC-EB25BAD7B6D8}" srcId="{2F5F30AD-3355-4AC8-BD14-30B6D837B1CD}" destId="{DDF7B6E7-AE59-42DE-8EDE-5B11F00DACFA}" srcOrd="0" destOrd="0" parTransId="{17FF2BA4-FC0C-47CE-A27F-72A352F308FA}" sibTransId="{794C654E-E0F1-40A3-9738-9D85A2FD26A5}"/>
    <dgm:cxn modelId="{9ED79078-5842-408A-808F-1CA9C3CDF431}" type="presOf" srcId="{DDF7B6E7-AE59-42DE-8EDE-5B11F00DACFA}" destId="{FE73C870-7D77-4548-8490-D86EF4482EE2}" srcOrd="0" destOrd="0" presId="urn:microsoft.com/office/officeart/2016/7/layout/ChevronBlockProcess"/>
    <dgm:cxn modelId="{8E138579-B242-4D85-BE85-AAF64EA8A641}" srcId="{06C242B4-8145-4E90-89C8-43A487B104B8}" destId="{4E84278F-2EF7-49F1-AC47-188DEC12A2B5}" srcOrd="3" destOrd="0" parTransId="{703DB38C-3B17-418C-AEEF-07B210AD1490}" sibTransId="{B3642584-115C-418C-897E-AE9ED1B90270}"/>
    <dgm:cxn modelId="{0666B998-0992-4107-8154-AFEF1174D27F}" srcId="{76D45BBA-3D43-46A3-86CC-FA345CDB7C2B}" destId="{2E6FF799-50E6-49A0-9817-2B190ADA89C2}" srcOrd="0" destOrd="0" parTransId="{F7F6524C-D2C5-4920-AC77-1993DA5013F1}" sibTransId="{16FC9F94-BAF0-45F7-B941-1B13089885D2}"/>
    <dgm:cxn modelId="{93F4F99D-11A9-4A57-96C5-AC306D376BA5}" type="presOf" srcId="{76D45BBA-3D43-46A3-86CC-FA345CDB7C2B}" destId="{59C86240-2322-41D5-9B2C-F1D1BB6A7046}" srcOrd="0" destOrd="0" presId="urn:microsoft.com/office/officeart/2016/7/layout/ChevronBlockProcess"/>
    <dgm:cxn modelId="{B728F69F-A11F-4C5D-A219-AB45C4609B4B}" type="presOf" srcId="{AA22DECE-F4F0-41C9-A12B-9F4F54C9D781}" destId="{BB77EA3C-3F91-4875-BE3A-6CA9B3496233}" srcOrd="0" destOrd="0" presId="urn:microsoft.com/office/officeart/2016/7/layout/ChevronBlockProcess"/>
    <dgm:cxn modelId="{959C24A2-4992-4D16-BA62-1B3BFCA65E29}" srcId="{06C242B4-8145-4E90-89C8-43A487B104B8}" destId="{2F5F30AD-3355-4AC8-BD14-30B6D837B1CD}" srcOrd="1" destOrd="0" parTransId="{05DA46E4-8EB3-4FE6-B2FB-A237C20AF865}" sibTransId="{DC79077A-D28C-4218-93DA-9FE78D7B17B6}"/>
    <dgm:cxn modelId="{182224AF-EE90-482E-9B68-BB38CA7B5D8D}" srcId="{06C242B4-8145-4E90-89C8-43A487B104B8}" destId="{AA22DECE-F4F0-41C9-A12B-9F4F54C9D781}" srcOrd="0" destOrd="0" parTransId="{CF64AFE2-B71B-4ED0-B8AE-828AD12588EE}" sibTransId="{5F31B106-7180-44AA-9846-4351827F3F04}"/>
    <dgm:cxn modelId="{9C2A5BB7-DC9E-46DD-B869-408AE3CAFC3C}" type="presOf" srcId="{2F5F30AD-3355-4AC8-BD14-30B6D837B1CD}" destId="{266593CA-0D7E-4379-8657-BF748F70C887}" srcOrd="0" destOrd="0" presId="urn:microsoft.com/office/officeart/2016/7/layout/ChevronBlockProcess"/>
    <dgm:cxn modelId="{68E6DCBC-686C-40A8-B7EC-CA68EABCE1C5}" srcId="{4E84278F-2EF7-49F1-AC47-188DEC12A2B5}" destId="{C6D95BDE-396A-446D-A958-8330B03DE4CE}" srcOrd="0" destOrd="0" parTransId="{7F3558E4-FC8C-4AD2-AC60-3FB79324EFEA}" sibTransId="{A936BE24-504E-4963-864F-98F1F2D588A3}"/>
    <dgm:cxn modelId="{3FC671BD-D6EE-4386-B812-E05597E4AD05}" srcId="{06C242B4-8145-4E90-89C8-43A487B104B8}" destId="{76D45BBA-3D43-46A3-86CC-FA345CDB7C2B}" srcOrd="2" destOrd="0" parTransId="{11015090-9762-4D91-948D-F7813EF18BF9}" sibTransId="{5D7709B2-0E48-4C2B-9CED-02FB5B4DB7BD}"/>
    <dgm:cxn modelId="{77A436E0-4FDF-48FB-9CBB-8CA828800166}" type="presOf" srcId="{06C242B4-8145-4E90-89C8-43A487B104B8}" destId="{3CBB6B77-0C3A-4DF5-BE80-1A260355824E}" srcOrd="0" destOrd="0" presId="urn:microsoft.com/office/officeart/2016/7/layout/ChevronBlockProcess"/>
    <dgm:cxn modelId="{629E7EFF-C764-4058-BA36-30DC281D59B0}" type="presOf" srcId="{A595B24A-5447-4E1A-B22F-E01A734B324A}" destId="{BE049934-690D-4672-8834-4B21D7415D11}" srcOrd="0" destOrd="0" presId="urn:microsoft.com/office/officeart/2016/7/layout/ChevronBlockProcess"/>
    <dgm:cxn modelId="{3EA0A4DD-1C43-4D01-B248-22C82B637033}" type="presParOf" srcId="{3CBB6B77-0C3A-4DF5-BE80-1A260355824E}" destId="{963DF47F-146F-4C78-948B-1D524520F932}" srcOrd="0" destOrd="0" presId="urn:microsoft.com/office/officeart/2016/7/layout/ChevronBlockProcess"/>
    <dgm:cxn modelId="{18BFCA94-75ED-4B99-B26D-B276BA412AA1}" type="presParOf" srcId="{963DF47F-146F-4C78-948B-1D524520F932}" destId="{BB77EA3C-3F91-4875-BE3A-6CA9B3496233}" srcOrd="0" destOrd="0" presId="urn:microsoft.com/office/officeart/2016/7/layout/ChevronBlockProcess"/>
    <dgm:cxn modelId="{01F4340B-E680-4406-865A-BF0ED0B45A85}" type="presParOf" srcId="{963DF47F-146F-4C78-948B-1D524520F932}" destId="{BE049934-690D-4672-8834-4B21D7415D11}" srcOrd="1" destOrd="0" presId="urn:microsoft.com/office/officeart/2016/7/layout/ChevronBlockProcess"/>
    <dgm:cxn modelId="{7DD98214-416F-4F1B-98F5-6EBB6BA744F6}" type="presParOf" srcId="{3CBB6B77-0C3A-4DF5-BE80-1A260355824E}" destId="{53D9D971-F1A5-4C45-9717-4939793D7010}" srcOrd="1" destOrd="0" presId="urn:microsoft.com/office/officeart/2016/7/layout/ChevronBlockProcess"/>
    <dgm:cxn modelId="{F8632D33-7B7A-439D-8DBB-4415168A8138}" type="presParOf" srcId="{3CBB6B77-0C3A-4DF5-BE80-1A260355824E}" destId="{42AF447A-1F07-457B-B857-685530479DAE}" srcOrd="2" destOrd="0" presId="urn:microsoft.com/office/officeart/2016/7/layout/ChevronBlockProcess"/>
    <dgm:cxn modelId="{818D538F-EC01-4E63-B7E4-B9E3CF92EC74}" type="presParOf" srcId="{42AF447A-1F07-457B-B857-685530479DAE}" destId="{266593CA-0D7E-4379-8657-BF748F70C887}" srcOrd="0" destOrd="0" presId="urn:microsoft.com/office/officeart/2016/7/layout/ChevronBlockProcess"/>
    <dgm:cxn modelId="{96D35A13-756A-401C-8B71-C609FD5A9D26}" type="presParOf" srcId="{42AF447A-1F07-457B-B857-685530479DAE}" destId="{FE73C870-7D77-4548-8490-D86EF4482EE2}" srcOrd="1" destOrd="0" presId="urn:microsoft.com/office/officeart/2016/7/layout/ChevronBlockProcess"/>
    <dgm:cxn modelId="{53179F35-8CB8-48DB-A3A4-17667DD0FD4E}" type="presParOf" srcId="{3CBB6B77-0C3A-4DF5-BE80-1A260355824E}" destId="{F21A482D-AD51-4B0F-AD4E-9EE689BE1146}" srcOrd="3" destOrd="0" presId="urn:microsoft.com/office/officeart/2016/7/layout/ChevronBlockProcess"/>
    <dgm:cxn modelId="{9C108FFE-19EB-41BD-BF1F-7226D75AE695}" type="presParOf" srcId="{3CBB6B77-0C3A-4DF5-BE80-1A260355824E}" destId="{4FDEDD16-39B2-432F-AB56-2F0D5379C9C0}" srcOrd="4" destOrd="0" presId="urn:microsoft.com/office/officeart/2016/7/layout/ChevronBlockProcess"/>
    <dgm:cxn modelId="{73D50AB1-2F6E-407E-9741-9E9E88BB1036}" type="presParOf" srcId="{4FDEDD16-39B2-432F-AB56-2F0D5379C9C0}" destId="{59C86240-2322-41D5-9B2C-F1D1BB6A7046}" srcOrd="0" destOrd="0" presId="urn:microsoft.com/office/officeart/2016/7/layout/ChevronBlockProcess"/>
    <dgm:cxn modelId="{CFBBF82B-6678-4F3F-8DF3-9B8A512F5E8C}" type="presParOf" srcId="{4FDEDD16-39B2-432F-AB56-2F0D5379C9C0}" destId="{02EE6DB2-02F6-44DA-8B8F-D21743F9C730}" srcOrd="1" destOrd="0" presId="urn:microsoft.com/office/officeart/2016/7/layout/ChevronBlockProcess"/>
    <dgm:cxn modelId="{7E1993C7-4B2C-44A1-84C6-ADAB13D8F3C8}" type="presParOf" srcId="{3CBB6B77-0C3A-4DF5-BE80-1A260355824E}" destId="{342A2E00-DBBF-4D4A-9ABA-3162558EE2FD}" srcOrd="5" destOrd="0" presId="urn:microsoft.com/office/officeart/2016/7/layout/ChevronBlockProcess"/>
    <dgm:cxn modelId="{6BE6877B-453E-4D2C-B9EE-82F2D0206F3D}" type="presParOf" srcId="{3CBB6B77-0C3A-4DF5-BE80-1A260355824E}" destId="{10EF3A2A-37AD-4512-81D3-BA42C577B880}" srcOrd="6" destOrd="0" presId="urn:microsoft.com/office/officeart/2016/7/layout/ChevronBlockProcess"/>
    <dgm:cxn modelId="{029E6CB9-CDA9-4D3D-A083-83562682FA8C}" type="presParOf" srcId="{10EF3A2A-37AD-4512-81D3-BA42C577B880}" destId="{65A8F1FB-3C52-4773-9864-913DCC857B44}" srcOrd="0" destOrd="0" presId="urn:microsoft.com/office/officeart/2016/7/layout/ChevronBlockProcess"/>
    <dgm:cxn modelId="{551E72C7-E183-4525-B7C9-2FF6EDB1D90A}" type="presParOf" srcId="{10EF3A2A-37AD-4512-81D3-BA42C577B880}" destId="{388310EE-1183-4872-8144-4FF0AAD504A7}"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C6E3F31-333B-49D5-8956-6BDF582ED0FB}" type="doc">
      <dgm:prSet loTypeId="urn:microsoft.com/office/officeart/2016/7/layout/LinearBlockProcessNumbered" loCatId="process" qsTypeId="urn:microsoft.com/office/officeart/2005/8/quickstyle/simple1" qsCatId="simple" csTypeId="urn:microsoft.com/office/officeart/2005/8/colors/accent2_2" csCatId="accent2"/>
      <dgm:spPr/>
      <dgm:t>
        <a:bodyPr/>
        <a:lstStyle/>
        <a:p>
          <a:endParaRPr lang="en-US"/>
        </a:p>
      </dgm:t>
    </dgm:pt>
    <dgm:pt modelId="{0C7216BC-3192-412C-955E-C5AFB6C76332}">
      <dgm:prSet/>
      <dgm:spPr/>
      <dgm:t>
        <a:bodyPr/>
        <a:lstStyle/>
        <a:p>
          <a:r>
            <a:rPr lang="en-GB"/>
            <a:t>Start centralized, transition to vending machine</a:t>
          </a:r>
          <a:endParaRPr lang="en-US"/>
        </a:p>
      </dgm:t>
    </dgm:pt>
    <dgm:pt modelId="{33206040-2C64-4556-952D-5B44D37FD26A}" type="parTrans" cxnId="{CA222837-3641-4B5B-AE4B-B1AF111A4DBC}">
      <dgm:prSet/>
      <dgm:spPr/>
      <dgm:t>
        <a:bodyPr/>
        <a:lstStyle/>
        <a:p>
          <a:endParaRPr lang="en-US"/>
        </a:p>
      </dgm:t>
    </dgm:pt>
    <dgm:pt modelId="{6227FECA-0D03-4322-BEC2-B2E95F7D26D1}" type="sibTrans" cxnId="{CA222837-3641-4B5B-AE4B-B1AF111A4DBC}">
      <dgm:prSet phldrT="01" phldr="0"/>
      <dgm:spPr/>
      <dgm:t>
        <a:bodyPr/>
        <a:lstStyle/>
        <a:p>
          <a:r>
            <a:rPr lang="en-US"/>
            <a:t>01</a:t>
          </a:r>
        </a:p>
      </dgm:t>
    </dgm:pt>
    <dgm:pt modelId="{4534660F-E73A-4C8E-9A7B-EE9773BD3B16}">
      <dgm:prSet/>
      <dgm:spPr/>
      <dgm:t>
        <a:bodyPr/>
        <a:lstStyle/>
        <a:p>
          <a:r>
            <a:rPr lang="en-GB"/>
            <a:t>Use hybrid PTU + PAYG for production</a:t>
          </a:r>
          <a:endParaRPr lang="en-US"/>
        </a:p>
      </dgm:t>
    </dgm:pt>
    <dgm:pt modelId="{C56C9C5D-E163-4958-B419-BE86CDA46F96}" type="parTrans" cxnId="{EA1FF6E2-E02D-4A23-B848-D76778AEAD39}">
      <dgm:prSet/>
      <dgm:spPr/>
      <dgm:t>
        <a:bodyPr/>
        <a:lstStyle/>
        <a:p>
          <a:endParaRPr lang="en-US"/>
        </a:p>
      </dgm:t>
    </dgm:pt>
    <dgm:pt modelId="{A05E6699-9568-4930-847A-677AB087F995}" type="sibTrans" cxnId="{EA1FF6E2-E02D-4A23-B848-D76778AEAD39}">
      <dgm:prSet phldrT="02" phldr="0"/>
      <dgm:spPr/>
      <dgm:t>
        <a:bodyPr/>
        <a:lstStyle/>
        <a:p>
          <a:r>
            <a:rPr lang="en-US"/>
            <a:t>02</a:t>
          </a:r>
        </a:p>
      </dgm:t>
    </dgm:pt>
    <dgm:pt modelId="{A57303D2-4147-42D6-867E-499FED3FE587}">
      <dgm:prSet/>
      <dgm:spPr/>
      <dgm:t>
        <a:bodyPr/>
        <a:lstStyle/>
        <a:p>
          <a:r>
            <a:rPr lang="en-GB"/>
            <a:t>Enforce Zero Trust from day one</a:t>
          </a:r>
          <a:endParaRPr lang="en-US"/>
        </a:p>
      </dgm:t>
    </dgm:pt>
    <dgm:pt modelId="{A0945C4B-9592-4718-AB96-72A3DB19B9E6}" type="parTrans" cxnId="{FDEA445E-F2FC-4DDD-8267-39299785F2F9}">
      <dgm:prSet/>
      <dgm:spPr/>
      <dgm:t>
        <a:bodyPr/>
        <a:lstStyle/>
        <a:p>
          <a:endParaRPr lang="en-US"/>
        </a:p>
      </dgm:t>
    </dgm:pt>
    <dgm:pt modelId="{780779F2-18E0-498D-92F9-2FCFB7006DE6}" type="sibTrans" cxnId="{FDEA445E-F2FC-4DDD-8267-39299785F2F9}">
      <dgm:prSet phldrT="03" phldr="0"/>
      <dgm:spPr/>
      <dgm:t>
        <a:bodyPr/>
        <a:lstStyle/>
        <a:p>
          <a:r>
            <a:rPr lang="en-US"/>
            <a:t>03</a:t>
          </a:r>
        </a:p>
      </dgm:t>
    </dgm:pt>
    <dgm:pt modelId="{8C30F1A5-FB2C-4F4B-9EC3-826AB92E1066}">
      <dgm:prSet/>
      <dgm:spPr/>
      <dgm:t>
        <a:bodyPr/>
        <a:lstStyle/>
        <a:p>
          <a:r>
            <a:rPr lang="en-GB"/>
            <a:t>Implement chargeback pipeline immediately</a:t>
          </a:r>
          <a:endParaRPr lang="en-US"/>
        </a:p>
      </dgm:t>
    </dgm:pt>
    <dgm:pt modelId="{5D5BC0EC-F3A1-4887-8AC1-8D862E421D89}" type="parTrans" cxnId="{56830961-5264-46C5-88DD-B0A5EECE8344}">
      <dgm:prSet/>
      <dgm:spPr/>
      <dgm:t>
        <a:bodyPr/>
        <a:lstStyle/>
        <a:p>
          <a:endParaRPr lang="en-US"/>
        </a:p>
      </dgm:t>
    </dgm:pt>
    <dgm:pt modelId="{854830B4-0D06-4E9F-9CDD-B197D63A465E}" type="sibTrans" cxnId="{56830961-5264-46C5-88DD-B0A5EECE8344}">
      <dgm:prSet phldrT="04" phldr="0"/>
      <dgm:spPr/>
      <dgm:t>
        <a:bodyPr/>
        <a:lstStyle/>
        <a:p>
          <a:r>
            <a:rPr lang="en-US"/>
            <a:t>04</a:t>
          </a:r>
        </a:p>
      </dgm:t>
    </dgm:pt>
    <dgm:pt modelId="{E6F71E34-D1B1-4189-B70C-AEB95FE3AEC1}" type="pres">
      <dgm:prSet presAssocID="{EC6E3F31-333B-49D5-8956-6BDF582ED0FB}" presName="Name0" presStyleCnt="0">
        <dgm:presLayoutVars>
          <dgm:animLvl val="lvl"/>
          <dgm:resizeHandles val="exact"/>
        </dgm:presLayoutVars>
      </dgm:prSet>
      <dgm:spPr/>
    </dgm:pt>
    <dgm:pt modelId="{916E0FD2-7D6F-4D33-871C-963E61699F65}" type="pres">
      <dgm:prSet presAssocID="{0C7216BC-3192-412C-955E-C5AFB6C76332}" presName="compositeNode" presStyleCnt="0">
        <dgm:presLayoutVars>
          <dgm:bulletEnabled val="1"/>
        </dgm:presLayoutVars>
      </dgm:prSet>
      <dgm:spPr/>
    </dgm:pt>
    <dgm:pt modelId="{395343CE-5D2C-4D88-AA24-75DB46070ACF}" type="pres">
      <dgm:prSet presAssocID="{0C7216BC-3192-412C-955E-C5AFB6C76332}" presName="bgRect" presStyleLbl="alignNode1" presStyleIdx="0" presStyleCnt="4"/>
      <dgm:spPr/>
    </dgm:pt>
    <dgm:pt modelId="{CCC731A5-2592-4828-9E98-97743D23EEAD}" type="pres">
      <dgm:prSet presAssocID="{6227FECA-0D03-4322-BEC2-B2E95F7D26D1}" presName="sibTransNodeRect" presStyleLbl="alignNode1" presStyleIdx="0" presStyleCnt="4">
        <dgm:presLayoutVars>
          <dgm:chMax val="0"/>
          <dgm:bulletEnabled val="1"/>
        </dgm:presLayoutVars>
      </dgm:prSet>
      <dgm:spPr/>
    </dgm:pt>
    <dgm:pt modelId="{15A190DE-0052-479A-A04C-0BB74D5E7EAB}" type="pres">
      <dgm:prSet presAssocID="{0C7216BC-3192-412C-955E-C5AFB6C76332}" presName="nodeRect" presStyleLbl="alignNode1" presStyleIdx="0" presStyleCnt="4">
        <dgm:presLayoutVars>
          <dgm:bulletEnabled val="1"/>
        </dgm:presLayoutVars>
      </dgm:prSet>
      <dgm:spPr/>
    </dgm:pt>
    <dgm:pt modelId="{AC06B4C6-B0B7-4E02-A8D1-6F535C7F124C}" type="pres">
      <dgm:prSet presAssocID="{6227FECA-0D03-4322-BEC2-B2E95F7D26D1}" presName="sibTrans" presStyleCnt="0"/>
      <dgm:spPr/>
    </dgm:pt>
    <dgm:pt modelId="{59EEBFA3-C525-4D57-B271-6AB213937670}" type="pres">
      <dgm:prSet presAssocID="{4534660F-E73A-4C8E-9A7B-EE9773BD3B16}" presName="compositeNode" presStyleCnt="0">
        <dgm:presLayoutVars>
          <dgm:bulletEnabled val="1"/>
        </dgm:presLayoutVars>
      </dgm:prSet>
      <dgm:spPr/>
    </dgm:pt>
    <dgm:pt modelId="{1D187004-2EE4-4130-8DBA-5E48FF5BE943}" type="pres">
      <dgm:prSet presAssocID="{4534660F-E73A-4C8E-9A7B-EE9773BD3B16}" presName="bgRect" presStyleLbl="alignNode1" presStyleIdx="1" presStyleCnt="4"/>
      <dgm:spPr/>
    </dgm:pt>
    <dgm:pt modelId="{44B531AF-89B9-4B92-A214-ED1798E5D85F}" type="pres">
      <dgm:prSet presAssocID="{A05E6699-9568-4930-847A-677AB087F995}" presName="sibTransNodeRect" presStyleLbl="alignNode1" presStyleIdx="1" presStyleCnt="4">
        <dgm:presLayoutVars>
          <dgm:chMax val="0"/>
          <dgm:bulletEnabled val="1"/>
        </dgm:presLayoutVars>
      </dgm:prSet>
      <dgm:spPr/>
    </dgm:pt>
    <dgm:pt modelId="{B6CDE2EB-6E6E-46BE-A2CA-C3949495E110}" type="pres">
      <dgm:prSet presAssocID="{4534660F-E73A-4C8E-9A7B-EE9773BD3B16}" presName="nodeRect" presStyleLbl="alignNode1" presStyleIdx="1" presStyleCnt="4">
        <dgm:presLayoutVars>
          <dgm:bulletEnabled val="1"/>
        </dgm:presLayoutVars>
      </dgm:prSet>
      <dgm:spPr/>
    </dgm:pt>
    <dgm:pt modelId="{1FD6CA6C-75A2-4A6C-956F-1D4C44655D17}" type="pres">
      <dgm:prSet presAssocID="{A05E6699-9568-4930-847A-677AB087F995}" presName="sibTrans" presStyleCnt="0"/>
      <dgm:spPr/>
    </dgm:pt>
    <dgm:pt modelId="{C0DAC2B8-82C1-42D7-8BA6-0729E8981D32}" type="pres">
      <dgm:prSet presAssocID="{A57303D2-4147-42D6-867E-499FED3FE587}" presName="compositeNode" presStyleCnt="0">
        <dgm:presLayoutVars>
          <dgm:bulletEnabled val="1"/>
        </dgm:presLayoutVars>
      </dgm:prSet>
      <dgm:spPr/>
    </dgm:pt>
    <dgm:pt modelId="{1F5A6E04-62C9-40F5-A115-B9BDA27DA0C5}" type="pres">
      <dgm:prSet presAssocID="{A57303D2-4147-42D6-867E-499FED3FE587}" presName="bgRect" presStyleLbl="alignNode1" presStyleIdx="2" presStyleCnt="4"/>
      <dgm:spPr/>
    </dgm:pt>
    <dgm:pt modelId="{39836A86-1D2C-4199-9308-84951F97CE3D}" type="pres">
      <dgm:prSet presAssocID="{780779F2-18E0-498D-92F9-2FCFB7006DE6}" presName="sibTransNodeRect" presStyleLbl="alignNode1" presStyleIdx="2" presStyleCnt="4">
        <dgm:presLayoutVars>
          <dgm:chMax val="0"/>
          <dgm:bulletEnabled val="1"/>
        </dgm:presLayoutVars>
      </dgm:prSet>
      <dgm:spPr/>
    </dgm:pt>
    <dgm:pt modelId="{51F603AB-BFB7-4A76-A20F-E08E14254FF1}" type="pres">
      <dgm:prSet presAssocID="{A57303D2-4147-42D6-867E-499FED3FE587}" presName="nodeRect" presStyleLbl="alignNode1" presStyleIdx="2" presStyleCnt="4">
        <dgm:presLayoutVars>
          <dgm:bulletEnabled val="1"/>
        </dgm:presLayoutVars>
      </dgm:prSet>
      <dgm:spPr/>
    </dgm:pt>
    <dgm:pt modelId="{DF8B3502-37B5-4353-B6F2-3CC519C170FA}" type="pres">
      <dgm:prSet presAssocID="{780779F2-18E0-498D-92F9-2FCFB7006DE6}" presName="sibTrans" presStyleCnt="0"/>
      <dgm:spPr/>
    </dgm:pt>
    <dgm:pt modelId="{35C79CA9-7B40-437C-964C-4A64F1E28C3C}" type="pres">
      <dgm:prSet presAssocID="{8C30F1A5-FB2C-4F4B-9EC3-826AB92E1066}" presName="compositeNode" presStyleCnt="0">
        <dgm:presLayoutVars>
          <dgm:bulletEnabled val="1"/>
        </dgm:presLayoutVars>
      </dgm:prSet>
      <dgm:spPr/>
    </dgm:pt>
    <dgm:pt modelId="{E2A5A6BA-4CF2-4DD6-A706-A6A361882387}" type="pres">
      <dgm:prSet presAssocID="{8C30F1A5-FB2C-4F4B-9EC3-826AB92E1066}" presName="bgRect" presStyleLbl="alignNode1" presStyleIdx="3" presStyleCnt="4"/>
      <dgm:spPr/>
    </dgm:pt>
    <dgm:pt modelId="{B834F64E-0B89-4335-B94F-2CCB7A149F3A}" type="pres">
      <dgm:prSet presAssocID="{854830B4-0D06-4E9F-9CDD-B197D63A465E}" presName="sibTransNodeRect" presStyleLbl="alignNode1" presStyleIdx="3" presStyleCnt="4">
        <dgm:presLayoutVars>
          <dgm:chMax val="0"/>
          <dgm:bulletEnabled val="1"/>
        </dgm:presLayoutVars>
      </dgm:prSet>
      <dgm:spPr/>
    </dgm:pt>
    <dgm:pt modelId="{CF8A3C01-F4E9-4E2F-A964-0644E6926415}" type="pres">
      <dgm:prSet presAssocID="{8C30F1A5-FB2C-4F4B-9EC3-826AB92E1066}" presName="nodeRect" presStyleLbl="alignNode1" presStyleIdx="3" presStyleCnt="4">
        <dgm:presLayoutVars>
          <dgm:bulletEnabled val="1"/>
        </dgm:presLayoutVars>
      </dgm:prSet>
      <dgm:spPr/>
    </dgm:pt>
  </dgm:ptLst>
  <dgm:cxnLst>
    <dgm:cxn modelId="{F9C6E507-4E70-4EE7-A126-AC2559DC40FD}" type="presOf" srcId="{8C30F1A5-FB2C-4F4B-9EC3-826AB92E1066}" destId="{CF8A3C01-F4E9-4E2F-A964-0644E6926415}" srcOrd="1" destOrd="0" presId="urn:microsoft.com/office/officeart/2016/7/layout/LinearBlockProcessNumbered"/>
    <dgm:cxn modelId="{29A8C30D-14B3-4306-A4CD-CF29505C0526}" type="presOf" srcId="{4534660F-E73A-4C8E-9A7B-EE9773BD3B16}" destId="{B6CDE2EB-6E6E-46BE-A2CA-C3949495E110}" srcOrd="1" destOrd="0" presId="urn:microsoft.com/office/officeart/2016/7/layout/LinearBlockProcessNumbered"/>
    <dgm:cxn modelId="{4376BD15-9EAD-49BB-A564-475114B5BD6C}" type="presOf" srcId="{EC6E3F31-333B-49D5-8956-6BDF582ED0FB}" destId="{E6F71E34-D1B1-4189-B70C-AEB95FE3AEC1}" srcOrd="0" destOrd="0" presId="urn:microsoft.com/office/officeart/2016/7/layout/LinearBlockProcessNumbered"/>
    <dgm:cxn modelId="{67357920-8B45-4D0E-B051-32B9B4AD4441}" type="presOf" srcId="{A57303D2-4147-42D6-867E-499FED3FE587}" destId="{51F603AB-BFB7-4A76-A20F-E08E14254FF1}" srcOrd="1" destOrd="0" presId="urn:microsoft.com/office/officeart/2016/7/layout/LinearBlockProcessNumbered"/>
    <dgm:cxn modelId="{A44EAB2E-B7D7-4C58-8A21-EE820689CE20}" type="presOf" srcId="{0C7216BC-3192-412C-955E-C5AFB6C76332}" destId="{395343CE-5D2C-4D88-AA24-75DB46070ACF}" srcOrd="0" destOrd="0" presId="urn:microsoft.com/office/officeart/2016/7/layout/LinearBlockProcessNumbered"/>
    <dgm:cxn modelId="{8BC4BB33-B5EE-45ED-8B4D-A1E2CF091A0A}" type="presOf" srcId="{4534660F-E73A-4C8E-9A7B-EE9773BD3B16}" destId="{1D187004-2EE4-4130-8DBA-5E48FF5BE943}" srcOrd="0" destOrd="0" presId="urn:microsoft.com/office/officeart/2016/7/layout/LinearBlockProcessNumbered"/>
    <dgm:cxn modelId="{CA222837-3641-4B5B-AE4B-B1AF111A4DBC}" srcId="{EC6E3F31-333B-49D5-8956-6BDF582ED0FB}" destId="{0C7216BC-3192-412C-955E-C5AFB6C76332}" srcOrd="0" destOrd="0" parTransId="{33206040-2C64-4556-952D-5B44D37FD26A}" sibTransId="{6227FECA-0D03-4322-BEC2-B2E95F7D26D1}"/>
    <dgm:cxn modelId="{FDEA445E-F2FC-4DDD-8267-39299785F2F9}" srcId="{EC6E3F31-333B-49D5-8956-6BDF582ED0FB}" destId="{A57303D2-4147-42D6-867E-499FED3FE587}" srcOrd="2" destOrd="0" parTransId="{A0945C4B-9592-4718-AB96-72A3DB19B9E6}" sibTransId="{780779F2-18E0-498D-92F9-2FCFB7006DE6}"/>
    <dgm:cxn modelId="{56830961-5264-46C5-88DD-B0A5EECE8344}" srcId="{EC6E3F31-333B-49D5-8956-6BDF582ED0FB}" destId="{8C30F1A5-FB2C-4F4B-9EC3-826AB92E1066}" srcOrd="3" destOrd="0" parTransId="{5D5BC0EC-F3A1-4887-8AC1-8D862E421D89}" sibTransId="{854830B4-0D06-4E9F-9CDD-B197D63A465E}"/>
    <dgm:cxn modelId="{3F541862-B1D5-4EB3-9CD8-35C339D9EF3A}" type="presOf" srcId="{8C30F1A5-FB2C-4F4B-9EC3-826AB92E1066}" destId="{E2A5A6BA-4CF2-4DD6-A706-A6A361882387}" srcOrd="0" destOrd="0" presId="urn:microsoft.com/office/officeart/2016/7/layout/LinearBlockProcessNumbered"/>
    <dgm:cxn modelId="{0D66386E-DE5A-4558-8FB0-C2C07DA26623}" type="presOf" srcId="{0C7216BC-3192-412C-955E-C5AFB6C76332}" destId="{15A190DE-0052-479A-A04C-0BB74D5E7EAB}" srcOrd="1" destOrd="0" presId="urn:microsoft.com/office/officeart/2016/7/layout/LinearBlockProcessNumbered"/>
    <dgm:cxn modelId="{E136977C-AB0B-4076-AFE3-74D2E6849CEF}" type="presOf" srcId="{A05E6699-9568-4930-847A-677AB087F995}" destId="{44B531AF-89B9-4B92-A214-ED1798E5D85F}" srcOrd="0" destOrd="0" presId="urn:microsoft.com/office/officeart/2016/7/layout/LinearBlockProcessNumbered"/>
    <dgm:cxn modelId="{ABEAD57D-0425-42A1-BD1B-5785C747F164}" type="presOf" srcId="{854830B4-0D06-4E9F-9CDD-B197D63A465E}" destId="{B834F64E-0B89-4335-B94F-2CCB7A149F3A}" srcOrd="0" destOrd="0" presId="urn:microsoft.com/office/officeart/2016/7/layout/LinearBlockProcessNumbered"/>
    <dgm:cxn modelId="{D3D6E3BC-7EA5-4F72-BCF8-951E50E64814}" type="presOf" srcId="{A57303D2-4147-42D6-867E-499FED3FE587}" destId="{1F5A6E04-62C9-40F5-A115-B9BDA27DA0C5}" srcOrd="0" destOrd="0" presId="urn:microsoft.com/office/officeart/2016/7/layout/LinearBlockProcessNumbered"/>
    <dgm:cxn modelId="{155CACD9-025D-4ACA-8065-2B35090ECB98}" type="presOf" srcId="{6227FECA-0D03-4322-BEC2-B2E95F7D26D1}" destId="{CCC731A5-2592-4828-9E98-97743D23EEAD}" srcOrd="0" destOrd="0" presId="urn:microsoft.com/office/officeart/2016/7/layout/LinearBlockProcessNumbered"/>
    <dgm:cxn modelId="{EA1FF6E2-E02D-4A23-B848-D76778AEAD39}" srcId="{EC6E3F31-333B-49D5-8956-6BDF582ED0FB}" destId="{4534660F-E73A-4C8E-9A7B-EE9773BD3B16}" srcOrd="1" destOrd="0" parTransId="{C56C9C5D-E163-4958-B419-BE86CDA46F96}" sibTransId="{A05E6699-9568-4930-847A-677AB087F995}"/>
    <dgm:cxn modelId="{E0EE12FB-D534-4FB5-8B2B-1313D5C69DEE}" type="presOf" srcId="{780779F2-18E0-498D-92F9-2FCFB7006DE6}" destId="{39836A86-1D2C-4199-9308-84951F97CE3D}" srcOrd="0" destOrd="0" presId="urn:microsoft.com/office/officeart/2016/7/layout/LinearBlockProcessNumbered"/>
    <dgm:cxn modelId="{0AE9CCF1-A8AC-41A6-A403-D4B231114CCA}" type="presParOf" srcId="{E6F71E34-D1B1-4189-B70C-AEB95FE3AEC1}" destId="{916E0FD2-7D6F-4D33-871C-963E61699F65}" srcOrd="0" destOrd="0" presId="urn:microsoft.com/office/officeart/2016/7/layout/LinearBlockProcessNumbered"/>
    <dgm:cxn modelId="{81375980-CDBF-4F1E-85DB-A76D0A5B9035}" type="presParOf" srcId="{916E0FD2-7D6F-4D33-871C-963E61699F65}" destId="{395343CE-5D2C-4D88-AA24-75DB46070ACF}" srcOrd="0" destOrd="0" presId="urn:microsoft.com/office/officeart/2016/7/layout/LinearBlockProcessNumbered"/>
    <dgm:cxn modelId="{CB6D0357-84FC-43D1-A9D5-6700AB6379B0}" type="presParOf" srcId="{916E0FD2-7D6F-4D33-871C-963E61699F65}" destId="{CCC731A5-2592-4828-9E98-97743D23EEAD}" srcOrd="1" destOrd="0" presId="urn:microsoft.com/office/officeart/2016/7/layout/LinearBlockProcessNumbered"/>
    <dgm:cxn modelId="{AC00A5DE-0CF6-40F9-AB76-A2D26B12F92A}" type="presParOf" srcId="{916E0FD2-7D6F-4D33-871C-963E61699F65}" destId="{15A190DE-0052-479A-A04C-0BB74D5E7EAB}" srcOrd="2" destOrd="0" presId="urn:microsoft.com/office/officeart/2016/7/layout/LinearBlockProcessNumbered"/>
    <dgm:cxn modelId="{CB4D81E9-3B6A-4D84-B818-C889CE333974}" type="presParOf" srcId="{E6F71E34-D1B1-4189-B70C-AEB95FE3AEC1}" destId="{AC06B4C6-B0B7-4E02-A8D1-6F535C7F124C}" srcOrd="1" destOrd="0" presId="urn:microsoft.com/office/officeart/2016/7/layout/LinearBlockProcessNumbered"/>
    <dgm:cxn modelId="{D1249ABF-5D48-44AF-9C4F-5F61FC639568}" type="presParOf" srcId="{E6F71E34-D1B1-4189-B70C-AEB95FE3AEC1}" destId="{59EEBFA3-C525-4D57-B271-6AB213937670}" srcOrd="2" destOrd="0" presId="urn:microsoft.com/office/officeart/2016/7/layout/LinearBlockProcessNumbered"/>
    <dgm:cxn modelId="{CCFF2FD7-2465-43C3-B631-243144436CE4}" type="presParOf" srcId="{59EEBFA3-C525-4D57-B271-6AB213937670}" destId="{1D187004-2EE4-4130-8DBA-5E48FF5BE943}" srcOrd="0" destOrd="0" presId="urn:microsoft.com/office/officeart/2016/7/layout/LinearBlockProcessNumbered"/>
    <dgm:cxn modelId="{087BD3E9-F299-4085-A8BC-E5243F1E2B58}" type="presParOf" srcId="{59EEBFA3-C525-4D57-B271-6AB213937670}" destId="{44B531AF-89B9-4B92-A214-ED1798E5D85F}" srcOrd="1" destOrd="0" presId="urn:microsoft.com/office/officeart/2016/7/layout/LinearBlockProcessNumbered"/>
    <dgm:cxn modelId="{5D5A9929-EC1A-485F-AF0F-BD75882B9107}" type="presParOf" srcId="{59EEBFA3-C525-4D57-B271-6AB213937670}" destId="{B6CDE2EB-6E6E-46BE-A2CA-C3949495E110}" srcOrd="2" destOrd="0" presId="urn:microsoft.com/office/officeart/2016/7/layout/LinearBlockProcessNumbered"/>
    <dgm:cxn modelId="{0FB0AB33-54AA-42BD-81A2-1A8E4F1D2FCE}" type="presParOf" srcId="{E6F71E34-D1B1-4189-B70C-AEB95FE3AEC1}" destId="{1FD6CA6C-75A2-4A6C-956F-1D4C44655D17}" srcOrd="3" destOrd="0" presId="urn:microsoft.com/office/officeart/2016/7/layout/LinearBlockProcessNumbered"/>
    <dgm:cxn modelId="{764356F9-FC31-4268-91D0-2326AE614575}" type="presParOf" srcId="{E6F71E34-D1B1-4189-B70C-AEB95FE3AEC1}" destId="{C0DAC2B8-82C1-42D7-8BA6-0729E8981D32}" srcOrd="4" destOrd="0" presId="urn:microsoft.com/office/officeart/2016/7/layout/LinearBlockProcessNumbered"/>
    <dgm:cxn modelId="{F4AF98BF-2E8B-4AA3-A36E-CC59DEAF8612}" type="presParOf" srcId="{C0DAC2B8-82C1-42D7-8BA6-0729E8981D32}" destId="{1F5A6E04-62C9-40F5-A115-B9BDA27DA0C5}" srcOrd="0" destOrd="0" presId="urn:microsoft.com/office/officeart/2016/7/layout/LinearBlockProcessNumbered"/>
    <dgm:cxn modelId="{E5FA8CD8-6332-4A89-9493-92DF43782DED}" type="presParOf" srcId="{C0DAC2B8-82C1-42D7-8BA6-0729E8981D32}" destId="{39836A86-1D2C-4199-9308-84951F97CE3D}" srcOrd="1" destOrd="0" presId="urn:microsoft.com/office/officeart/2016/7/layout/LinearBlockProcessNumbered"/>
    <dgm:cxn modelId="{5701611E-3A8F-434A-8F36-F214FCA8E3D5}" type="presParOf" srcId="{C0DAC2B8-82C1-42D7-8BA6-0729E8981D32}" destId="{51F603AB-BFB7-4A76-A20F-E08E14254FF1}" srcOrd="2" destOrd="0" presId="urn:microsoft.com/office/officeart/2016/7/layout/LinearBlockProcessNumbered"/>
    <dgm:cxn modelId="{AB3CB1FD-873D-4AB3-BF4E-17D4596A0973}" type="presParOf" srcId="{E6F71E34-D1B1-4189-B70C-AEB95FE3AEC1}" destId="{DF8B3502-37B5-4353-B6F2-3CC519C170FA}" srcOrd="5" destOrd="0" presId="urn:microsoft.com/office/officeart/2016/7/layout/LinearBlockProcessNumbered"/>
    <dgm:cxn modelId="{DAD085A3-B483-4DB0-A108-BEED7BB4FA5C}" type="presParOf" srcId="{E6F71E34-D1B1-4189-B70C-AEB95FE3AEC1}" destId="{35C79CA9-7B40-437C-964C-4A64F1E28C3C}" srcOrd="6" destOrd="0" presId="urn:microsoft.com/office/officeart/2016/7/layout/LinearBlockProcessNumbered"/>
    <dgm:cxn modelId="{D27195CC-3A18-4DDF-8501-742BC305AA62}" type="presParOf" srcId="{35C79CA9-7B40-437C-964C-4A64F1E28C3C}" destId="{E2A5A6BA-4CF2-4DD6-A706-A6A361882387}" srcOrd="0" destOrd="0" presId="urn:microsoft.com/office/officeart/2016/7/layout/LinearBlockProcessNumbered"/>
    <dgm:cxn modelId="{EA997AF5-8112-43EA-8017-0055168F6301}" type="presParOf" srcId="{35C79CA9-7B40-437C-964C-4A64F1E28C3C}" destId="{B834F64E-0B89-4335-B94F-2CCB7A149F3A}" srcOrd="1" destOrd="0" presId="urn:microsoft.com/office/officeart/2016/7/layout/LinearBlockProcessNumbered"/>
    <dgm:cxn modelId="{F03870AE-0A25-49CD-BF07-68EB39E089EE}" type="presParOf" srcId="{35C79CA9-7B40-437C-964C-4A64F1E28C3C}" destId="{CF8A3C01-F4E9-4E2F-A964-0644E6926415}"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15D88-1CAA-41FE-B67E-3FD450BE722B}">
      <dsp:nvSpPr>
        <dsp:cNvPr id="0" name=""/>
        <dsp:cNvSpPr/>
      </dsp:nvSpPr>
      <dsp:spPr>
        <a:xfrm>
          <a:off x="0" y="119116"/>
          <a:ext cx="6561138" cy="12175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537192-7F05-41CE-B263-6CAE31EA6A08}">
      <dsp:nvSpPr>
        <dsp:cNvPr id="0" name=""/>
        <dsp:cNvSpPr/>
      </dsp:nvSpPr>
      <dsp:spPr>
        <a:xfrm>
          <a:off x="368307" y="276350"/>
          <a:ext cx="669650" cy="669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D6B30D-F62B-4195-9B72-B41D5420ED7E}">
      <dsp:nvSpPr>
        <dsp:cNvPr id="0" name=""/>
        <dsp:cNvSpPr/>
      </dsp:nvSpPr>
      <dsp:spPr>
        <a:xfrm>
          <a:off x="1406266" y="24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Current State</a:t>
          </a:r>
          <a:endParaRPr lang="en-US" sz="2200" kern="1200"/>
        </a:p>
      </dsp:txBody>
      <dsp:txXfrm>
        <a:off x="1406266" y="2402"/>
        <a:ext cx="5154871" cy="1217546"/>
      </dsp:txXfrm>
    </dsp:sp>
    <dsp:sp modelId="{21823D85-4077-49DC-8025-9E2933D1DB5B}">
      <dsp:nvSpPr>
        <dsp:cNvPr id="0" name=""/>
        <dsp:cNvSpPr/>
      </dsp:nvSpPr>
      <dsp:spPr>
        <a:xfrm>
          <a:off x="0" y="1662174"/>
          <a:ext cx="6561138" cy="12175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3A1C5F-0CAF-4DB4-BBBB-3E02AB09D34F}">
      <dsp:nvSpPr>
        <dsp:cNvPr id="0" name=""/>
        <dsp:cNvSpPr/>
      </dsp:nvSpPr>
      <dsp:spPr>
        <a:xfrm>
          <a:off x="368307" y="1798283"/>
          <a:ext cx="669650" cy="669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30D722-B365-474C-B228-F184926F5FC1}">
      <dsp:nvSpPr>
        <dsp:cNvPr id="0" name=""/>
        <dsp:cNvSpPr/>
      </dsp:nvSpPr>
      <dsp:spPr>
        <a:xfrm>
          <a:off x="1406266" y="1524335"/>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API keys in source code, public endpoints, no network isolation</a:t>
          </a:r>
          <a:endParaRPr lang="en-US" sz="2200" kern="1200"/>
        </a:p>
      </dsp:txBody>
      <dsp:txXfrm>
        <a:off x="1406266" y="1524335"/>
        <a:ext cx="5154871" cy="1217546"/>
      </dsp:txXfrm>
    </dsp:sp>
    <dsp:sp modelId="{1695102E-ED4E-44CE-9258-34457748D53C}">
      <dsp:nvSpPr>
        <dsp:cNvPr id="0" name=""/>
        <dsp:cNvSpPr/>
      </dsp:nvSpPr>
      <dsp:spPr>
        <a:xfrm>
          <a:off x="0" y="3114853"/>
          <a:ext cx="6561138" cy="12175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0642CC-B48C-499B-AFAA-7C2C7E81B8B6}">
      <dsp:nvSpPr>
        <dsp:cNvPr id="0" name=""/>
        <dsp:cNvSpPr/>
      </dsp:nvSpPr>
      <dsp:spPr>
        <a:xfrm>
          <a:off x="368307" y="3320217"/>
          <a:ext cx="669650" cy="669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EED26D-B305-4198-8A74-1F985300CB52}">
      <dsp:nvSpPr>
        <dsp:cNvPr id="0" name=""/>
        <dsp:cNvSpPr/>
      </dsp:nvSpPr>
      <dsp:spPr>
        <a:xfrm>
          <a:off x="1406266" y="3046269"/>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Solution</a:t>
          </a:r>
          <a:endParaRPr lang="en-US" sz="2200" kern="1200"/>
        </a:p>
      </dsp:txBody>
      <dsp:txXfrm>
        <a:off x="1406266" y="3046269"/>
        <a:ext cx="5154871" cy="1217546"/>
      </dsp:txXfrm>
    </dsp:sp>
    <dsp:sp modelId="{750A5016-8B1F-49D4-ABD7-C003ADCD798E}">
      <dsp:nvSpPr>
        <dsp:cNvPr id="0" name=""/>
        <dsp:cNvSpPr/>
      </dsp:nvSpPr>
      <dsp:spPr>
        <a:xfrm>
          <a:off x="0" y="4568202"/>
          <a:ext cx="6561138" cy="12175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B463C-80E9-4DD2-AD33-4FC0E35D5D71}">
      <dsp:nvSpPr>
        <dsp:cNvPr id="0" name=""/>
        <dsp:cNvSpPr/>
      </dsp:nvSpPr>
      <dsp:spPr>
        <a:xfrm>
          <a:off x="368307" y="4842150"/>
          <a:ext cx="669650" cy="669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6198D6-ABDD-4F0C-8A90-1717B96AA526}">
      <dsp:nvSpPr>
        <dsp:cNvPr id="0" name=""/>
        <dsp:cNvSpPr/>
      </dsp:nvSpPr>
      <dsp:spPr>
        <a:xfrm>
          <a:off x="1406266" y="45682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Private endpoints, managed identities, Entra ID tokens, Zero Trust</a:t>
          </a:r>
          <a:endParaRPr lang="en-US" sz="2200" kern="1200"/>
        </a:p>
      </dsp:txBody>
      <dsp:txXfrm>
        <a:off x="1406266" y="4568202"/>
        <a:ext cx="5154871" cy="12175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D9939-D6BD-48E0-BD5D-E6BEFE395C3B}">
      <dsp:nvSpPr>
        <dsp:cNvPr id="0" name=""/>
        <dsp:cNvSpPr/>
      </dsp:nvSpPr>
      <dsp:spPr>
        <a:xfrm>
          <a:off x="0" y="2402"/>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D85389-D4C4-4F15-BE8E-71B58DED0870}">
      <dsp:nvSpPr>
        <dsp:cNvPr id="0" name=""/>
        <dsp:cNvSpPr/>
      </dsp:nvSpPr>
      <dsp:spPr>
        <a:xfrm>
          <a:off x="368307" y="276350"/>
          <a:ext cx="669650" cy="669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EDD3EA-6A17-4FC4-9DC5-4E23516F0240}">
      <dsp:nvSpPr>
        <dsp:cNvPr id="0" name=""/>
        <dsp:cNvSpPr/>
      </dsp:nvSpPr>
      <dsp:spPr>
        <a:xfrm>
          <a:off x="1406266" y="24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40-60% reduction in deployment time</a:t>
          </a:r>
          <a:endParaRPr lang="en-US" sz="2200" kern="1200"/>
        </a:p>
      </dsp:txBody>
      <dsp:txXfrm>
        <a:off x="1406266" y="2402"/>
        <a:ext cx="5154871" cy="1217546"/>
      </dsp:txXfrm>
    </dsp:sp>
    <dsp:sp modelId="{49417C81-423A-42DC-8C3E-D677CDEFEDEA}">
      <dsp:nvSpPr>
        <dsp:cNvPr id="0" name=""/>
        <dsp:cNvSpPr/>
      </dsp:nvSpPr>
      <dsp:spPr>
        <a:xfrm>
          <a:off x="0" y="1524335"/>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0FE1F7-4F5A-4DDD-A2A1-34BE905FE572}">
      <dsp:nvSpPr>
        <dsp:cNvPr id="0" name=""/>
        <dsp:cNvSpPr/>
      </dsp:nvSpPr>
      <dsp:spPr>
        <a:xfrm>
          <a:off x="368307" y="1798283"/>
          <a:ext cx="669650" cy="669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259844-FC3B-4327-9066-DC0625436B15}">
      <dsp:nvSpPr>
        <dsp:cNvPr id="0" name=""/>
        <dsp:cNvSpPr/>
      </dsp:nvSpPr>
      <dsp:spPr>
        <a:xfrm>
          <a:off x="1406266" y="1524335"/>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30-50% cost savings via shared PTU capacity</a:t>
          </a:r>
          <a:endParaRPr lang="en-US" sz="2200" kern="1200"/>
        </a:p>
      </dsp:txBody>
      <dsp:txXfrm>
        <a:off x="1406266" y="1524335"/>
        <a:ext cx="5154871" cy="1217546"/>
      </dsp:txXfrm>
    </dsp:sp>
    <dsp:sp modelId="{82992714-A18D-4B83-A56E-4FDF9EACD97E}">
      <dsp:nvSpPr>
        <dsp:cNvPr id="0" name=""/>
        <dsp:cNvSpPr/>
      </dsp:nvSpPr>
      <dsp:spPr>
        <a:xfrm>
          <a:off x="0" y="3046269"/>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8D5F2C-7E6A-4582-BB36-7548BDD40AE4}">
      <dsp:nvSpPr>
        <dsp:cNvPr id="0" name=""/>
        <dsp:cNvSpPr/>
      </dsp:nvSpPr>
      <dsp:spPr>
        <a:xfrm>
          <a:off x="368307" y="3320217"/>
          <a:ext cx="669650" cy="669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53B57C-44D2-4F80-8A5E-548D1280C6E6}">
      <dsp:nvSpPr>
        <dsp:cNvPr id="0" name=""/>
        <dsp:cNvSpPr/>
      </dsp:nvSpPr>
      <dsp:spPr>
        <a:xfrm>
          <a:off x="1406266" y="3046269"/>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Zero public endpoints and API keys</a:t>
          </a:r>
          <a:endParaRPr lang="en-US" sz="2200" kern="1200"/>
        </a:p>
      </dsp:txBody>
      <dsp:txXfrm>
        <a:off x="1406266" y="3046269"/>
        <a:ext cx="5154871" cy="1217546"/>
      </dsp:txXfrm>
    </dsp:sp>
    <dsp:sp modelId="{1D431D70-A8E3-4DF7-AD77-17F2CA346B25}">
      <dsp:nvSpPr>
        <dsp:cNvPr id="0" name=""/>
        <dsp:cNvSpPr/>
      </dsp:nvSpPr>
      <dsp:spPr>
        <a:xfrm>
          <a:off x="0" y="4568202"/>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22B616-846D-43DF-A006-AD4C4338F19E}">
      <dsp:nvSpPr>
        <dsp:cNvPr id="0" name=""/>
        <dsp:cNvSpPr/>
      </dsp:nvSpPr>
      <dsp:spPr>
        <a:xfrm>
          <a:off x="368307" y="4842150"/>
          <a:ext cx="669650" cy="669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C0D8FC-4775-443B-AF6B-42F1D65828C9}">
      <dsp:nvSpPr>
        <dsp:cNvPr id="0" name=""/>
        <dsp:cNvSpPr/>
      </dsp:nvSpPr>
      <dsp:spPr>
        <a:xfrm>
          <a:off x="1406266" y="45682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Supports 10s to 100s of AI applications</a:t>
          </a:r>
          <a:endParaRPr lang="en-US" sz="2200" kern="1200"/>
        </a:p>
      </dsp:txBody>
      <dsp:txXfrm>
        <a:off x="1406266" y="4568202"/>
        <a:ext cx="5154871" cy="12175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5C692-156B-4661-AD6E-AA5D520409A5}">
      <dsp:nvSpPr>
        <dsp:cNvPr id="0" name=""/>
        <dsp:cNvSpPr/>
      </dsp:nvSpPr>
      <dsp:spPr>
        <a:xfrm>
          <a:off x="0" y="2375"/>
          <a:ext cx="7159752" cy="12040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0E087-43B1-472C-94D4-A08CAA8E40C4}">
      <dsp:nvSpPr>
        <dsp:cNvPr id="0" name=""/>
        <dsp:cNvSpPr/>
      </dsp:nvSpPr>
      <dsp:spPr>
        <a:xfrm>
          <a:off x="364234" y="273294"/>
          <a:ext cx="662245" cy="6622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1FDBDB-8C28-4E48-B9FA-2B68A9421160}">
      <dsp:nvSpPr>
        <dsp:cNvPr id="0" name=""/>
        <dsp:cNvSpPr/>
      </dsp:nvSpPr>
      <dsp:spPr>
        <a:xfrm>
          <a:off x="1390715" y="2375"/>
          <a:ext cx="5769036" cy="120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432" tIns="127432" rIns="127432" bIns="127432" numCol="1" spcCol="1270" anchor="ctr" anchorCtr="0">
          <a:noAutofit/>
        </a:bodyPr>
        <a:lstStyle/>
        <a:p>
          <a:pPr marL="0" lvl="0" indent="0" algn="l" defTabSz="977900">
            <a:lnSpc>
              <a:spcPct val="90000"/>
            </a:lnSpc>
            <a:spcBef>
              <a:spcPct val="0"/>
            </a:spcBef>
            <a:spcAft>
              <a:spcPct val="35000"/>
            </a:spcAft>
            <a:buNone/>
          </a:pPr>
          <a:r>
            <a:rPr lang="en-GB" sz="2200" kern="1200"/>
            <a:t>Verify explicitly: Entra ID OAuth tokens</a:t>
          </a:r>
          <a:endParaRPr lang="en-US" sz="2200" kern="1200"/>
        </a:p>
      </dsp:txBody>
      <dsp:txXfrm>
        <a:off x="1390715" y="2375"/>
        <a:ext cx="5769036" cy="1204082"/>
      </dsp:txXfrm>
    </dsp:sp>
    <dsp:sp modelId="{A07C1922-0703-4E8E-A835-39CAA42EE274}">
      <dsp:nvSpPr>
        <dsp:cNvPr id="0" name=""/>
        <dsp:cNvSpPr/>
      </dsp:nvSpPr>
      <dsp:spPr>
        <a:xfrm>
          <a:off x="0" y="1507479"/>
          <a:ext cx="7159752" cy="12040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18691A-1BF9-4FA6-B00E-342E09D2E16C}">
      <dsp:nvSpPr>
        <dsp:cNvPr id="0" name=""/>
        <dsp:cNvSpPr/>
      </dsp:nvSpPr>
      <dsp:spPr>
        <a:xfrm>
          <a:off x="364234" y="1778397"/>
          <a:ext cx="662245" cy="6622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53ED0D-85B5-4D64-A6D8-7DB0FB32C74B}">
      <dsp:nvSpPr>
        <dsp:cNvPr id="0" name=""/>
        <dsp:cNvSpPr/>
      </dsp:nvSpPr>
      <dsp:spPr>
        <a:xfrm>
          <a:off x="1390715" y="1507479"/>
          <a:ext cx="5769036" cy="120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432" tIns="127432" rIns="127432" bIns="127432" numCol="1" spcCol="1270" anchor="ctr" anchorCtr="0">
          <a:noAutofit/>
        </a:bodyPr>
        <a:lstStyle/>
        <a:p>
          <a:pPr marL="0" lvl="0" indent="0" algn="l" defTabSz="977900">
            <a:lnSpc>
              <a:spcPct val="90000"/>
            </a:lnSpc>
            <a:spcBef>
              <a:spcPct val="0"/>
            </a:spcBef>
            <a:spcAft>
              <a:spcPct val="35000"/>
            </a:spcAft>
            <a:buNone/>
          </a:pPr>
          <a:r>
            <a:rPr lang="en-GB" sz="2200" kern="1200"/>
            <a:t>Least-privilege: RBAC and custom roles</a:t>
          </a:r>
          <a:endParaRPr lang="en-US" sz="2200" kern="1200"/>
        </a:p>
      </dsp:txBody>
      <dsp:txXfrm>
        <a:off x="1390715" y="1507479"/>
        <a:ext cx="5769036" cy="1204082"/>
      </dsp:txXfrm>
    </dsp:sp>
    <dsp:sp modelId="{B113B3CC-2AB2-4244-8C94-8689935119E4}">
      <dsp:nvSpPr>
        <dsp:cNvPr id="0" name=""/>
        <dsp:cNvSpPr/>
      </dsp:nvSpPr>
      <dsp:spPr>
        <a:xfrm>
          <a:off x="0" y="3012582"/>
          <a:ext cx="7159752" cy="12040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3A330D-C80D-42C5-B434-BF326015BB9A}">
      <dsp:nvSpPr>
        <dsp:cNvPr id="0" name=""/>
        <dsp:cNvSpPr/>
      </dsp:nvSpPr>
      <dsp:spPr>
        <a:xfrm>
          <a:off x="364234" y="3283500"/>
          <a:ext cx="662245" cy="6622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36EF8F-57A9-464B-ADD9-9259235D4C88}">
      <dsp:nvSpPr>
        <dsp:cNvPr id="0" name=""/>
        <dsp:cNvSpPr/>
      </dsp:nvSpPr>
      <dsp:spPr>
        <a:xfrm>
          <a:off x="1390715" y="3012582"/>
          <a:ext cx="5769036" cy="120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432" tIns="127432" rIns="127432" bIns="127432" numCol="1" spcCol="1270" anchor="ctr" anchorCtr="0">
          <a:noAutofit/>
        </a:bodyPr>
        <a:lstStyle/>
        <a:p>
          <a:pPr marL="0" lvl="0" indent="0" algn="l" defTabSz="977900">
            <a:lnSpc>
              <a:spcPct val="90000"/>
            </a:lnSpc>
            <a:spcBef>
              <a:spcPct val="0"/>
            </a:spcBef>
            <a:spcAft>
              <a:spcPct val="35000"/>
            </a:spcAft>
            <a:buNone/>
          </a:pPr>
          <a:r>
            <a:rPr lang="en-GB" sz="2200" kern="1200"/>
            <a:t>Assume breach: NSG segmentation, private endpoints</a:t>
          </a:r>
          <a:endParaRPr lang="en-US" sz="2200" kern="1200"/>
        </a:p>
      </dsp:txBody>
      <dsp:txXfrm>
        <a:off x="1390715" y="3012582"/>
        <a:ext cx="5769036" cy="1204082"/>
      </dsp:txXfrm>
    </dsp:sp>
    <dsp:sp modelId="{8B4A263A-4DB2-40C2-9288-A933F76CB374}">
      <dsp:nvSpPr>
        <dsp:cNvPr id="0" name=""/>
        <dsp:cNvSpPr/>
      </dsp:nvSpPr>
      <dsp:spPr>
        <a:xfrm>
          <a:off x="0" y="4517685"/>
          <a:ext cx="7159752" cy="12040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32D474-2FD5-4898-A73D-858888D620E4}">
      <dsp:nvSpPr>
        <dsp:cNvPr id="0" name=""/>
        <dsp:cNvSpPr/>
      </dsp:nvSpPr>
      <dsp:spPr>
        <a:xfrm>
          <a:off x="364234" y="4788604"/>
          <a:ext cx="662245" cy="6622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0AB718-A5C9-460C-902D-AD2467AF6C56}">
      <dsp:nvSpPr>
        <dsp:cNvPr id="0" name=""/>
        <dsp:cNvSpPr/>
      </dsp:nvSpPr>
      <dsp:spPr>
        <a:xfrm>
          <a:off x="1390715" y="4517685"/>
          <a:ext cx="5769036" cy="1204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432" tIns="127432" rIns="127432" bIns="127432" numCol="1" spcCol="1270" anchor="ctr" anchorCtr="0">
          <a:noAutofit/>
        </a:bodyPr>
        <a:lstStyle/>
        <a:p>
          <a:pPr marL="0" lvl="0" indent="0" algn="l" defTabSz="977900">
            <a:lnSpc>
              <a:spcPct val="90000"/>
            </a:lnSpc>
            <a:spcBef>
              <a:spcPct val="0"/>
            </a:spcBef>
            <a:spcAft>
              <a:spcPct val="35000"/>
            </a:spcAft>
            <a:buNone/>
          </a:pPr>
          <a:r>
            <a:rPr lang="en-GB" sz="2200" kern="1200"/>
            <a:t>Defender for AI: threat protection</a:t>
          </a:r>
          <a:endParaRPr lang="en-US" sz="2200" kern="1200"/>
        </a:p>
      </dsp:txBody>
      <dsp:txXfrm>
        <a:off x="1390715" y="4517685"/>
        <a:ext cx="5769036" cy="12040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FA2C82-607E-4978-ABA1-CE9F6E721DFB}">
      <dsp:nvSpPr>
        <dsp:cNvPr id="0" name=""/>
        <dsp:cNvSpPr/>
      </dsp:nvSpPr>
      <dsp:spPr>
        <a:xfrm>
          <a:off x="9777" y="114562"/>
          <a:ext cx="2922493" cy="17534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Service-to-service authentication:</a:t>
          </a:r>
          <a:endParaRPr lang="en-US" sz="3000" kern="1200"/>
        </a:p>
      </dsp:txBody>
      <dsp:txXfrm>
        <a:off x="61135" y="165920"/>
        <a:ext cx="2819777" cy="1650780"/>
      </dsp:txXfrm>
    </dsp:sp>
    <dsp:sp modelId="{391B42E8-FBE8-4F01-9694-ADDE68A307DA}">
      <dsp:nvSpPr>
        <dsp:cNvPr id="0" name=""/>
        <dsp:cNvSpPr/>
      </dsp:nvSpPr>
      <dsp:spPr>
        <a:xfrm>
          <a:off x="3189451" y="628921"/>
          <a:ext cx="619568" cy="724778"/>
        </a:xfrm>
        <a:prstGeom prst="rightArrow">
          <a:avLst>
            <a:gd name="adj1" fmla="val 60000"/>
            <a:gd name="adj2" fmla="val 50000"/>
          </a:avLst>
        </a:prstGeom>
        <a:gradFill rotWithShape="0">
          <a:gsLst>
            <a:gs pos="0">
              <a:schemeClr val="accent2">
                <a:tint val="60000"/>
                <a:hueOff val="0"/>
                <a:satOff val="0"/>
                <a:lumOff val="0"/>
                <a:alphaOff val="0"/>
                <a:satMod val="103000"/>
                <a:lumMod val="102000"/>
                <a:tint val="94000"/>
              </a:schemeClr>
            </a:gs>
            <a:gs pos="50000">
              <a:schemeClr val="accent2">
                <a:tint val="60000"/>
                <a:hueOff val="0"/>
                <a:satOff val="0"/>
                <a:lumOff val="0"/>
                <a:alphaOff val="0"/>
                <a:satMod val="110000"/>
                <a:lumMod val="100000"/>
                <a:shade val="100000"/>
              </a:schemeClr>
            </a:gs>
            <a:gs pos="100000">
              <a:schemeClr val="accent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3189451" y="773877"/>
        <a:ext cx="433698" cy="434866"/>
      </dsp:txXfrm>
    </dsp:sp>
    <dsp:sp modelId="{02C372FB-50E1-4B0A-BE9C-AB1C32F85997}">
      <dsp:nvSpPr>
        <dsp:cNvPr id="0" name=""/>
        <dsp:cNvSpPr/>
      </dsp:nvSpPr>
      <dsp:spPr>
        <a:xfrm>
          <a:off x="4101269" y="114562"/>
          <a:ext cx="2922493" cy="17534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App requests token from Azure IMDS</a:t>
          </a:r>
          <a:endParaRPr lang="en-US" sz="3000" kern="1200"/>
        </a:p>
      </dsp:txBody>
      <dsp:txXfrm>
        <a:off x="4152627" y="165920"/>
        <a:ext cx="2819777" cy="1650780"/>
      </dsp:txXfrm>
    </dsp:sp>
    <dsp:sp modelId="{CC5D2DB5-D9E1-40A7-8B7E-40DBABBDC1D3}">
      <dsp:nvSpPr>
        <dsp:cNvPr id="0" name=""/>
        <dsp:cNvSpPr/>
      </dsp:nvSpPr>
      <dsp:spPr>
        <a:xfrm>
          <a:off x="7280942" y="628921"/>
          <a:ext cx="619568" cy="724778"/>
        </a:xfrm>
        <a:prstGeom prst="rightArrow">
          <a:avLst>
            <a:gd name="adj1" fmla="val 60000"/>
            <a:gd name="adj2" fmla="val 50000"/>
          </a:avLst>
        </a:prstGeom>
        <a:gradFill rotWithShape="0">
          <a:gsLst>
            <a:gs pos="0">
              <a:schemeClr val="accent2">
                <a:tint val="60000"/>
                <a:hueOff val="0"/>
                <a:satOff val="0"/>
                <a:lumOff val="0"/>
                <a:alphaOff val="0"/>
                <a:satMod val="103000"/>
                <a:lumMod val="102000"/>
                <a:tint val="94000"/>
              </a:schemeClr>
            </a:gs>
            <a:gs pos="50000">
              <a:schemeClr val="accent2">
                <a:tint val="60000"/>
                <a:hueOff val="0"/>
                <a:satOff val="0"/>
                <a:lumOff val="0"/>
                <a:alphaOff val="0"/>
                <a:satMod val="110000"/>
                <a:lumMod val="100000"/>
                <a:shade val="100000"/>
              </a:schemeClr>
            </a:gs>
            <a:gs pos="100000">
              <a:schemeClr val="accent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280942" y="773877"/>
        <a:ext cx="433698" cy="434866"/>
      </dsp:txXfrm>
    </dsp:sp>
    <dsp:sp modelId="{F869D3A8-F749-4DFC-BC16-22127968E3B8}">
      <dsp:nvSpPr>
        <dsp:cNvPr id="0" name=""/>
        <dsp:cNvSpPr/>
      </dsp:nvSpPr>
      <dsp:spPr>
        <a:xfrm>
          <a:off x="8192760" y="114562"/>
          <a:ext cx="2922493" cy="17534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Calls APIM with Bearer token</a:t>
          </a:r>
          <a:endParaRPr lang="en-US" sz="3000" kern="1200"/>
        </a:p>
      </dsp:txBody>
      <dsp:txXfrm>
        <a:off x="8244118" y="165920"/>
        <a:ext cx="2819777" cy="1650780"/>
      </dsp:txXfrm>
    </dsp:sp>
    <dsp:sp modelId="{5B112CDC-E5F0-4E8B-95D1-ACE33EABE1FD}">
      <dsp:nvSpPr>
        <dsp:cNvPr id="0" name=""/>
        <dsp:cNvSpPr/>
      </dsp:nvSpPr>
      <dsp:spPr>
        <a:xfrm rot="5400000">
          <a:off x="9344222" y="2072633"/>
          <a:ext cx="619568" cy="724778"/>
        </a:xfrm>
        <a:prstGeom prst="rightArrow">
          <a:avLst>
            <a:gd name="adj1" fmla="val 60000"/>
            <a:gd name="adj2" fmla="val 50000"/>
          </a:avLst>
        </a:prstGeom>
        <a:gradFill rotWithShape="0">
          <a:gsLst>
            <a:gs pos="0">
              <a:schemeClr val="accent2">
                <a:tint val="60000"/>
                <a:hueOff val="0"/>
                <a:satOff val="0"/>
                <a:lumOff val="0"/>
                <a:alphaOff val="0"/>
                <a:satMod val="103000"/>
                <a:lumMod val="102000"/>
                <a:tint val="94000"/>
              </a:schemeClr>
            </a:gs>
            <a:gs pos="50000">
              <a:schemeClr val="accent2">
                <a:tint val="60000"/>
                <a:hueOff val="0"/>
                <a:satOff val="0"/>
                <a:lumOff val="0"/>
                <a:alphaOff val="0"/>
                <a:satMod val="110000"/>
                <a:lumMod val="100000"/>
                <a:shade val="100000"/>
              </a:schemeClr>
            </a:gs>
            <a:gs pos="100000">
              <a:schemeClr val="accent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5400000">
        <a:off x="9436573" y="2125238"/>
        <a:ext cx="434866" cy="433698"/>
      </dsp:txXfrm>
    </dsp:sp>
    <dsp:sp modelId="{B76EBB12-9909-4004-A5EB-35FF51478E15}">
      <dsp:nvSpPr>
        <dsp:cNvPr id="0" name=""/>
        <dsp:cNvSpPr/>
      </dsp:nvSpPr>
      <dsp:spPr>
        <a:xfrm>
          <a:off x="8192760" y="3037056"/>
          <a:ext cx="2922493" cy="17534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APIM validates and extracts user identity</a:t>
          </a:r>
          <a:endParaRPr lang="en-US" sz="3000" kern="1200"/>
        </a:p>
      </dsp:txBody>
      <dsp:txXfrm>
        <a:off x="8244118" y="3088414"/>
        <a:ext cx="2819777" cy="1650780"/>
      </dsp:txXfrm>
    </dsp:sp>
    <dsp:sp modelId="{97C666BC-0501-4EBB-BC2A-484B44D8A51D}">
      <dsp:nvSpPr>
        <dsp:cNvPr id="0" name=""/>
        <dsp:cNvSpPr/>
      </dsp:nvSpPr>
      <dsp:spPr>
        <a:xfrm rot="10800000">
          <a:off x="7316012" y="3551415"/>
          <a:ext cx="619568" cy="724778"/>
        </a:xfrm>
        <a:prstGeom prst="rightArrow">
          <a:avLst>
            <a:gd name="adj1" fmla="val 60000"/>
            <a:gd name="adj2" fmla="val 50000"/>
          </a:avLst>
        </a:prstGeom>
        <a:gradFill rotWithShape="0">
          <a:gsLst>
            <a:gs pos="0">
              <a:schemeClr val="accent2">
                <a:tint val="60000"/>
                <a:hueOff val="0"/>
                <a:satOff val="0"/>
                <a:lumOff val="0"/>
                <a:alphaOff val="0"/>
                <a:satMod val="103000"/>
                <a:lumMod val="102000"/>
                <a:tint val="94000"/>
              </a:schemeClr>
            </a:gs>
            <a:gs pos="50000">
              <a:schemeClr val="accent2">
                <a:tint val="60000"/>
                <a:hueOff val="0"/>
                <a:satOff val="0"/>
                <a:lumOff val="0"/>
                <a:alphaOff val="0"/>
                <a:satMod val="110000"/>
                <a:lumMod val="100000"/>
                <a:shade val="100000"/>
              </a:schemeClr>
            </a:gs>
            <a:gs pos="100000">
              <a:schemeClr val="accent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7501882" y="3696371"/>
        <a:ext cx="433698" cy="434866"/>
      </dsp:txXfrm>
    </dsp:sp>
    <dsp:sp modelId="{46060680-CB81-4A85-904E-B43CF5475D4D}">
      <dsp:nvSpPr>
        <dsp:cNvPr id="0" name=""/>
        <dsp:cNvSpPr/>
      </dsp:nvSpPr>
      <dsp:spPr>
        <a:xfrm>
          <a:off x="4101269" y="3037056"/>
          <a:ext cx="2922493" cy="17534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APIM uses its identity to call Azure OpenAI</a:t>
          </a:r>
          <a:endParaRPr lang="en-US" sz="3000" kern="1200"/>
        </a:p>
      </dsp:txBody>
      <dsp:txXfrm>
        <a:off x="4152627" y="3088414"/>
        <a:ext cx="2819777" cy="16507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5899D-C1AC-49CD-A735-9D886F7E17E4}">
      <dsp:nvSpPr>
        <dsp:cNvPr id="0" name=""/>
        <dsp:cNvSpPr/>
      </dsp:nvSpPr>
      <dsp:spPr>
        <a:xfrm>
          <a:off x="0" y="2402"/>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1BEF6A-0A5A-4212-BF8C-021CE7AB8413}">
      <dsp:nvSpPr>
        <dsp:cNvPr id="0" name=""/>
        <dsp:cNvSpPr/>
      </dsp:nvSpPr>
      <dsp:spPr>
        <a:xfrm>
          <a:off x="368307" y="276350"/>
          <a:ext cx="669650" cy="669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3E74C6-4AB0-4DE6-AF75-C0E0DAB3724E}">
      <dsp:nvSpPr>
        <dsp:cNvPr id="0" name=""/>
        <dsp:cNvSpPr/>
      </dsp:nvSpPr>
      <dsp:spPr>
        <a:xfrm>
          <a:off x="1406266" y="24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JWT validation on inbound requests</a:t>
          </a:r>
          <a:endParaRPr lang="en-US" sz="2200" kern="1200"/>
        </a:p>
      </dsp:txBody>
      <dsp:txXfrm>
        <a:off x="1406266" y="2402"/>
        <a:ext cx="5154871" cy="1217546"/>
      </dsp:txXfrm>
    </dsp:sp>
    <dsp:sp modelId="{DD6BFF02-4ADF-45D9-8135-8B9A83D42A42}">
      <dsp:nvSpPr>
        <dsp:cNvPr id="0" name=""/>
        <dsp:cNvSpPr/>
      </dsp:nvSpPr>
      <dsp:spPr>
        <a:xfrm>
          <a:off x="0" y="1524335"/>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45CA7E-B85A-4D9C-AB22-940671DDDAF4}">
      <dsp:nvSpPr>
        <dsp:cNvPr id="0" name=""/>
        <dsp:cNvSpPr/>
      </dsp:nvSpPr>
      <dsp:spPr>
        <a:xfrm>
          <a:off x="368307" y="1798283"/>
          <a:ext cx="669650" cy="669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42E79-3416-4949-A660-A94F8BC590A6}">
      <dsp:nvSpPr>
        <dsp:cNvPr id="0" name=""/>
        <dsp:cNvSpPr/>
      </dsp:nvSpPr>
      <dsp:spPr>
        <a:xfrm>
          <a:off x="1406266" y="1524335"/>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Rate limiting per user and application</a:t>
          </a:r>
          <a:endParaRPr lang="en-US" sz="2200" kern="1200"/>
        </a:p>
      </dsp:txBody>
      <dsp:txXfrm>
        <a:off x="1406266" y="1524335"/>
        <a:ext cx="5154871" cy="1217546"/>
      </dsp:txXfrm>
    </dsp:sp>
    <dsp:sp modelId="{8145116A-C661-43D7-B402-1B5210B92384}">
      <dsp:nvSpPr>
        <dsp:cNvPr id="0" name=""/>
        <dsp:cNvSpPr/>
      </dsp:nvSpPr>
      <dsp:spPr>
        <a:xfrm>
          <a:off x="0" y="3046269"/>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F12C1E-FE22-4A98-84B3-AF040975A9DC}">
      <dsp:nvSpPr>
        <dsp:cNvPr id="0" name=""/>
        <dsp:cNvSpPr/>
      </dsp:nvSpPr>
      <dsp:spPr>
        <a:xfrm>
          <a:off x="368307" y="3320217"/>
          <a:ext cx="669650" cy="669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6257AD-53D5-40EF-8BD1-6BFD96684C39}">
      <dsp:nvSpPr>
        <dsp:cNvPr id="0" name=""/>
        <dsp:cNvSpPr/>
      </dsp:nvSpPr>
      <dsp:spPr>
        <a:xfrm>
          <a:off x="1406266" y="3046269"/>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Token usage tracking to Event Hub</a:t>
          </a:r>
          <a:endParaRPr lang="en-US" sz="2200" kern="1200"/>
        </a:p>
      </dsp:txBody>
      <dsp:txXfrm>
        <a:off x="1406266" y="3046269"/>
        <a:ext cx="5154871" cy="1217546"/>
      </dsp:txXfrm>
    </dsp:sp>
    <dsp:sp modelId="{6B7E2F8D-68C4-46C0-AD56-82C30D26F260}">
      <dsp:nvSpPr>
        <dsp:cNvPr id="0" name=""/>
        <dsp:cNvSpPr/>
      </dsp:nvSpPr>
      <dsp:spPr>
        <a:xfrm>
          <a:off x="0" y="4568202"/>
          <a:ext cx="6561138" cy="121754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F58DC0-3A32-4D84-98E0-E7FEB9E22967}">
      <dsp:nvSpPr>
        <dsp:cNvPr id="0" name=""/>
        <dsp:cNvSpPr/>
      </dsp:nvSpPr>
      <dsp:spPr>
        <a:xfrm>
          <a:off x="368307" y="4842150"/>
          <a:ext cx="669650" cy="669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4C9660-D266-4111-841C-E67AB9BC7EBE}">
      <dsp:nvSpPr>
        <dsp:cNvPr id="0" name=""/>
        <dsp:cNvSpPr/>
      </dsp:nvSpPr>
      <dsp:spPr>
        <a:xfrm>
          <a:off x="1406266" y="4568202"/>
          <a:ext cx="5154871" cy="1217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57" tIns="128857" rIns="128857" bIns="128857" numCol="1" spcCol="1270" anchor="ctr" anchorCtr="0">
          <a:noAutofit/>
        </a:bodyPr>
        <a:lstStyle/>
        <a:p>
          <a:pPr marL="0" lvl="0" indent="0" algn="l" defTabSz="977900">
            <a:lnSpc>
              <a:spcPct val="90000"/>
            </a:lnSpc>
            <a:spcBef>
              <a:spcPct val="0"/>
            </a:spcBef>
            <a:spcAft>
              <a:spcPct val="35000"/>
            </a:spcAft>
            <a:buNone/>
          </a:pPr>
          <a:r>
            <a:rPr lang="en-GB" sz="2200" kern="1200"/>
            <a:t>Content filtering for sensitive prompts</a:t>
          </a:r>
          <a:endParaRPr lang="en-US" sz="2200" kern="1200"/>
        </a:p>
      </dsp:txBody>
      <dsp:txXfrm>
        <a:off x="1406266" y="4568202"/>
        <a:ext cx="5154871" cy="12175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77EA3C-3F91-4875-BE3A-6CA9B3496233}">
      <dsp:nvSpPr>
        <dsp:cNvPr id="0" name=""/>
        <dsp:cNvSpPr/>
      </dsp:nvSpPr>
      <dsp:spPr>
        <a:xfrm>
          <a:off x="12812" y="981023"/>
          <a:ext cx="2816529" cy="844958"/>
        </a:xfrm>
        <a:prstGeom prst="chevron">
          <a:avLst>
            <a:gd name="adj" fmla="val 3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4329" tIns="104329" rIns="104329" bIns="104329" numCol="1" spcCol="1270" anchor="ctr" anchorCtr="0">
          <a:noAutofit/>
        </a:bodyPr>
        <a:lstStyle/>
        <a:p>
          <a:pPr marL="0" lvl="0" indent="0" algn="ctr" defTabSz="1244600">
            <a:lnSpc>
              <a:spcPct val="90000"/>
            </a:lnSpc>
            <a:spcBef>
              <a:spcPct val="0"/>
            </a:spcBef>
            <a:spcAft>
              <a:spcPct val="35000"/>
            </a:spcAft>
            <a:buNone/>
          </a:pPr>
          <a:r>
            <a:rPr lang="en-US" sz="2800" kern="1200"/>
            <a:t>Phase 1</a:t>
          </a:r>
        </a:p>
      </dsp:txBody>
      <dsp:txXfrm>
        <a:off x="266299" y="981023"/>
        <a:ext cx="2309555" cy="844958"/>
      </dsp:txXfrm>
    </dsp:sp>
    <dsp:sp modelId="{BE049934-690D-4672-8834-4B21D7415D11}">
      <dsp:nvSpPr>
        <dsp:cNvPr id="0" name=""/>
        <dsp:cNvSpPr/>
      </dsp:nvSpPr>
      <dsp:spPr>
        <a:xfrm>
          <a:off x="12812" y="1825982"/>
          <a:ext cx="2563042" cy="209811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2537" tIns="202537" rIns="202537" bIns="405075" numCol="1" spcCol="1270" anchor="t" anchorCtr="0">
          <a:noAutofit/>
        </a:bodyPr>
        <a:lstStyle/>
        <a:p>
          <a:pPr marL="0" lvl="0" indent="0" algn="l" defTabSz="889000">
            <a:lnSpc>
              <a:spcPct val="90000"/>
            </a:lnSpc>
            <a:spcBef>
              <a:spcPct val="0"/>
            </a:spcBef>
            <a:spcAft>
              <a:spcPct val="35000"/>
            </a:spcAft>
            <a:buNone/>
          </a:pPr>
          <a:r>
            <a:rPr lang="en-US" sz="2000" kern="1200"/>
            <a:t>Assessment (2-4 weeks)</a:t>
          </a:r>
        </a:p>
      </dsp:txBody>
      <dsp:txXfrm>
        <a:off x="12812" y="1825982"/>
        <a:ext cx="2563042" cy="2098110"/>
      </dsp:txXfrm>
    </dsp:sp>
    <dsp:sp modelId="{266593CA-0D7E-4379-8657-BF748F70C887}">
      <dsp:nvSpPr>
        <dsp:cNvPr id="0" name=""/>
        <dsp:cNvSpPr/>
      </dsp:nvSpPr>
      <dsp:spPr>
        <a:xfrm>
          <a:off x="2773771" y="981023"/>
          <a:ext cx="2816529" cy="844958"/>
        </a:xfrm>
        <a:prstGeom prst="chevron">
          <a:avLst>
            <a:gd name="adj" fmla="val 3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4329" tIns="104329" rIns="104329" bIns="104329" numCol="1" spcCol="1270" anchor="ctr" anchorCtr="0">
          <a:noAutofit/>
        </a:bodyPr>
        <a:lstStyle/>
        <a:p>
          <a:pPr marL="0" lvl="0" indent="0" algn="ctr" defTabSz="1244600">
            <a:lnSpc>
              <a:spcPct val="90000"/>
            </a:lnSpc>
            <a:spcBef>
              <a:spcPct val="0"/>
            </a:spcBef>
            <a:spcAft>
              <a:spcPct val="35000"/>
            </a:spcAft>
            <a:buNone/>
          </a:pPr>
          <a:r>
            <a:rPr lang="en-US" sz="2800" kern="1200"/>
            <a:t>Phase 2</a:t>
          </a:r>
        </a:p>
      </dsp:txBody>
      <dsp:txXfrm>
        <a:off x="3027258" y="981023"/>
        <a:ext cx="2309555" cy="844958"/>
      </dsp:txXfrm>
    </dsp:sp>
    <dsp:sp modelId="{FE73C870-7D77-4548-8490-D86EF4482EE2}">
      <dsp:nvSpPr>
        <dsp:cNvPr id="0" name=""/>
        <dsp:cNvSpPr/>
      </dsp:nvSpPr>
      <dsp:spPr>
        <a:xfrm>
          <a:off x="2773771" y="1825982"/>
          <a:ext cx="2563042" cy="209811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2537" tIns="202537" rIns="202537" bIns="405075" numCol="1" spcCol="1270" anchor="t" anchorCtr="0">
          <a:noAutofit/>
        </a:bodyPr>
        <a:lstStyle/>
        <a:p>
          <a:pPr marL="0" lvl="0" indent="0" algn="l" defTabSz="889000">
            <a:lnSpc>
              <a:spcPct val="90000"/>
            </a:lnSpc>
            <a:spcBef>
              <a:spcPct val="0"/>
            </a:spcBef>
            <a:spcAft>
              <a:spcPct val="35000"/>
            </a:spcAft>
            <a:buNone/>
          </a:pPr>
          <a:r>
            <a:rPr lang="en-US" sz="2000" kern="1200"/>
            <a:t>Platform deployment (4-6 weeks)</a:t>
          </a:r>
        </a:p>
      </dsp:txBody>
      <dsp:txXfrm>
        <a:off x="2773771" y="1825982"/>
        <a:ext cx="2563042" cy="2098110"/>
      </dsp:txXfrm>
    </dsp:sp>
    <dsp:sp modelId="{59C86240-2322-41D5-9B2C-F1D1BB6A7046}">
      <dsp:nvSpPr>
        <dsp:cNvPr id="0" name=""/>
        <dsp:cNvSpPr/>
      </dsp:nvSpPr>
      <dsp:spPr>
        <a:xfrm>
          <a:off x="5534730" y="981023"/>
          <a:ext cx="2816529" cy="844958"/>
        </a:xfrm>
        <a:prstGeom prst="chevron">
          <a:avLst>
            <a:gd name="adj" fmla="val 3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4329" tIns="104329" rIns="104329" bIns="104329" numCol="1" spcCol="1270" anchor="ctr" anchorCtr="0">
          <a:noAutofit/>
        </a:bodyPr>
        <a:lstStyle/>
        <a:p>
          <a:pPr marL="0" lvl="0" indent="0" algn="ctr" defTabSz="1244600">
            <a:lnSpc>
              <a:spcPct val="90000"/>
            </a:lnSpc>
            <a:spcBef>
              <a:spcPct val="0"/>
            </a:spcBef>
            <a:spcAft>
              <a:spcPct val="35000"/>
            </a:spcAft>
            <a:buNone/>
          </a:pPr>
          <a:r>
            <a:rPr lang="en-US" sz="2800" kern="1200"/>
            <a:t>Phase 3</a:t>
          </a:r>
        </a:p>
      </dsp:txBody>
      <dsp:txXfrm>
        <a:off x="5788217" y="981023"/>
        <a:ext cx="2309555" cy="844958"/>
      </dsp:txXfrm>
    </dsp:sp>
    <dsp:sp modelId="{02EE6DB2-02F6-44DA-8B8F-D21743F9C730}">
      <dsp:nvSpPr>
        <dsp:cNvPr id="0" name=""/>
        <dsp:cNvSpPr/>
      </dsp:nvSpPr>
      <dsp:spPr>
        <a:xfrm>
          <a:off x="5534730" y="1825982"/>
          <a:ext cx="2563042" cy="209811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2537" tIns="202537" rIns="202537" bIns="405075" numCol="1" spcCol="1270" anchor="t" anchorCtr="0">
          <a:noAutofit/>
        </a:bodyPr>
        <a:lstStyle/>
        <a:p>
          <a:pPr marL="0" lvl="0" indent="0" algn="l" defTabSz="889000">
            <a:lnSpc>
              <a:spcPct val="90000"/>
            </a:lnSpc>
            <a:spcBef>
              <a:spcPct val="0"/>
            </a:spcBef>
            <a:spcAft>
              <a:spcPct val="35000"/>
            </a:spcAft>
            <a:buNone/>
          </a:pPr>
          <a:r>
            <a:rPr lang="en-US" sz="2000" kern="1200"/>
            <a:t>Pilot migration (4-6 weeks)</a:t>
          </a:r>
        </a:p>
      </dsp:txBody>
      <dsp:txXfrm>
        <a:off x="5534730" y="1825982"/>
        <a:ext cx="2563042" cy="2098110"/>
      </dsp:txXfrm>
    </dsp:sp>
    <dsp:sp modelId="{65A8F1FB-3C52-4773-9864-913DCC857B44}">
      <dsp:nvSpPr>
        <dsp:cNvPr id="0" name=""/>
        <dsp:cNvSpPr/>
      </dsp:nvSpPr>
      <dsp:spPr>
        <a:xfrm>
          <a:off x="8295689" y="981023"/>
          <a:ext cx="2816529" cy="844958"/>
        </a:xfrm>
        <a:prstGeom prst="chevron">
          <a:avLst>
            <a:gd name="adj" fmla="val 3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4329" tIns="104329" rIns="104329" bIns="104329" numCol="1" spcCol="1270" anchor="ctr" anchorCtr="0">
          <a:noAutofit/>
        </a:bodyPr>
        <a:lstStyle/>
        <a:p>
          <a:pPr marL="0" lvl="0" indent="0" algn="ctr" defTabSz="1244600">
            <a:lnSpc>
              <a:spcPct val="90000"/>
            </a:lnSpc>
            <a:spcBef>
              <a:spcPct val="0"/>
            </a:spcBef>
            <a:spcAft>
              <a:spcPct val="35000"/>
            </a:spcAft>
            <a:buNone/>
          </a:pPr>
          <a:r>
            <a:rPr lang="en-US" sz="2800" kern="1200"/>
            <a:t>Phase 4</a:t>
          </a:r>
        </a:p>
      </dsp:txBody>
      <dsp:txXfrm>
        <a:off x="8549176" y="981023"/>
        <a:ext cx="2309555" cy="844958"/>
      </dsp:txXfrm>
    </dsp:sp>
    <dsp:sp modelId="{388310EE-1183-4872-8144-4FF0AAD504A7}">
      <dsp:nvSpPr>
        <dsp:cNvPr id="0" name=""/>
        <dsp:cNvSpPr/>
      </dsp:nvSpPr>
      <dsp:spPr>
        <a:xfrm>
          <a:off x="8295689" y="1825982"/>
          <a:ext cx="2563042" cy="2098110"/>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2537" tIns="202537" rIns="202537" bIns="405075" numCol="1" spcCol="1270" anchor="t" anchorCtr="0">
          <a:noAutofit/>
        </a:bodyPr>
        <a:lstStyle/>
        <a:p>
          <a:pPr marL="0" lvl="0" indent="0" algn="l" defTabSz="889000">
            <a:lnSpc>
              <a:spcPct val="90000"/>
            </a:lnSpc>
            <a:spcBef>
              <a:spcPct val="0"/>
            </a:spcBef>
            <a:spcAft>
              <a:spcPct val="35000"/>
            </a:spcAft>
            <a:buNone/>
          </a:pPr>
          <a:r>
            <a:rPr lang="en-US" sz="2000" kern="1200"/>
            <a:t>Bulk migration (8-12 weeks)</a:t>
          </a:r>
        </a:p>
      </dsp:txBody>
      <dsp:txXfrm>
        <a:off x="8295689" y="1825982"/>
        <a:ext cx="2563042" cy="20981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5343CE-5D2C-4D88-AA24-75DB46070ACF}">
      <dsp:nvSpPr>
        <dsp:cNvPr id="0" name=""/>
        <dsp:cNvSpPr/>
      </dsp:nvSpPr>
      <dsp:spPr>
        <a:xfrm>
          <a:off x="217" y="878322"/>
          <a:ext cx="2623725" cy="31484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166" tIns="0" rIns="259166" bIns="330200" numCol="1" spcCol="1270" anchor="t" anchorCtr="0">
          <a:noAutofit/>
        </a:bodyPr>
        <a:lstStyle/>
        <a:p>
          <a:pPr marL="0" lvl="0" indent="0" algn="l" defTabSz="977900">
            <a:lnSpc>
              <a:spcPct val="90000"/>
            </a:lnSpc>
            <a:spcBef>
              <a:spcPct val="0"/>
            </a:spcBef>
            <a:spcAft>
              <a:spcPct val="35000"/>
            </a:spcAft>
            <a:buNone/>
          </a:pPr>
          <a:r>
            <a:rPr lang="en-GB" sz="2200" kern="1200"/>
            <a:t>Start centralized, transition to vending machine</a:t>
          </a:r>
          <a:endParaRPr lang="en-US" sz="2200" kern="1200"/>
        </a:p>
      </dsp:txBody>
      <dsp:txXfrm>
        <a:off x="217" y="2137710"/>
        <a:ext cx="2623725" cy="1889082"/>
      </dsp:txXfrm>
    </dsp:sp>
    <dsp:sp modelId="{CCC731A5-2592-4828-9E98-97743D23EEAD}">
      <dsp:nvSpPr>
        <dsp:cNvPr id="0" name=""/>
        <dsp:cNvSpPr/>
      </dsp:nvSpPr>
      <dsp:spPr>
        <a:xfrm>
          <a:off x="217" y="878322"/>
          <a:ext cx="2623725" cy="1259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9166" tIns="165100" rIns="259166"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217" y="878322"/>
        <a:ext cx="2623725" cy="1259388"/>
      </dsp:txXfrm>
    </dsp:sp>
    <dsp:sp modelId="{1D187004-2EE4-4130-8DBA-5E48FF5BE943}">
      <dsp:nvSpPr>
        <dsp:cNvPr id="0" name=""/>
        <dsp:cNvSpPr/>
      </dsp:nvSpPr>
      <dsp:spPr>
        <a:xfrm>
          <a:off x="2833841" y="878322"/>
          <a:ext cx="2623725" cy="31484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166" tIns="0" rIns="259166" bIns="330200" numCol="1" spcCol="1270" anchor="t" anchorCtr="0">
          <a:noAutofit/>
        </a:bodyPr>
        <a:lstStyle/>
        <a:p>
          <a:pPr marL="0" lvl="0" indent="0" algn="l" defTabSz="977900">
            <a:lnSpc>
              <a:spcPct val="90000"/>
            </a:lnSpc>
            <a:spcBef>
              <a:spcPct val="0"/>
            </a:spcBef>
            <a:spcAft>
              <a:spcPct val="35000"/>
            </a:spcAft>
            <a:buNone/>
          </a:pPr>
          <a:r>
            <a:rPr lang="en-GB" sz="2200" kern="1200"/>
            <a:t>Use hybrid PTU + PAYG for production</a:t>
          </a:r>
          <a:endParaRPr lang="en-US" sz="2200" kern="1200"/>
        </a:p>
      </dsp:txBody>
      <dsp:txXfrm>
        <a:off x="2833841" y="2137710"/>
        <a:ext cx="2623725" cy="1889082"/>
      </dsp:txXfrm>
    </dsp:sp>
    <dsp:sp modelId="{44B531AF-89B9-4B92-A214-ED1798E5D85F}">
      <dsp:nvSpPr>
        <dsp:cNvPr id="0" name=""/>
        <dsp:cNvSpPr/>
      </dsp:nvSpPr>
      <dsp:spPr>
        <a:xfrm>
          <a:off x="2833841" y="878322"/>
          <a:ext cx="2623725" cy="1259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9166" tIns="165100" rIns="259166"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2833841" y="878322"/>
        <a:ext cx="2623725" cy="1259388"/>
      </dsp:txXfrm>
    </dsp:sp>
    <dsp:sp modelId="{1F5A6E04-62C9-40F5-A115-B9BDA27DA0C5}">
      <dsp:nvSpPr>
        <dsp:cNvPr id="0" name=""/>
        <dsp:cNvSpPr/>
      </dsp:nvSpPr>
      <dsp:spPr>
        <a:xfrm>
          <a:off x="5667465" y="878322"/>
          <a:ext cx="2623725" cy="31484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166" tIns="0" rIns="259166" bIns="330200" numCol="1" spcCol="1270" anchor="t" anchorCtr="0">
          <a:noAutofit/>
        </a:bodyPr>
        <a:lstStyle/>
        <a:p>
          <a:pPr marL="0" lvl="0" indent="0" algn="l" defTabSz="977900">
            <a:lnSpc>
              <a:spcPct val="90000"/>
            </a:lnSpc>
            <a:spcBef>
              <a:spcPct val="0"/>
            </a:spcBef>
            <a:spcAft>
              <a:spcPct val="35000"/>
            </a:spcAft>
            <a:buNone/>
          </a:pPr>
          <a:r>
            <a:rPr lang="en-GB" sz="2200" kern="1200"/>
            <a:t>Enforce Zero Trust from day one</a:t>
          </a:r>
          <a:endParaRPr lang="en-US" sz="2200" kern="1200"/>
        </a:p>
      </dsp:txBody>
      <dsp:txXfrm>
        <a:off x="5667465" y="2137710"/>
        <a:ext cx="2623725" cy="1889082"/>
      </dsp:txXfrm>
    </dsp:sp>
    <dsp:sp modelId="{39836A86-1D2C-4199-9308-84951F97CE3D}">
      <dsp:nvSpPr>
        <dsp:cNvPr id="0" name=""/>
        <dsp:cNvSpPr/>
      </dsp:nvSpPr>
      <dsp:spPr>
        <a:xfrm>
          <a:off x="5667465" y="878322"/>
          <a:ext cx="2623725" cy="1259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9166" tIns="165100" rIns="259166"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5667465" y="878322"/>
        <a:ext cx="2623725" cy="1259388"/>
      </dsp:txXfrm>
    </dsp:sp>
    <dsp:sp modelId="{E2A5A6BA-4CF2-4DD6-A706-A6A361882387}">
      <dsp:nvSpPr>
        <dsp:cNvPr id="0" name=""/>
        <dsp:cNvSpPr/>
      </dsp:nvSpPr>
      <dsp:spPr>
        <a:xfrm>
          <a:off x="8501088" y="878322"/>
          <a:ext cx="2623725" cy="31484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166" tIns="0" rIns="259166" bIns="330200" numCol="1" spcCol="1270" anchor="t" anchorCtr="0">
          <a:noAutofit/>
        </a:bodyPr>
        <a:lstStyle/>
        <a:p>
          <a:pPr marL="0" lvl="0" indent="0" algn="l" defTabSz="977900">
            <a:lnSpc>
              <a:spcPct val="90000"/>
            </a:lnSpc>
            <a:spcBef>
              <a:spcPct val="0"/>
            </a:spcBef>
            <a:spcAft>
              <a:spcPct val="35000"/>
            </a:spcAft>
            <a:buNone/>
          </a:pPr>
          <a:r>
            <a:rPr lang="en-GB" sz="2200" kern="1200"/>
            <a:t>Implement chargeback pipeline immediately</a:t>
          </a:r>
          <a:endParaRPr lang="en-US" sz="2200" kern="1200"/>
        </a:p>
      </dsp:txBody>
      <dsp:txXfrm>
        <a:off x="8501088" y="2137710"/>
        <a:ext cx="2623725" cy="1889082"/>
      </dsp:txXfrm>
    </dsp:sp>
    <dsp:sp modelId="{B834F64E-0B89-4335-B94F-2CCB7A149F3A}">
      <dsp:nvSpPr>
        <dsp:cNvPr id="0" name=""/>
        <dsp:cNvSpPr/>
      </dsp:nvSpPr>
      <dsp:spPr>
        <a:xfrm>
          <a:off x="8501088" y="878322"/>
          <a:ext cx="2623725" cy="1259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9166" tIns="165100" rIns="259166" bIns="165100" numCol="1" spcCol="1270" anchor="ctr" anchorCtr="0">
          <a:noAutofit/>
        </a:bodyPr>
        <a:lstStyle/>
        <a:p>
          <a:pPr marL="0" lvl="0" indent="0" algn="l" defTabSz="2933700">
            <a:lnSpc>
              <a:spcPct val="90000"/>
            </a:lnSpc>
            <a:spcBef>
              <a:spcPct val="0"/>
            </a:spcBef>
            <a:spcAft>
              <a:spcPct val="35000"/>
            </a:spcAft>
            <a:buNone/>
          </a:pPr>
          <a:r>
            <a:rPr lang="en-US" sz="6600" kern="1200"/>
            <a:t>04</a:t>
          </a:r>
        </a:p>
      </dsp:txBody>
      <dsp:txXfrm>
        <a:off x="8501088" y="878322"/>
        <a:ext cx="2623725" cy="12593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14C9F-FFDD-4530-8E32-97DBC2E9E260}" type="datetimeFigureOut">
              <a:rPr lang="en-US" smtClean="0"/>
              <a:t>3/14/2026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719626-85DA-4309-B2F4-70A9E672588C}" type="slidenum">
              <a:rPr lang="en-US" smtClean="0"/>
              <a:t>‹#›</a:t>
            </a:fld>
            <a:endParaRPr lang="en-US"/>
          </a:p>
        </p:txBody>
      </p:sp>
    </p:spTree>
    <p:extLst>
      <p:ext uri="{BB962C8B-B14F-4D97-AF65-F5344CB8AC3E}">
        <p14:creationId xmlns:p14="http://schemas.microsoft.com/office/powerpoint/2010/main" val="3252486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a:t>
            </a:fld>
            <a:endParaRPr lang="en-US"/>
          </a:p>
        </p:txBody>
      </p:sp>
    </p:spTree>
    <p:extLst>
      <p:ext uri="{BB962C8B-B14F-4D97-AF65-F5344CB8AC3E}">
        <p14:creationId xmlns:p14="http://schemas.microsoft.com/office/powerpoint/2010/main" val="2788639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a:t>
            </a:fld>
            <a:endParaRPr lang="en-US"/>
          </a:p>
        </p:txBody>
      </p:sp>
    </p:spTree>
    <p:extLst>
      <p:ext uri="{BB962C8B-B14F-4D97-AF65-F5344CB8AC3E}">
        <p14:creationId xmlns:p14="http://schemas.microsoft.com/office/powerpoint/2010/main" val="4220632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a:t>
            </a:fld>
            <a:endParaRPr lang="en-US"/>
          </a:p>
        </p:txBody>
      </p:sp>
    </p:spTree>
    <p:extLst>
      <p:ext uri="{BB962C8B-B14F-4D97-AF65-F5344CB8AC3E}">
        <p14:creationId xmlns:p14="http://schemas.microsoft.com/office/powerpoint/2010/main" val="745117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4</a:t>
            </a:fld>
            <a:endParaRPr lang="en-US"/>
          </a:p>
        </p:txBody>
      </p:sp>
    </p:spTree>
    <p:extLst>
      <p:ext uri="{BB962C8B-B14F-4D97-AF65-F5344CB8AC3E}">
        <p14:creationId xmlns:p14="http://schemas.microsoft.com/office/powerpoint/2010/main" val="3022067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Building enterprise AI solutions at scale requires more than deploying models—it demands a secure, governed, cost-optimized infrastructure platform that enables innovation while maintaining compliance and control. The Azure AI Landing Zone (AI ALZ) provides this foundation by extending the proven Azure Cloud Adoption Framework (CAF) landing zone pattern specifically for AI workloads.
This document addresses the critical pain points organizations face when scaling AI:
Security and compliance challenges: Public endpoints, API key sprawl, data residency violations, lack of audit trails.
Cost unpredictability: Uncontrolled model usage, quota exhaustion, inefficient capacity planning.
Infrastructure sprawl: Every team building isolated AI silos, duplicating networking/security/monitoring.
Integration complexity: Connecting applications built with Agent Framework, Semantic Kernel, and Foundry Agent Service to shared infrastructure.
Operational overhead: Manual deployments, inconsistent configurations, no centralized monitoring or chargeback. 
 Image source: AI-generated</a:t>
            </a:r>
          </a:p>
        </p:txBody>
      </p:sp>
      <p:sp>
        <p:nvSpPr>
          <p:cNvPr id="4" name="Slide Number Placeholder 3"/>
          <p:cNvSpPr>
            <a:spLocks noGrp="1"/>
          </p:cNvSpPr>
          <p:nvPr>
            <p:ph type="sldNum" sz="quarter" idx="5"/>
          </p:nvPr>
        </p:nvSpPr>
        <p:spPr/>
        <p:txBody>
          <a:bodyPr/>
          <a:lstStyle/>
          <a:p>
            <a:fld id="{2894FBEC-F57E-4723-877D-B23C4763D6E2}" type="slidenum">
              <a:t>5</a:t>
            </a:fld>
            <a:endParaRPr lang="en-GB"/>
          </a:p>
        </p:txBody>
      </p:sp>
    </p:spTree>
    <p:extLst>
      <p:ext uri="{BB962C8B-B14F-4D97-AF65-F5344CB8AC3E}">
        <p14:creationId xmlns:p14="http://schemas.microsoft.com/office/powerpoint/2010/main" val="586761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AI ALZ solves these problems through:
Centralized, reusable AI infrastructure with hub-and-spoke networking, private endpoints, and unified security policies.
API Management (APIM) gateway providing intelligent routing, authentication, rate limiting, and usage tracking across multiple Azure OpenAI instances.
Infrastructure-as-code (IaC) templates (Bicep/Terraform) enabling "vending machine" self-service deployment for application teams.
Integrated monitoring, cost allocation, and governance through Azure Monitor, Defender for Cloud, and Microsoft Purview.
Clear guidance on PTU vs pay-as-you-go deployment models based on usage patterns and cost optimization.
40–60% reduction in AI infrastructure deployment time through standardized templates. 
 Image source: AI-generated</a:t>
            </a:r>
          </a:p>
        </p:txBody>
      </p:sp>
      <p:sp>
        <p:nvSpPr>
          <p:cNvPr id="4" name="Slide Number Placeholder 3"/>
          <p:cNvSpPr>
            <a:spLocks noGrp="1"/>
          </p:cNvSpPr>
          <p:nvPr>
            <p:ph type="sldNum" sz="quarter" idx="5"/>
          </p:nvPr>
        </p:nvSpPr>
        <p:spPr/>
        <p:txBody>
          <a:bodyPr/>
          <a:lstStyle/>
          <a:p>
            <a:fld id="{2894FBEC-F57E-4723-877D-B23C4763D6E2}" type="slidenum">
              <a:t>6</a:t>
            </a:fld>
            <a:endParaRPr lang="en-GB"/>
          </a:p>
        </p:txBody>
      </p:sp>
    </p:spTree>
    <p:extLst>
      <p:ext uri="{BB962C8B-B14F-4D97-AF65-F5344CB8AC3E}">
        <p14:creationId xmlns:p14="http://schemas.microsoft.com/office/powerpoint/2010/main" val="1650549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7</a:t>
            </a:fld>
            <a:endParaRPr lang="en-US"/>
          </a:p>
        </p:txBody>
      </p:sp>
    </p:spTree>
    <p:extLst>
      <p:ext uri="{BB962C8B-B14F-4D97-AF65-F5344CB8AC3E}">
        <p14:creationId xmlns:p14="http://schemas.microsoft.com/office/powerpoint/2010/main" val="2153670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8</a:t>
            </a:fld>
            <a:endParaRPr lang="en-US"/>
          </a:p>
        </p:txBody>
      </p:sp>
    </p:spTree>
    <p:extLst>
      <p:ext uri="{BB962C8B-B14F-4D97-AF65-F5344CB8AC3E}">
        <p14:creationId xmlns:p14="http://schemas.microsoft.com/office/powerpoint/2010/main" val="3674521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Pain point 1: Public endpoints and API key exposure
By default, Azure OpenAI endpoints are publicly accessible with API key authentication. This creates:
Risk of credential leakage in source code, logs, or documentation.
No network isolation—anyone with a key can call the endpoint from anywhere.
Compliance violations for regulated industries (finance, healthcare, government) requiring private network access.
Solution: AI ALZ enforces private endpoints for all AI services (Azure OpenAI, AI Search, Foundry Agent Service), combined with NSGs and Azure Firewall. Authentication uses managed identities and Entra ID tokens, eliminating API keys.
Pain point 2: Data residency and sovereignty
Global Standard deployments may process data outside the customer's specified geography, violating GDPR, local data protection laws, or internal policies.
Solution: AI ALZ supports Data Zone Standard and Provisioned deployments with guaranteed data residency within EU or US zones. Architecture enforces region constraints via Azure Policy.
Pain point 3: Lack of audit trails and threat detection
Raw Azure OpenAI usage provides minimal visibility into who accessed what, when, and with what prompts. No detection of jailbreak attempts, data exfiltration, or unauthorized usage.
Solution: AI ALZ integrates Defender for AI (threat protection), Azure Monitor (audit logs), Application Insights (request tracing), and Microsoft Purview (data governance). Every request is logged with user identity, prompt content (configurable), and response metadata. 
 Image source: AI-generated</a:t>
            </a:r>
          </a:p>
        </p:txBody>
      </p:sp>
      <p:sp>
        <p:nvSpPr>
          <p:cNvPr id="4" name="Slide Number Placeholder 3"/>
          <p:cNvSpPr>
            <a:spLocks noGrp="1"/>
          </p:cNvSpPr>
          <p:nvPr>
            <p:ph type="sldNum" sz="quarter" idx="5"/>
          </p:nvPr>
        </p:nvSpPr>
        <p:spPr/>
        <p:txBody>
          <a:bodyPr/>
          <a:lstStyle/>
          <a:p>
            <a:fld id="{2894FBEC-F57E-4723-877D-B23C4763D6E2}" type="slidenum">
              <a:t>9</a:t>
            </a:fld>
            <a:endParaRPr lang="en-GB"/>
          </a:p>
        </p:txBody>
      </p:sp>
    </p:spTree>
    <p:extLst>
      <p:ext uri="{BB962C8B-B14F-4D97-AF65-F5344CB8AC3E}">
        <p14:creationId xmlns:p14="http://schemas.microsoft.com/office/powerpoint/2010/main" val="2445579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 ALZ implements comprehensive Zero Trust controls:
Principle 1: Verify explicitly
All requests authenticated via Entra ID (OAuth 2.0 / JWT tokens).
No API keys in production (use managed identities for service-to-service).
MFA enforced for human users accessing management plane.
Principle 2: Use least-privilege access
RBAC roles scoped to minimum permissions (Reader vs Contributor vs Owner).
Custom roles for application teams (can deploy to app landing zone, cannot modify hub).
Privileged Identity Management (PIM) for just-in-time admin access.
Principle 3: Assume breach
Network segmentation via NSGs and subnets (APIM, AI services, apps isolated).
Private endpoints only—no public IPs on Azure OpenAI, AI Search, Foundry.
Azure Firewall inspects outbound traffic; can block unapproved model providers.
Defender for AI monitors for prompt injection, jailbreak, data exfiltration. 
 Image source: AI-generated</a:t>
            </a:r>
          </a:p>
        </p:txBody>
      </p:sp>
      <p:sp>
        <p:nvSpPr>
          <p:cNvPr id="4" name="Slide Number Placeholder 3"/>
          <p:cNvSpPr>
            <a:spLocks noGrp="1"/>
          </p:cNvSpPr>
          <p:nvPr>
            <p:ph type="sldNum" sz="quarter" idx="5"/>
          </p:nvPr>
        </p:nvSpPr>
        <p:spPr/>
        <p:txBody>
          <a:bodyPr/>
          <a:lstStyle/>
          <a:p>
            <a:fld id="{2894FBEC-F57E-4723-877D-B23C4763D6E2}" type="slidenum">
              <a:t>10</a:t>
            </a:fld>
            <a:endParaRPr lang="en-GB"/>
          </a:p>
        </p:txBody>
      </p:sp>
    </p:spTree>
    <p:extLst>
      <p:ext uri="{BB962C8B-B14F-4D97-AF65-F5344CB8AC3E}">
        <p14:creationId xmlns:p14="http://schemas.microsoft.com/office/powerpoint/2010/main" val="166632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Custom policies enforced at AI Hub subscription scope:
Require private endpoints: Deny creation of Azure OpenAI/AI Search with public network access enabled.
Mandate managed identities: Deny APIM connections using API keys; require system/user-assigned identities.
Enforce guardrails: Require all Azure OpenAI deployments to have content filter (default or custom).
Data residency: Deny deployment of models in non-approved regions (e.g., only West Europe, North Europe for GDPR).
Tagging standards: Require BusinessUnit, CostCenter, Environment tags on all resources.
Policy compliance dashboard:
Defender for Cloud Regulatory Compliance blade shows % compliance with policies.
Non-compliant resources automatically flagged for remediation.
Data classification: Scan storage accounts and AI Search indexes to identify PII, financial data, health records.
Lineage tracking: Visualize data flow from source (Fabric, Databricks) → AI Search → Azure OpenAI → Application.
Access auditing: Log who accessed what knowledge sources and when. 
 Image source: AI-generated</a:t>
            </a:r>
          </a:p>
        </p:txBody>
      </p:sp>
      <p:sp>
        <p:nvSpPr>
          <p:cNvPr id="4" name="Slide Number Placeholder 3"/>
          <p:cNvSpPr>
            <a:spLocks noGrp="1"/>
          </p:cNvSpPr>
          <p:nvPr>
            <p:ph type="sldNum" sz="quarter" idx="5"/>
          </p:nvPr>
        </p:nvSpPr>
        <p:spPr/>
        <p:txBody>
          <a:bodyPr/>
          <a:lstStyle/>
          <a:p>
            <a:fld id="{2894FBEC-F57E-4723-877D-B23C4763D6E2}" type="slidenum">
              <a:t>11</a:t>
            </a:fld>
            <a:endParaRPr lang="en-GB"/>
          </a:p>
        </p:txBody>
      </p:sp>
    </p:spTree>
    <p:extLst>
      <p:ext uri="{BB962C8B-B14F-4D97-AF65-F5344CB8AC3E}">
        <p14:creationId xmlns:p14="http://schemas.microsoft.com/office/powerpoint/2010/main" val="542273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12</a:t>
            </a:fld>
            <a:endParaRPr lang="en-US"/>
          </a:p>
        </p:txBody>
      </p:sp>
    </p:spTree>
    <p:extLst>
      <p:ext uri="{BB962C8B-B14F-4D97-AF65-F5344CB8AC3E}">
        <p14:creationId xmlns:p14="http://schemas.microsoft.com/office/powerpoint/2010/main" val="30139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13</a:t>
            </a:fld>
            <a:endParaRPr lang="en-US"/>
          </a:p>
        </p:txBody>
      </p:sp>
    </p:spTree>
    <p:extLst>
      <p:ext uri="{BB962C8B-B14F-4D97-AF65-F5344CB8AC3E}">
        <p14:creationId xmlns:p14="http://schemas.microsoft.com/office/powerpoint/2010/main" val="1400900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AI ALZ follows Azure Cloud Adoption Framework (CAF) landing zone design principles:
Hub-and-spoke topology: Centralized connectivity hub with isolated application landing zones (spokes).
Policy-driven governance: Azure Policy enforces security baselines, naming conventions, tagging, and resource configurations.
Zero Trust security: No public endpoints, managed identities, network isolation, least-privilege RBAC.
Infrastructure as code: All resources deployed via Bicep/Terraform with version control and CI/CD pipelines.
Segregation of duties: Platform team manages hub and core AI infra; application teams manage their spokes with guardrails. 
 Image source: AI-generated</a:t>
            </a:r>
          </a:p>
        </p:txBody>
      </p:sp>
      <p:sp>
        <p:nvSpPr>
          <p:cNvPr id="4" name="Slide Number Placeholder 3"/>
          <p:cNvSpPr>
            <a:spLocks noGrp="1"/>
          </p:cNvSpPr>
          <p:nvPr>
            <p:ph type="sldNum" sz="quarter" idx="5"/>
          </p:nvPr>
        </p:nvSpPr>
        <p:spPr/>
        <p:txBody>
          <a:bodyPr/>
          <a:lstStyle/>
          <a:p>
            <a:fld id="{2894FBEC-F57E-4723-877D-B23C4763D6E2}" type="slidenum">
              <a:t>14</a:t>
            </a:fld>
            <a:endParaRPr lang="en-GB"/>
          </a:p>
        </p:txBody>
      </p:sp>
    </p:spTree>
    <p:extLst>
      <p:ext uri="{BB962C8B-B14F-4D97-AF65-F5344CB8AC3E}">
        <p14:creationId xmlns:p14="http://schemas.microsoft.com/office/powerpoint/2010/main" val="3695521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AI ALZ consists of three logical layers:
Layer 1: Platform Landing Zones (managed by platform team)
Layer 2: AI Hub Landing Zone (Core AI Infrastructure)
This is the centralized AI platform shared by multiple applications.
Layer 3: Application Landing Zones (AI App Spokes)
Each application team gets an isolated spoke subscription peered to the hub. 
 Image source: AI-generated</a:t>
            </a:r>
          </a:p>
        </p:txBody>
      </p:sp>
      <p:sp>
        <p:nvSpPr>
          <p:cNvPr id="4" name="Slide Number Placeholder 3"/>
          <p:cNvSpPr>
            <a:spLocks noGrp="1"/>
          </p:cNvSpPr>
          <p:nvPr>
            <p:ph type="sldNum" sz="quarter" idx="5"/>
          </p:nvPr>
        </p:nvSpPr>
        <p:spPr/>
        <p:txBody>
          <a:bodyPr/>
          <a:lstStyle/>
          <a:p>
            <a:fld id="{2894FBEC-F57E-4723-877D-B23C4763D6E2}" type="slidenum">
              <a:t>15</a:t>
            </a:fld>
            <a:endParaRPr lang="en-GB"/>
          </a:p>
        </p:txBody>
      </p:sp>
    </p:spTree>
    <p:extLst>
      <p:ext uri="{BB962C8B-B14F-4D97-AF65-F5344CB8AC3E}">
        <p14:creationId xmlns:p14="http://schemas.microsoft.com/office/powerpoint/2010/main" val="1377248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16</a:t>
            </a:fld>
            <a:endParaRPr lang="en-US"/>
          </a:p>
        </p:txBody>
      </p:sp>
    </p:spTree>
    <p:extLst>
      <p:ext uri="{BB962C8B-B14F-4D97-AF65-F5344CB8AC3E}">
        <p14:creationId xmlns:p14="http://schemas.microsoft.com/office/powerpoint/2010/main" val="1516338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17</a:t>
            </a:fld>
            <a:endParaRPr lang="en-US"/>
          </a:p>
        </p:txBody>
      </p:sp>
    </p:spTree>
    <p:extLst>
      <p:ext uri="{BB962C8B-B14F-4D97-AF65-F5344CB8AC3E}">
        <p14:creationId xmlns:p14="http://schemas.microsoft.com/office/powerpoint/2010/main" val="2298486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18</a:t>
            </a:fld>
            <a:endParaRPr lang="en-US"/>
          </a:p>
        </p:txBody>
      </p:sp>
    </p:spTree>
    <p:extLst>
      <p:ext uri="{BB962C8B-B14F-4D97-AF65-F5344CB8AC3E}">
        <p14:creationId xmlns:p14="http://schemas.microsoft.com/office/powerpoint/2010/main" val="3163237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19</a:t>
            </a:fld>
            <a:endParaRPr lang="en-US"/>
          </a:p>
        </p:txBody>
      </p:sp>
    </p:spTree>
    <p:extLst>
      <p:ext uri="{BB962C8B-B14F-4D97-AF65-F5344CB8AC3E}">
        <p14:creationId xmlns:p14="http://schemas.microsoft.com/office/powerpoint/2010/main" val="3573464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20</a:t>
            </a:fld>
            <a:endParaRPr lang="en-US"/>
          </a:p>
        </p:txBody>
      </p:sp>
    </p:spTree>
    <p:extLst>
      <p:ext uri="{BB962C8B-B14F-4D97-AF65-F5344CB8AC3E}">
        <p14:creationId xmlns:p14="http://schemas.microsoft.com/office/powerpoint/2010/main" val="1592358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21</a:t>
            </a:fld>
            <a:endParaRPr lang="en-US"/>
          </a:p>
        </p:txBody>
      </p:sp>
    </p:spTree>
    <p:extLst>
      <p:ext uri="{BB962C8B-B14F-4D97-AF65-F5344CB8AC3E}">
        <p14:creationId xmlns:p14="http://schemas.microsoft.com/office/powerpoint/2010/main" val="761552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When to use which:
Agent Framework: Building new multi-agent systems from scratch, need portability (local dev → cloud), prefer code-first approach.
Semantic Kernel: Existing SK investment, single-agent chatbots, plugins for enterprise SaaS (SharePoint, Dynamics).
Foundry Agent Service: Want Azure to manage infrastructure, need workflows, evaluation pipelines, or Teams/M365 publishing.
Can you mix frameworks? Yes. Example:
Foundry Agent Service hosts orchestrator agent (entry point).
Orchestrator calls specialized agents built with Agent Framework (via A2A protocol).
Specialized agents use Semantic Kernel plugins for SharePoint/Dynamics integration.
Scenario: Application built with Microsoft Agent Framework (C#) running in AKS, needs to call Azure OpenAI via APIM in AI Hub.
Code pattern:
using Azure.Identity;</a:t>
            </a:r>
          </a:p>
          <a:p>
            <a:r>
              <a:rPr lang="en-GB"/>
              <a:t>
using Microsoft.Extensions.AI;</a:t>
            </a:r>
          </a:p>
          <a:p>
            <a:r>
              <a:rPr lang="en-GB"/>
              <a:t>
using Microsoft.Agents.AI;
// 1. Authenticate with managed identity</a:t>
            </a:r>
          </a:p>
          <a:p>
            <a:r>
              <a:rPr lang="en-GB"/>
              <a:t>
var credential = new DefaultAzureCredential();
// 2. Create AI project client (or directly use chat client)</a:t>
            </a:r>
          </a:p>
          <a:p>
            <a:r>
              <a:rPr lang="en-GB"/>
              <a:t>
var chatClient = new AzureOpenAIClient(</a:t>
            </a:r>
          </a:p>
          <a:p>
            <a:r>
              <a:rPr lang="en-GB"/>
              <a:t>
new Uri("https://my-apim.azure-api.net/openai/deployments/gpt-4.1/chat/completions"),</a:t>
            </a:r>
          </a:p>
          <a:p>
            <a:r>
              <a:rPr lang="en-GB"/>
              <a:t>
credential</a:t>
            </a:r>
          </a:p>
          <a:p>
            <a:r>
              <a:rPr lang="en-GB"/>
              <a:t>
); 
 Image source: AI-generated</a:t>
            </a:r>
          </a:p>
        </p:txBody>
      </p:sp>
      <p:sp>
        <p:nvSpPr>
          <p:cNvPr id="4" name="Slide Number Placeholder 3"/>
          <p:cNvSpPr>
            <a:spLocks noGrp="1"/>
          </p:cNvSpPr>
          <p:nvPr>
            <p:ph type="sldNum" sz="quarter" idx="5"/>
          </p:nvPr>
        </p:nvSpPr>
        <p:spPr/>
        <p:txBody>
          <a:bodyPr/>
          <a:lstStyle/>
          <a:p>
            <a:fld id="{2894FBEC-F57E-4723-877D-B23C4763D6E2}" type="slidenum">
              <a:t>22</a:t>
            </a:fld>
            <a:endParaRPr lang="en-GB"/>
          </a:p>
        </p:txBody>
      </p:sp>
    </p:spTree>
    <p:extLst>
      <p:ext uri="{BB962C8B-B14F-4D97-AF65-F5344CB8AC3E}">
        <p14:creationId xmlns:p14="http://schemas.microsoft.com/office/powerpoint/2010/main" val="1289707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23</a:t>
            </a:fld>
            <a:endParaRPr lang="en-US"/>
          </a:p>
        </p:txBody>
      </p:sp>
    </p:spTree>
    <p:extLst>
      <p:ext uri="{BB962C8B-B14F-4D97-AF65-F5344CB8AC3E}">
        <p14:creationId xmlns:p14="http://schemas.microsoft.com/office/powerpoint/2010/main" val="14259462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 ALZ costs fall into three categories:
Category A: Platform Landing Zones (shared across all AI workloads)
These costs are typically allocated as overhead or spread across applications.
Category B: AI Hub Core Infrastructure (per hub)
This is the "Core AI Infra" shared by applications in that hub. These components scale with AI workload volume and represent the majority of AI-specific costs (60–75% of total AI ALZ spend).
Scaling considerations:
10 applications: 1 APIM Premium unit, 50 PTUs, 1 AI Search S1 (shared indexes) = $7k/month.
50 applications: 2 APIM units ($5,500), 150 PTUs ($10,800), 2 AI Search S2 instances ($2,000) = $18.3k/month hub core.
100 applications: 3 APIM units ($8,200), 300 PTUs ($21,600), 4 AI Search S2 instances ($4,000) = $33.8k/month hub core.
Per-app cost decreases with scale due to shared infrastructure amortization:
10 apps: $700/app/month (hub core only).
50 apps: $366/app/month (48% per-app savings).
100 apps: $338/app/month (52% per-app savings).
This demonstrates economies of scale in centralized AI Hub model vs per-app dedicated infrastructure. 
 Image source: AI-generated</a:t>
            </a:r>
          </a:p>
        </p:txBody>
      </p:sp>
      <p:sp>
        <p:nvSpPr>
          <p:cNvPr id="4" name="Slide Number Placeholder 3"/>
          <p:cNvSpPr>
            <a:spLocks noGrp="1"/>
          </p:cNvSpPr>
          <p:nvPr>
            <p:ph type="sldNum" sz="quarter" idx="5"/>
          </p:nvPr>
        </p:nvSpPr>
        <p:spPr/>
        <p:txBody>
          <a:bodyPr/>
          <a:lstStyle/>
          <a:p>
            <a:fld id="{2894FBEC-F57E-4723-877D-B23C4763D6E2}" type="slidenum">
              <a:t>24</a:t>
            </a:fld>
            <a:endParaRPr lang="en-GB"/>
          </a:p>
        </p:txBody>
      </p:sp>
    </p:spTree>
    <p:extLst>
      <p:ext uri="{BB962C8B-B14F-4D97-AF65-F5344CB8AC3E}">
        <p14:creationId xmlns:p14="http://schemas.microsoft.com/office/powerpoint/2010/main" val="181017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25</a:t>
            </a:fld>
            <a:endParaRPr lang="en-US"/>
          </a:p>
        </p:txBody>
      </p:sp>
    </p:spTree>
    <p:extLst>
      <p:ext uri="{BB962C8B-B14F-4D97-AF65-F5344CB8AC3E}">
        <p14:creationId xmlns:p14="http://schemas.microsoft.com/office/powerpoint/2010/main" val="1722401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Formula:
Monthly PTU cost ÷ Monthly PAYG cost (at 100% PTU utilization) = Break-even utilization %
If your actual utilization exceeds break-even %, PTU is cheaper.
Example (GPT-4.1, Data Zone Standard):
50 PTUs monthly reservation: $3,600/month
50 PTUs capacity: ~50M tokens/day (1M tokens/PTU/day rule of thumb)
Monthly capacity: 50M × 30 = 1.5B tokens/month
PAYG cost for 1.5B tokens: 1B input × $2.50 + 0.5B output × $10 = $7,500
Break-even utilization: $3,600 ÷ $7,500 = 48%
If you use &gt;48% of PTU capacity (&gt;720M tokens/month), PTU saves money. If &lt;48%, PAYG is cheaper.
Annual PTU reservation discount:
Monthly PTU: $72/PTU/month
Annual PTU: $47/PTU/month (35% discount) 
 Image source: AI-generated</a:t>
            </a:r>
          </a:p>
        </p:txBody>
      </p:sp>
      <p:sp>
        <p:nvSpPr>
          <p:cNvPr id="4" name="Slide Number Placeholder 3"/>
          <p:cNvSpPr>
            <a:spLocks noGrp="1"/>
          </p:cNvSpPr>
          <p:nvPr>
            <p:ph type="sldNum" sz="quarter" idx="5"/>
          </p:nvPr>
        </p:nvSpPr>
        <p:spPr/>
        <p:txBody>
          <a:bodyPr/>
          <a:lstStyle/>
          <a:p>
            <a:fld id="{2894FBEC-F57E-4723-877D-B23C4763D6E2}" type="slidenum">
              <a:t>26</a:t>
            </a:fld>
            <a:endParaRPr lang="en-GB"/>
          </a:p>
        </p:txBody>
      </p:sp>
    </p:spTree>
    <p:extLst>
      <p:ext uri="{BB962C8B-B14F-4D97-AF65-F5344CB8AC3E}">
        <p14:creationId xmlns:p14="http://schemas.microsoft.com/office/powerpoint/2010/main" val="38994082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27</a:t>
            </a:fld>
            <a:endParaRPr lang="en-US"/>
          </a:p>
        </p:txBody>
      </p:sp>
    </p:spTree>
    <p:extLst>
      <p:ext uri="{BB962C8B-B14F-4D97-AF65-F5344CB8AC3E}">
        <p14:creationId xmlns:p14="http://schemas.microsoft.com/office/powerpoint/2010/main" val="4123254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28</a:t>
            </a:fld>
            <a:endParaRPr lang="en-US"/>
          </a:p>
        </p:txBody>
      </p:sp>
    </p:spTree>
    <p:extLst>
      <p:ext uri="{BB962C8B-B14F-4D97-AF65-F5344CB8AC3E}">
        <p14:creationId xmlns:p14="http://schemas.microsoft.com/office/powerpoint/2010/main" val="35104444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29</a:t>
            </a:fld>
            <a:endParaRPr lang="en-US"/>
          </a:p>
        </p:txBody>
      </p:sp>
    </p:spTree>
    <p:extLst>
      <p:ext uri="{BB962C8B-B14F-4D97-AF65-F5344CB8AC3E}">
        <p14:creationId xmlns:p14="http://schemas.microsoft.com/office/powerpoint/2010/main" val="3617020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30</a:t>
            </a:fld>
            <a:endParaRPr lang="en-US"/>
          </a:p>
        </p:txBody>
      </p:sp>
    </p:spTree>
    <p:extLst>
      <p:ext uri="{BB962C8B-B14F-4D97-AF65-F5344CB8AC3E}">
        <p14:creationId xmlns:p14="http://schemas.microsoft.com/office/powerpoint/2010/main" val="1796030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31</a:t>
            </a:fld>
            <a:endParaRPr lang="en-US"/>
          </a:p>
        </p:txBody>
      </p:sp>
    </p:spTree>
    <p:extLst>
      <p:ext uri="{BB962C8B-B14F-4D97-AF65-F5344CB8AC3E}">
        <p14:creationId xmlns:p14="http://schemas.microsoft.com/office/powerpoint/2010/main" val="18405870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32</a:t>
            </a:fld>
            <a:endParaRPr lang="en-US"/>
          </a:p>
        </p:txBody>
      </p:sp>
    </p:spTree>
    <p:extLst>
      <p:ext uri="{BB962C8B-B14F-4D97-AF65-F5344CB8AC3E}">
        <p14:creationId xmlns:p14="http://schemas.microsoft.com/office/powerpoint/2010/main" val="4280470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33</a:t>
            </a:fld>
            <a:endParaRPr lang="en-US"/>
          </a:p>
        </p:txBody>
      </p:sp>
    </p:spTree>
    <p:extLst>
      <p:ext uri="{BB962C8B-B14F-4D97-AF65-F5344CB8AC3E}">
        <p14:creationId xmlns:p14="http://schemas.microsoft.com/office/powerpoint/2010/main" val="40762742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34</a:t>
            </a:fld>
            <a:endParaRPr lang="en-US"/>
          </a:p>
        </p:txBody>
      </p:sp>
    </p:spTree>
    <p:extLst>
      <p:ext uri="{BB962C8B-B14F-4D97-AF65-F5344CB8AC3E}">
        <p14:creationId xmlns:p14="http://schemas.microsoft.com/office/powerpoint/2010/main" val="19185940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35</a:t>
            </a:fld>
            <a:endParaRPr lang="en-US"/>
          </a:p>
        </p:txBody>
      </p:sp>
    </p:spTree>
    <p:extLst>
      <p:ext uri="{BB962C8B-B14F-4D97-AF65-F5344CB8AC3E}">
        <p14:creationId xmlns:p14="http://schemas.microsoft.com/office/powerpoint/2010/main" val="2134570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All resources send diagnostics to centralized Log Analytics workspace (in Management subscription).
Application Insights instances in app spokes linked to same workspace (unified query).
Distributed tracing enabled (correlation IDs propagated across services).
Key log sources:
APIM: Request logs (timestamp, user, deployment, tokens, latency, status code).
Azure OpenAI: Model inference logs (prompt/response optionally captured).
Application Insights: App telemetry (exceptions, custom events, dependencies).
NSG Flow Logs: Network traffic patterns, denied connections.
Azure Firewall: Outbound connections, threat intelligence matches.
Sample KQL query (token usage by user and model):
ApiManagementGatewayLogs</a:t>
            </a:r>
          </a:p>
          <a:p>
            <a:r>
              <a:rPr lang="en-GB"/>
              <a:t>
| where TimeGenerated &gt; ago(30d)</a:t>
            </a:r>
          </a:p>
          <a:p>
            <a:r>
              <a:rPr lang="en-GB"/>
              <a:t>
| extend UserId = tostring(parse_json(RequestHeaders)["Authorization"])</a:t>
            </a:r>
          </a:p>
          <a:p>
            <a:r>
              <a:rPr lang="en-GB"/>
              <a:t>
| extend Tokens = toint(ResponseHeaders["x-ratelimit-usage-tokens"])</a:t>
            </a:r>
          </a:p>
          <a:p>
            <a:r>
              <a:rPr lang="en-GB"/>
              <a:t>
| summarize TotalTokens = sum(Tokens), Requests = count() by UserId, BackendId</a:t>
            </a:r>
          </a:p>
          <a:p>
            <a:r>
              <a:rPr lang="en-GB"/>
              <a:t>
| order by TotalTokens desc
Problem: How to attribute AI infra costs to business units/applications for internal billing? 
 Image source: AI-generated</a:t>
            </a:r>
          </a:p>
        </p:txBody>
      </p:sp>
      <p:sp>
        <p:nvSpPr>
          <p:cNvPr id="4" name="Slide Number Placeholder 3"/>
          <p:cNvSpPr>
            <a:spLocks noGrp="1"/>
          </p:cNvSpPr>
          <p:nvPr>
            <p:ph type="sldNum" sz="quarter" idx="5"/>
          </p:nvPr>
        </p:nvSpPr>
        <p:spPr/>
        <p:txBody>
          <a:bodyPr/>
          <a:lstStyle/>
          <a:p>
            <a:fld id="{2894FBEC-F57E-4723-877D-B23C4763D6E2}" type="slidenum">
              <a:t>36</a:t>
            </a:fld>
            <a:endParaRPr lang="en-GB"/>
          </a:p>
        </p:txBody>
      </p:sp>
    </p:spTree>
    <p:extLst>
      <p:ext uri="{BB962C8B-B14F-4D97-AF65-F5344CB8AC3E}">
        <p14:creationId xmlns:p14="http://schemas.microsoft.com/office/powerpoint/2010/main" val="1689427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37</a:t>
            </a:fld>
            <a:endParaRPr lang="en-US"/>
          </a:p>
        </p:txBody>
      </p:sp>
    </p:spTree>
    <p:extLst>
      <p:ext uri="{BB962C8B-B14F-4D97-AF65-F5344CB8AC3E}">
        <p14:creationId xmlns:p14="http://schemas.microsoft.com/office/powerpoint/2010/main" val="1318810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Azure AI Landing Zone accelerators (official Microsoft repos):
Bicep: github.com/Azure/AI-Landing-Zones (Foundry Hub + Agent Landing Zones)
Terraform: Same repo includes Terraform modules
Portal: Azure portal UI for guided deployment (slower, less repeatable)
Vending machine pattern (CI/CD automation):
Platform team maintains IaC templates in Git (Azure DevOps Repos or GitHub).
Application team submits request via ServiceNow, Jira, or custom portal.
Request includes: business unit, environment (dev/prod), models needed, quota, regions.
Approval workflow (manager + platform team architect).
CI/CD pipeline (GitHub Actions or Azure Pipelines) triggers deployment.
Parameters file generated from request form.
Bicep/Terraform executed with service principal credentials.
Resources deployed in 20–40 minutes.
App team notified with APIM endpoint, managed identity GUID, documentation. 
 Image source: AI-generated</a:t>
            </a:r>
          </a:p>
        </p:txBody>
      </p:sp>
      <p:sp>
        <p:nvSpPr>
          <p:cNvPr id="4" name="Slide Number Placeholder 3"/>
          <p:cNvSpPr>
            <a:spLocks noGrp="1"/>
          </p:cNvSpPr>
          <p:nvPr>
            <p:ph type="sldNum" sz="quarter" idx="5"/>
          </p:nvPr>
        </p:nvSpPr>
        <p:spPr/>
        <p:txBody>
          <a:bodyPr/>
          <a:lstStyle/>
          <a:p>
            <a:fld id="{2894FBEC-F57E-4723-877D-B23C4763D6E2}" type="slidenum">
              <a:t>38</a:t>
            </a:fld>
            <a:endParaRPr lang="en-GB"/>
          </a:p>
        </p:txBody>
      </p:sp>
    </p:spTree>
    <p:extLst>
      <p:ext uri="{BB962C8B-B14F-4D97-AF65-F5344CB8AC3E}">
        <p14:creationId xmlns:p14="http://schemas.microsoft.com/office/powerpoint/2010/main" val="2418197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39</a:t>
            </a:fld>
            <a:endParaRPr lang="en-US"/>
          </a:p>
        </p:txBody>
      </p:sp>
    </p:spTree>
    <p:extLst>
      <p:ext uri="{BB962C8B-B14F-4D97-AF65-F5344CB8AC3E}">
        <p14:creationId xmlns:p14="http://schemas.microsoft.com/office/powerpoint/2010/main" val="1048266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Current state (typical before AI ALZ):
5–10 application teams each have their own Azure OpenAI accounts.
Public endpoints with API keys in config files.
No centralized monitoring or cost tracking.
Inconsistent security policies, some apps compliant, others not.
Target state:
Centralized AI Hub landing zone serving all applications.
Private endpoints, managed identities, APIM gateway.
Unified monitoring, chargeback, and governance.
Phase 1: Assessment and planning (2–4 weeks)
Inventory existing Azure OpenAI accounts, deployments, quotas.
Map applications to business units and owners.
Estimate token usage and costs per application. 
 Image source: AI-generated</a:t>
            </a:r>
          </a:p>
        </p:txBody>
      </p:sp>
      <p:sp>
        <p:nvSpPr>
          <p:cNvPr id="4" name="Slide Number Placeholder 3"/>
          <p:cNvSpPr>
            <a:spLocks noGrp="1"/>
          </p:cNvSpPr>
          <p:nvPr>
            <p:ph type="sldNum" sz="quarter" idx="5"/>
          </p:nvPr>
        </p:nvSpPr>
        <p:spPr/>
        <p:txBody>
          <a:bodyPr/>
          <a:lstStyle/>
          <a:p>
            <a:fld id="{2894FBEC-F57E-4723-877D-B23C4763D6E2}" type="slidenum">
              <a:t>40</a:t>
            </a:fld>
            <a:endParaRPr lang="en-GB"/>
          </a:p>
        </p:txBody>
      </p:sp>
    </p:spTree>
    <p:extLst>
      <p:ext uri="{BB962C8B-B14F-4D97-AF65-F5344CB8AC3E}">
        <p14:creationId xmlns:p14="http://schemas.microsoft.com/office/powerpoint/2010/main" val="528056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41</a:t>
            </a:fld>
            <a:endParaRPr lang="en-US"/>
          </a:p>
        </p:txBody>
      </p:sp>
    </p:spTree>
    <p:extLst>
      <p:ext uri="{BB962C8B-B14F-4D97-AF65-F5344CB8AC3E}">
        <p14:creationId xmlns:p14="http://schemas.microsoft.com/office/powerpoint/2010/main" val="3668320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42</a:t>
            </a:fld>
            <a:endParaRPr lang="en-US"/>
          </a:p>
        </p:txBody>
      </p:sp>
    </p:spTree>
    <p:extLst>
      <p:ext uri="{BB962C8B-B14F-4D97-AF65-F5344CB8AC3E}">
        <p14:creationId xmlns:p14="http://schemas.microsoft.com/office/powerpoint/2010/main" val="11379518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719626-85DA-4309-B2F4-70A9E672588C}" type="slidenum">
              <a:rPr lang="en-US" smtClean="0"/>
              <a:t>43</a:t>
            </a:fld>
            <a:endParaRPr lang="en-US"/>
          </a:p>
        </p:txBody>
      </p:sp>
    </p:spTree>
    <p:extLst>
      <p:ext uri="{BB962C8B-B14F-4D97-AF65-F5344CB8AC3E}">
        <p14:creationId xmlns:p14="http://schemas.microsoft.com/office/powerpoint/2010/main" val="1659718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0.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24.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1EE9-D2EB-5C33-5725-4B56BABCE8C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3CFF3D8-AB67-38B5-1DB8-13C26FBF2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FA9F7B-8A59-C812-FD25-1CBB6D6DA3C3}"/>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64DBB246-1223-15CE-B4CB-B70E38C04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B131C6-CA25-98DF-4895-90803E63BB2E}"/>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21724439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5CA2-6192-B719-0129-5B99DFC2B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1B096-5F51-307E-2A47-27DB991EE7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CC6AD-0EDA-F588-5329-96934F251567}"/>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BB81E12E-3351-7F31-096A-6AB3708B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33FE4-F459-6950-4CF0-F4CC2C5C6D6A}"/>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1722634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8F73-9284-754F-2F52-5CA80E2FE1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BD1591-AA24-2C74-8AFF-096689AB0B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CF26C6-800B-3E61-77C4-14D3B72FB232}"/>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5C8E1F0F-EBE5-4723-FC50-AAB6F2CE6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6C0FA-5807-18E5-587B-B7A2B7010CE9}"/>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200412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E9F2-628C-8C88-249F-BFAB163416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586485-B644-0558-A7FD-AEAED4D793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D71156-96F1-92CE-B6C3-F94A91C77D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CE0C72-0A44-3BEF-9C26-53713E0A8A37}"/>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6" name="Footer Placeholder 5">
            <a:extLst>
              <a:ext uri="{FF2B5EF4-FFF2-40B4-BE49-F238E27FC236}">
                <a16:creationId xmlns:a16="http://schemas.microsoft.com/office/drawing/2014/main" id="{393DD2E6-223F-35FA-E94D-9117D9FCAA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0FB03-F720-5DC2-E42E-B57B8403A976}"/>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4120702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6A22-53C5-7F35-DF9D-69CE4B1B14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5FDE2A-DA52-71E3-7C68-83F53C35E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5E3F1D-D3C0-24FE-284E-D5F1685FD9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7EFE4-4199-4006-38D6-DAA05F029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A10480-9ED0-5B36-B2B4-EF74717E55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8E6096-BD1F-82DC-C745-D6704A313E99}"/>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8" name="Footer Placeholder 7">
            <a:extLst>
              <a:ext uri="{FF2B5EF4-FFF2-40B4-BE49-F238E27FC236}">
                <a16:creationId xmlns:a16="http://schemas.microsoft.com/office/drawing/2014/main" id="{1D75FBAF-DF93-6D1A-1815-D8DB05A549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AF9DBD-E7D2-5098-97C5-9D308595623F}"/>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43909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5CF4B-55BB-19C7-00C7-FAB06E7B03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FF63C3-058A-49D0-E59D-77071B1AD16C}"/>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4" name="Footer Placeholder 3">
            <a:extLst>
              <a:ext uri="{FF2B5EF4-FFF2-40B4-BE49-F238E27FC236}">
                <a16:creationId xmlns:a16="http://schemas.microsoft.com/office/drawing/2014/main" id="{AE99C61C-F827-8DE6-FB2D-73A2F04720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21985B-B925-4C4C-6BF1-30AFC0EF3D04}"/>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4545220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3EEA2E-B00C-6BC8-BA81-0E2B79557586}"/>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3" name="Footer Placeholder 2">
            <a:extLst>
              <a:ext uri="{FF2B5EF4-FFF2-40B4-BE49-F238E27FC236}">
                <a16:creationId xmlns:a16="http://schemas.microsoft.com/office/drawing/2014/main" id="{D3D1D7F1-967E-33C6-6D1F-926BAC74DB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E66688-7FB0-59BE-80CA-2BC4807EC9C3}"/>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612090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onsors">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346B86B-2468-6155-A720-A0EFB753C672}"/>
              </a:ext>
            </a:extLst>
          </p:cNvPr>
          <p:cNvSpPr/>
          <p:nvPr userDrawn="1"/>
        </p:nvSpPr>
        <p:spPr>
          <a:xfrm>
            <a:off x="1" y="0"/>
            <a:ext cx="14869212" cy="7791254"/>
          </a:xfrm>
          <a:prstGeom prst="rect">
            <a:avLst/>
          </a:prstGeom>
          <a:solidFill>
            <a:schemeClr val="bg1">
              <a:alpha val="8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Imagen 8">
            <a:extLst>
              <a:ext uri="{FF2B5EF4-FFF2-40B4-BE49-F238E27FC236}">
                <a16:creationId xmlns:a16="http://schemas.microsoft.com/office/drawing/2014/main" id="{3FC26DAE-1827-C41B-7410-804EE11657A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33060" y="5381681"/>
            <a:ext cx="1325880" cy="1325880"/>
          </a:xfrm>
          <a:prstGeom prst="rect">
            <a:avLst/>
          </a:prstGeom>
        </p:spPr>
      </p:pic>
      <p:pic>
        <p:nvPicPr>
          <p:cNvPr id="11" name="Imagen 10">
            <a:extLst>
              <a:ext uri="{FF2B5EF4-FFF2-40B4-BE49-F238E27FC236}">
                <a16:creationId xmlns:a16="http://schemas.microsoft.com/office/drawing/2014/main" id="{AE193DA4-9750-86A2-1EBF-83A1C1D8584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90047" y="3977338"/>
            <a:ext cx="6201952" cy="868273"/>
          </a:xfrm>
          <a:prstGeom prst="rect">
            <a:avLst/>
          </a:prstGeom>
        </p:spPr>
      </p:pic>
      <p:pic>
        <p:nvPicPr>
          <p:cNvPr id="13" name="Gráfico 12">
            <a:extLst>
              <a:ext uri="{FF2B5EF4-FFF2-40B4-BE49-F238E27FC236}">
                <a16:creationId xmlns:a16="http://schemas.microsoft.com/office/drawing/2014/main" id="{91D64B98-4BAD-E3B2-D745-114C2B2B2D5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35542" y="4036391"/>
            <a:ext cx="4134090" cy="961768"/>
          </a:xfrm>
          <a:prstGeom prst="rect">
            <a:avLst/>
          </a:prstGeom>
        </p:spPr>
      </p:pic>
      <p:pic>
        <p:nvPicPr>
          <p:cNvPr id="15" name="Gráfico 14">
            <a:extLst>
              <a:ext uri="{FF2B5EF4-FFF2-40B4-BE49-F238E27FC236}">
                <a16:creationId xmlns:a16="http://schemas.microsoft.com/office/drawing/2014/main" id="{EFA429FA-AAD6-205B-7B6C-43F36B73A231}"/>
              </a:ext>
            </a:extLst>
          </p:cNvPr>
          <p:cNvPicPr>
            <a:picLocks noChangeAspect="1"/>
          </p:cNvPicPr>
          <p:nvPr userDrawn="1"/>
        </p:nvPicPr>
        <p:blipFill>
          <a:blip r:embed="rId6">
            <a:extLst>
              <a:ext uri="{96DAC541-7B7A-43D3-8B79-37D633B846F1}">
                <asvg:svgBlip xmlns:asvg="http://schemas.microsoft.com/office/drawing/2016/SVG/main" r:embed="rId7"/>
              </a:ext>
            </a:extLst>
          </a:blip>
          <a:srcRect l="-5757" t="37435" r="-13983" b="38206"/>
          <a:stretch>
            <a:fillRect/>
          </a:stretch>
        </p:blipFill>
        <p:spPr>
          <a:xfrm>
            <a:off x="6096000" y="1770730"/>
            <a:ext cx="5802923" cy="1670538"/>
          </a:xfrm>
          <a:prstGeom prst="rect">
            <a:avLst/>
          </a:prstGeom>
        </p:spPr>
      </p:pic>
      <p:pic>
        <p:nvPicPr>
          <p:cNvPr id="7" name="Gráfico 6">
            <a:extLst>
              <a:ext uri="{FF2B5EF4-FFF2-40B4-BE49-F238E27FC236}">
                <a16:creationId xmlns:a16="http://schemas.microsoft.com/office/drawing/2014/main" id="{DA874BF3-5966-B9B0-541C-A9FED883571E}"/>
              </a:ext>
            </a:extLst>
          </p:cNvPr>
          <p:cNvPicPr>
            <a:picLocks noChangeAspect="1"/>
          </p:cNvPicPr>
          <p:nvPr userDrawn="1"/>
        </p:nvPicPr>
        <p:blipFill>
          <a:blip r:embed="rId8">
            <a:extLst>
              <a:ext uri="{96DAC541-7B7A-43D3-8B79-37D633B846F1}">
                <asvg:svgBlip xmlns:asvg="http://schemas.microsoft.com/office/drawing/2016/SVG/main" r:embed="rId9"/>
              </a:ext>
            </a:extLst>
          </a:blip>
          <a:srcRect l="21801" t="30054" r="22643" b="26240"/>
          <a:stretch>
            <a:fillRect/>
          </a:stretch>
        </p:blipFill>
        <p:spPr>
          <a:xfrm>
            <a:off x="735542" y="2052594"/>
            <a:ext cx="4430346" cy="1605007"/>
          </a:xfrm>
          <a:prstGeom prst="rect">
            <a:avLst/>
          </a:prstGeom>
        </p:spPr>
      </p:pic>
      <p:sp>
        <p:nvSpPr>
          <p:cNvPr id="5" name="Title 1">
            <a:extLst>
              <a:ext uri="{FF2B5EF4-FFF2-40B4-BE49-F238E27FC236}">
                <a16:creationId xmlns:a16="http://schemas.microsoft.com/office/drawing/2014/main" id="{FE146BC5-D103-7374-8C6A-5CA2726E2BA5}"/>
              </a:ext>
            </a:extLst>
          </p:cNvPr>
          <p:cNvSpPr>
            <a:spLocks noGrp="1"/>
          </p:cNvSpPr>
          <p:nvPr>
            <p:ph type="title" hasCustomPrompt="1"/>
          </p:nvPr>
        </p:nvSpPr>
        <p:spPr>
          <a:xfrm>
            <a:off x="838200" y="365125"/>
            <a:ext cx="10515600" cy="1325563"/>
          </a:xfrm>
        </p:spPr>
        <p:txBody>
          <a:bodyPr/>
          <a:lstStyle>
            <a:lvl1pPr>
              <a:defRPr b="1">
                <a:solidFill>
                  <a:schemeClr val="accent3"/>
                </a:solidFill>
              </a:defRPr>
            </a:lvl1pPr>
          </a:lstStyle>
          <a:p>
            <a:r>
              <a:rPr lang="en-US" dirty="0"/>
              <a:t>Thanks to our Sponsors !</a:t>
            </a:r>
          </a:p>
        </p:txBody>
      </p:sp>
      <p:pic>
        <p:nvPicPr>
          <p:cNvPr id="3" name="Picture 7" descr="A yellow and green text on a black background&#10;&#10;AI-generated content may be incorrect.">
            <a:extLst>
              <a:ext uri="{FF2B5EF4-FFF2-40B4-BE49-F238E27FC236}">
                <a16:creationId xmlns:a16="http://schemas.microsoft.com/office/drawing/2014/main" id="{6DC7ED83-EFF3-D293-18EC-0B9D2B2F1F9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001250" y="-542925"/>
            <a:ext cx="2095500" cy="2095500"/>
          </a:xfrm>
          <a:prstGeom prst="rect">
            <a:avLst/>
          </a:prstGeom>
        </p:spPr>
      </p:pic>
    </p:spTree>
    <p:extLst>
      <p:ext uri="{BB962C8B-B14F-4D97-AF65-F5344CB8AC3E}">
        <p14:creationId xmlns:p14="http://schemas.microsoft.com/office/powerpoint/2010/main" val="3365957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peaker Slide">
    <p:spTree>
      <p:nvGrpSpPr>
        <p:cNvPr id="1" name=""/>
        <p:cNvGrpSpPr/>
        <p:nvPr/>
      </p:nvGrpSpPr>
      <p:grpSpPr>
        <a:xfrm>
          <a:off x="0" y="0"/>
          <a:ext cx="0" cy="0"/>
          <a:chOff x="0" y="0"/>
          <a:chExt cx="0" cy="0"/>
        </a:xfrm>
      </p:grpSpPr>
      <p:pic>
        <p:nvPicPr>
          <p:cNvPr id="5" name="Picture 18" descr="A green background with a silhouette of buildings&#10;&#10;AI-generated content may be incorrect.">
            <a:extLst>
              <a:ext uri="{FF2B5EF4-FFF2-40B4-BE49-F238E27FC236}">
                <a16:creationId xmlns:a16="http://schemas.microsoft.com/office/drawing/2014/main" id="{BFC1C8CC-C26A-06F1-FB64-A40D85D7AE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4" descr="A yellow and green text on a black background&#10;&#10;AI-generated content may be incorrect.">
            <a:extLst>
              <a:ext uri="{FF2B5EF4-FFF2-40B4-BE49-F238E27FC236}">
                <a16:creationId xmlns:a16="http://schemas.microsoft.com/office/drawing/2014/main" id="{E4CD9F28-1108-FB02-209E-2774A93F66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1754" y="-790575"/>
            <a:ext cx="3086100" cy="3086100"/>
          </a:xfrm>
          <a:prstGeom prst="rect">
            <a:avLst/>
          </a:prstGeom>
        </p:spPr>
      </p:pic>
      <p:sp>
        <p:nvSpPr>
          <p:cNvPr id="14" name="TextBox 19">
            <a:extLst>
              <a:ext uri="{FF2B5EF4-FFF2-40B4-BE49-F238E27FC236}">
                <a16:creationId xmlns:a16="http://schemas.microsoft.com/office/drawing/2014/main" id="{338BDF91-2FD2-8BB0-FB4A-0DFD30381A35}"/>
              </a:ext>
            </a:extLst>
          </p:cNvPr>
          <p:cNvSpPr txBox="1"/>
          <p:nvPr userDrawn="1"/>
        </p:nvSpPr>
        <p:spPr>
          <a:xfrm>
            <a:off x="3799869" y="6360399"/>
            <a:ext cx="1776873" cy="338554"/>
          </a:xfrm>
          <a:prstGeom prst="rect">
            <a:avLst/>
          </a:prstGeom>
          <a:noFill/>
        </p:spPr>
        <p:txBody>
          <a:bodyPr wrap="square">
            <a:spAutoFit/>
          </a:bodyPr>
          <a:lstStyle/>
          <a:p>
            <a:pPr algn="ctr" rtl="0">
              <a:buNone/>
            </a:pPr>
            <a:r>
              <a:rPr lang="en-US" sz="1600" b="0" i="0" dirty="0">
                <a:solidFill>
                  <a:srgbClr val="FFFFFF"/>
                </a:solidFill>
                <a:effectLst/>
                <a:latin typeface="Lufga" panose="00000500000000000000" pitchFamily="50" charset="0"/>
              </a:rPr>
              <a:t>Sponsored by:</a:t>
            </a:r>
            <a:endParaRPr lang="en-US" sz="1600" dirty="0">
              <a:effectLst/>
              <a:latin typeface="Lufga" panose="00000500000000000000" pitchFamily="50" charset="0"/>
            </a:endParaRPr>
          </a:p>
        </p:txBody>
      </p:sp>
      <p:pic>
        <p:nvPicPr>
          <p:cNvPr id="15" name="Picture 21" descr="A white line icon of a calendar&#10;&#10;AI-generated content may be incorrect.">
            <a:extLst>
              <a:ext uri="{FF2B5EF4-FFF2-40B4-BE49-F238E27FC236}">
                <a16:creationId xmlns:a16="http://schemas.microsoft.com/office/drawing/2014/main" id="{97607732-FB48-E265-C627-88B27A0E8B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824" y="4256806"/>
            <a:ext cx="247190" cy="247190"/>
          </a:xfrm>
          <a:prstGeom prst="rect">
            <a:avLst/>
          </a:prstGeom>
        </p:spPr>
      </p:pic>
      <p:pic>
        <p:nvPicPr>
          <p:cNvPr id="16" name="Picture 24" descr="A white clock with a black background&#10;&#10;AI-generated content may be incorrect.">
            <a:extLst>
              <a:ext uri="{FF2B5EF4-FFF2-40B4-BE49-F238E27FC236}">
                <a16:creationId xmlns:a16="http://schemas.microsoft.com/office/drawing/2014/main" id="{89CDD357-F453-3B6B-7DC8-833CBA9802C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24949" y="4256806"/>
            <a:ext cx="268437" cy="268437"/>
          </a:xfrm>
          <a:prstGeom prst="rect">
            <a:avLst/>
          </a:prstGeom>
        </p:spPr>
      </p:pic>
      <p:pic>
        <p:nvPicPr>
          <p:cNvPr id="17" name="Picture 26" descr="A white and black logo&#10;&#10;AI-generated content may be incorrect.">
            <a:extLst>
              <a:ext uri="{FF2B5EF4-FFF2-40B4-BE49-F238E27FC236}">
                <a16:creationId xmlns:a16="http://schemas.microsoft.com/office/drawing/2014/main" id="{C96D3082-BF58-825F-8BAD-FC6C83D2AFC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16824" y="4716861"/>
            <a:ext cx="212327" cy="212327"/>
          </a:xfrm>
          <a:prstGeom prst="rect">
            <a:avLst/>
          </a:prstGeom>
        </p:spPr>
      </p:pic>
      <p:pic>
        <p:nvPicPr>
          <p:cNvPr id="18" name="Gráfico 17">
            <a:extLst>
              <a:ext uri="{FF2B5EF4-FFF2-40B4-BE49-F238E27FC236}">
                <a16:creationId xmlns:a16="http://schemas.microsoft.com/office/drawing/2014/main" id="{DB4F0092-583A-CA3F-5915-FDBF4B801A0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557888" y="6353138"/>
            <a:ext cx="1245962" cy="371929"/>
          </a:xfrm>
          <a:prstGeom prst="rect">
            <a:avLst/>
          </a:prstGeom>
        </p:spPr>
      </p:pic>
      <p:pic>
        <p:nvPicPr>
          <p:cNvPr id="19" name="Gráfico 18">
            <a:extLst>
              <a:ext uri="{FF2B5EF4-FFF2-40B4-BE49-F238E27FC236}">
                <a16:creationId xmlns:a16="http://schemas.microsoft.com/office/drawing/2014/main" id="{95D8D48E-0AD4-F251-4279-A3C2EE776E90}"/>
              </a:ext>
            </a:extLst>
          </p:cNvPr>
          <p:cNvPicPr>
            <a:picLocks noChangeAspect="1"/>
          </p:cNvPicPr>
          <p:nvPr userDrawn="1"/>
        </p:nvPicPr>
        <p:blipFill>
          <a:blip r:embed="rId9">
            <a:extLst>
              <a:ext uri="{96DAC541-7B7A-43D3-8B79-37D633B846F1}">
                <asvg:svgBlip xmlns:asvg="http://schemas.microsoft.com/office/drawing/2016/SVG/main" r:embed="rId10"/>
              </a:ext>
            </a:extLst>
          </a:blip>
          <a:srcRect t="40949" b="45185"/>
          <a:stretch>
            <a:fillRect/>
          </a:stretch>
        </p:blipFill>
        <p:spPr>
          <a:xfrm>
            <a:off x="6755216" y="6355935"/>
            <a:ext cx="2004668" cy="359705"/>
          </a:xfrm>
          <a:prstGeom prst="rect">
            <a:avLst/>
          </a:prstGeom>
        </p:spPr>
      </p:pic>
      <p:pic>
        <p:nvPicPr>
          <p:cNvPr id="20" name="Gráfico 19">
            <a:extLst>
              <a:ext uri="{FF2B5EF4-FFF2-40B4-BE49-F238E27FC236}">
                <a16:creationId xmlns:a16="http://schemas.microsoft.com/office/drawing/2014/main" id="{3D37F599-6062-E0EC-F4C1-DA8F8FB3F5C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712749" y="6459871"/>
            <a:ext cx="1028930" cy="239082"/>
          </a:xfrm>
          <a:prstGeom prst="rect">
            <a:avLst/>
          </a:prstGeom>
        </p:spPr>
      </p:pic>
      <p:pic>
        <p:nvPicPr>
          <p:cNvPr id="21" name="Imagen 20">
            <a:extLst>
              <a:ext uri="{FF2B5EF4-FFF2-40B4-BE49-F238E27FC236}">
                <a16:creationId xmlns:a16="http://schemas.microsoft.com/office/drawing/2014/main" id="{72718847-F4DB-9C5F-FA5B-4D300A92463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843834" y="6434101"/>
            <a:ext cx="1706460" cy="239082"/>
          </a:xfrm>
          <a:prstGeom prst="rect">
            <a:avLst/>
          </a:prstGeom>
        </p:spPr>
      </p:pic>
      <p:pic>
        <p:nvPicPr>
          <p:cNvPr id="22" name="Imagen 21">
            <a:extLst>
              <a:ext uri="{FF2B5EF4-FFF2-40B4-BE49-F238E27FC236}">
                <a16:creationId xmlns:a16="http://schemas.microsoft.com/office/drawing/2014/main" id="{D7223AA1-9489-48D7-E5DD-E7585650F16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98934" y="6243210"/>
            <a:ext cx="642103" cy="613722"/>
          </a:xfrm>
          <a:prstGeom prst="rect">
            <a:avLst/>
          </a:prstGeom>
        </p:spPr>
      </p:pic>
    </p:spTree>
    <p:extLst>
      <p:ext uri="{BB962C8B-B14F-4D97-AF65-F5344CB8AC3E}">
        <p14:creationId xmlns:p14="http://schemas.microsoft.com/office/powerpoint/2010/main" val="9692430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Main Slide">
    <p:spTree>
      <p:nvGrpSpPr>
        <p:cNvPr id="1" name=""/>
        <p:cNvGrpSpPr/>
        <p:nvPr/>
      </p:nvGrpSpPr>
      <p:grpSpPr>
        <a:xfrm>
          <a:off x="0" y="0"/>
          <a:ext cx="0" cy="0"/>
          <a:chOff x="0" y="0"/>
          <a:chExt cx="0" cy="0"/>
        </a:xfrm>
      </p:grpSpPr>
      <p:pic>
        <p:nvPicPr>
          <p:cNvPr id="5" name="Picture 14" descr="A green background with a group of buildings and text&#10;&#10;AI-generated content may be incorrect.">
            <a:extLst>
              <a:ext uri="{FF2B5EF4-FFF2-40B4-BE49-F238E27FC236}">
                <a16:creationId xmlns:a16="http://schemas.microsoft.com/office/drawing/2014/main" id="{7961D6A3-C4B7-07A0-DE92-30F1FC705B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8" descr="A cartoon of a castle&#10;&#10;AI-generated content may be incorrect.">
            <a:extLst>
              <a:ext uri="{FF2B5EF4-FFF2-40B4-BE49-F238E27FC236}">
                <a16:creationId xmlns:a16="http://schemas.microsoft.com/office/drawing/2014/main" id="{DE145FB9-615A-0B7F-DA66-DBE626FEB0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97436" y="846545"/>
            <a:ext cx="4601498" cy="4601498"/>
          </a:xfrm>
          <a:prstGeom prst="roundRect">
            <a:avLst>
              <a:gd name="adj" fmla="val 3212"/>
            </a:avLst>
          </a:prstGeom>
          <a:ln>
            <a:noFill/>
          </a:ln>
          <a:effectLst>
            <a:outerShdw blurRad="368300" sx="111000" sy="111000" algn="ctr" rotWithShape="0">
              <a:prstClr val="black">
                <a:alpha val="35000"/>
              </a:prstClr>
            </a:outerShdw>
            <a:softEdge rad="0"/>
          </a:effectLst>
        </p:spPr>
      </p:pic>
      <p:sp>
        <p:nvSpPr>
          <p:cNvPr id="7" name="Rectangle: Rounded Corners 1">
            <a:extLst>
              <a:ext uri="{FF2B5EF4-FFF2-40B4-BE49-F238E27FC236}">
                <a16:creationId xmlns:a16="http://schemas.microsoft.com/office/drawing/2014/main" id="{50AC838E-AE82-4EA4-86FA-BF43A65FCCB0}"/>
              </a:ext>
            </a:extLst>
          </p:cNvPr>
          <p:cNvSpPr/>
          <p:nvPr userDrawn="1"/>
        </p:nvSpPr>
        <p:spPr>
          <a:xfrm rot="21385415">
            <a:off x="7622042" y="5194407"/>
            <a:ext cx="3283974" cy="523568"/>
          </a:xfrm>
          <a:prstGeom prst="roundRect">
            <a:avLst/>
          </a:prstGeom>
          <a:solidFill>
            <a:srgbClr val="D552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3">
            <a:extLst>
              <a:ext uri="{FF2B5EF4-FFF2-40B4-BE49-F238E27FC236}">
                <a16:creationId xmlns:a16="http://schemas.microsoft.com/office/drawing/2014/main" id="{5FEE402B-1303-D3CA-131A-27FF99705070}"/>
              </a:ext>
            </a:extLst>
          </p:cNvPr>
          <p:cNvSpPr txBox="1"/>
          <p:nvPr userDrawn="1"/>
        </p:nvSpPr>
        <p:spPr>
          <a:xfrm rot="21393749">
            <a:off x="7681629" y="5267598"/>
            <a:ext cx="3295602" cy="369332"/>
          </a:xfrm>
          <a:prstGeom prst="rect">
            <a:avLst/>
          </a:prstGeom>
          <a:noFill/>
        </p:spPr>
        <p:txBody>
          <a:bodyPr wrap="square">
            <a:spAutoFit/>
          </a:bodyPr>
          <a:lstStyle/>
          <a:p>
            <a:r>
              <a:rPr lang="en-US" b="0" i="0" dirty="0">
                <a:solidFill>
                  <a:schemeClr val="bg1"/>
                </a:solidFill>
                <a:effectLst/>
                <a:latin typeface="Lufga" panose="00000500000000000000" pitchFamily="50" charset="0"/>
                <a:cs typeface="Lao UI" panose="020F0502020204030204" pitchFamily="34" charset="0"/>
              </a:rPr>
              <a:t>agentcamp.city/barcelona</a:t>
            </a:r>
            <a:endParaRPr lang="en-US" dirty="0">
              <a:solidFill>
                <a:schemeClr val="bg1"/>
              </a:solidFill>
              <a:latin typeface="Lufga" panose="00000500000000000000" pitchFamily="50" charset="0"/>
              <a:cs typeface="Lao UI" panose="020F0502020204030204" pitchFamily="34" charset="0"/>
            </a:endParaRPr>
          </a:p>
        </p:txBody>
      </p:sp>
      <p:sp>
        <p:nvSpPr>
          <p:cNvPr id="9" name="TextBox 4">
            <a:extLst>
              <a:ext uri="{FF2B5EF4-FFF2-40B4-BE49-F238E27FC236}">
                <a16:creationId xmlns:a16="http://schemas.microsoft.com/office/drawing/2014/main" id="{2C865B83-9B60-EED5-0668-2C495D12EAEB}"/>
              </a:ext>
            </a:extLst>
          </p:cNvPr>
          <p:cNvSpPr txBox="1"/>
          <p:nvPr userDrawn="1"/>
        </p:nvSpPr>
        <p:spPr>
          <a:xfrm>
            <a:off x="1104900" y="2808288"/>
            <a:ext cx="2278188" cy="461665"/>
          </a:xfrm>
          <a:prstGeom prst="rect">
            <a:avLst/>
          </a:prstGeom>
          <a:noFill/>
        </p:spPr>
        <p:txBody>
          <a:bodyPr wrap="none" rtlCol="0">
            <a:spAutoFit/>
          </a:bodyPr>
          <a:lstStyle/>
          <a:p>
            <a:r>
              <a:rPr lang="en-US" sz="2400" dirty="0">
                <a:solidFill>
                  <a:schemeClr val="bg1"/>
                </a:solidFill>
                <a:latin typeface="Lufga" panose="00000500000000000000" pitchFamily="50" charset="0"/>
              </a:rPr>
              <a:t>14 March 2026</a:t>
            </a:r>
          </a:p>
        </p:txBody>
      </p:sp>
      <p:sp>
        <p:nvSpPr>
          <p:cNvPr id="10" name="TextBox 5">
            <a:extLst>
              <a:ext uri="{FF2B5EF4-FFF2-40B4-BE49-F238E27FC236}">
                <a16:creationId xmlns:a16="http://schemas.microsoft.com/office/drawing/2014/main" id="{62134468-67BA-7D6C-1A94-3C4027745ACD}"/>
              </a:ext>
            </a:extLst>
          </p:cNvPr>
          <p:cNvSpPr txBox="1"/>
          <p:nvPr userDrawn="1"/>
        </p:nvSpPr>
        <p:spPr>
          <a:xfrm>
            <a:off x="1104899" y="3429000"/>
            <a:ext cx="3967753" cy="461665"/>
          </a:xfrm>
          <a:prstGeom prst="rect">
            <a:avLst/>
          </a:prstGeom>
          <a:noFill/>
        </p:spPr>
        <p:txBody>
          <a:bodyPr wrap="none" rtlCol="0">
            <a:spAutoFit/>
          </a:bodyPr>
          <a:lstStyle/>
          <a:p>
            <a:r>
              <a:rPr lang="en-US" sz="2400" dirty="0">
                <a:solidFill>
                  <a:schemeClr val="bg1"/>
                </a:solidFill>
                <a:latin typeface="Lufga" panose="00000500000000000000" pitchFamily="50" charset="0"/>
              </a:rPr>
              <a:t>09:00 AM – 04:00 PM CST</a:t>
            </a:r>
          </a:p>
        </p:txBody>
      </p:sp>
      <p:sp>
        <p:nvSpPr>
          <p:cNvPr id="11" name="TextBox 7">
            <a:extLst>
              <a:ext uri="{FF2B5EF4-FFF2-40B4-BE49-F238E27FC236}">
                <a16:creationId xmlns:a16="http://schemas.microsoft.com/office/drawing/2014/main" id="{43504E05-4A02-3559-E8D2-01721A66B53D}"/>
              </a:ext>
            </a:extLst>
          </p:cNvPr>
          <p:cNvSpPr txBox="1"/>
          <p:nvPr userDrawn="1"/>
        </p:nvSpPr>
        <p:spPr>
          <a:xfrm>
            <a:off x="1104898" y="4049712"/>
            <a:ext cx="3983783" cy="830997"/>
          </a:xfrm>
          <a:prstGeom prst="rect">
            <a:avLst/>
          </a:prstGeom>
          <a:noFill/>
        </p:spPr>
        <p:txBody>
          <a:bodyPr wrap="none" rtlCol="0">
            <a:spAutoFit/>
          </a:bodyPr>
          <a:lstStyle/>
          <a:p>
            <a:r>
              <a:rPr lang="en-US" sz="2400" dirty="0">
                <a:solidFill>
                  <a:schemeClr val="bg1"/>
                </a:solidFill>
                <a:latin typeface="Lufga" panose="00000500000000000000" pitchFamily="50" charset="0"/>
              </a:rPr>
              <a:t>Harbour Space University</a:t>
            </a:r>
          </a:p>
          <a:p>
            <a:r>
              <a:rPr lang="en-US" sz="2400" dirty="0">
                <a:solidFill>
                  <a:schemeClr val="bg1"/>
                </a:solidFill>
                <a:latin typeface="Lufga" panose="00000500000000000000" pitchFamily="50" charset="0"/>
              </a:rPr>
              <a:t>Barcelona, Spain</a:t>
            </a:r>
          </a:p>
        </p:txBody>
      </p:sp>
      <p:sp>
        <p:nvSpPr>
          <p:cNvPr id="12" name="TextBox 10">
            <a:extLst>
              <a:ext uri="{FF2B5EF4-FFF2-40B4-BE49-F238E27FC236}">
                <a16:creationId xmlns:a16="http://schemas.microsoft.com/office/drawing/2014/main" id="{D1AACF8C-8C9B-A46C-F744-250F103B4157}"/>
              </a:ext>
            </a:extLst>
          </p:cNvPr>
          <p:cNvSpPr txBox="1"/>
          <p:nvPr userDrawn="1"/>
        </p:nvSpPr>
        <p:spPr>
          <a:xfrm>
            <a:off x="3799869" y="6360399"/>
            <a:ext cx="1776873" cy="338554"/>
          </a:xfrm>
          <a:prstGeom prst="rect">
            <a:avLst/>
          </a:prstGeom>
          <a:noFill/>
        </p:spPr>
        <p:txBody>
          <a:bodyPr wrap="square">
            <a:spAutoFit/>
          </a:bodyPr>
          <a:lstStyle/>
          <a:p>
            <a:pPr algn="ctr" rtl="0">
              <a:buNone/>
            </a:pPr>
            <a:r>
              <a:rPr lang="en-US" sz="1600" b="0" i="0" dirty="0">
                <a:solidFill>
                  <a:srgbClr val="FFFFFF"/>
                </a:solidFill>
                <a:effectLst/>
                <a:latin typeface="Lufga" panose="00000500000000000000" pitchFamily="50" charset="0"/>
              </a:rPr>
              <a:t>Sponsored by:</a:t>
            </a:r>
            <a:endParaRPr lang="en-US" sz="1600" dirty="0">
              <a:effectLst/>
              <a:latin typeface="Lufga" panose="00000500000000000000" pitchFamily="50" charset="0"/>
            </a:endParaRPr>
          </a:p>
        </p:txBody>
      </p:sp>
      <p:pic>
        <p:nvPicPr>
          <p:cNvPr id="13" name="Picture 15" descr="A white line icon of a calendar&#10;&#10;AI-generated content may be incorrect.">
            <a:extLst>
              <a:ext uri="{FF2B5EF4-FFF2-40B4-BE49-F238E27FC236}">
                <a16:creationId xmlns:a16="http://schemas.microsoft.com/office/drawing/2014/main" id="{4D7F2155-611F-A618-785F-D6E89D65CDC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824" y="2896474"/>
            <a:ext cx="297575" cy="297575"/>
          </a:xfrm>
          <a:prstGeom prst="rect">
            <a:avLst/>
          </a:prstGeom>
        </p:spPr>
      </p:pic>
      <p:pic>
        <p:nvPicPr>
          <p:cNvPr id="14" name="Picture 16" descr="A white clock with a black background&#10;&#10;AI-generated content may be incorrect.">
            <a:extLst>
              <a:ext uri="{FF2B5EF4-FFF2-40B4-BE49-F238E27FC236}">
                <a16:creationId xmlns:a16="http://schemas.microsoft.com/office/drawing/2014/main" id="{A17D7CFD-1C87-A88F-E9B2-CCFF928CE55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3066" y="3523016"/>
            <a:ext cx="297575" cy="297575"/>
          </a:xfrm>
          <a:prstGeom prst="rect">
            <a:avLst/>
          </a:prstGeom>
        </p:spPr>
      </p:pic>
      <p:pic>
        <p:nvPicPr>
          <p:cNvPr id="15" name="Picture 17" descr="A white and black logo&#10;&#10;AI-generated content may be incorrect.">
            <a:extLst>
              <a:ext uri="{FF2B5EF4-FFF2-40B4-BE49-F238E27FC236}">
                <a16:creationId xmlns:a16="http://schemas.microsoft.com/office/drawing/2014/main" id="{73149E88-8596-01C6-D367-F81B546ECA1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93066" y="4149558"/>
            <a:ext cx="297575" cy="297575"/>
          </a:xfrm>
          <a:prstGeom prst="rect">
            <a:avLst/>
          </a:prstGeom>
        </p:spPr>
      </p:pic>
      <p:pic>
        <p:nvPicPr>
          <p:cNvPr id="16" name="Gráfico 15">
            <a:extLst>
              <a:ext uri="{FF2B5EF4-FFF2-40B4-BE49-F238E27FC236}">
                <a16:creationId xmlns:a16="http://schemas.microsoft.com/office/drawing/2014/main" id="{72D93AF1-4483-9A54-1833-409FCED9437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557888" y="6353138"/>
            <a:ext cx="1245962" cy="371929"/>
          </a:xfrm>
          <a:prstGeom prst="rect">
            <a:avLst/>
          </a:prstGeom>
        </p:spPr>
      </p:pic>
      <p:pic>
        <p:nvPicPr>
          <p:cNvPr id="17" name="Gráfico 16">
            <a:extLst>
              <a:ext uri="{FF2B5EF4-FFF2-40B4-BE49-F238E27FC236}">
                <a16:creationId xmlns:a16="http://schemas.microsoft.com/office/drawing/2014/main" id="{CFF8F3FA-9118-53D3-4B3A-B8C6DD19AD2F}"/>
              </a:ext>
            </a:extLst>
          </p:cNvPr>
          <p:cNvPicPr>
            <a:picLocks noChangeAspect="1"/>
          </p:cNvPicPr>
          <p:nvPr userDrawn="1"/>
        </p:nvPicPr>
        <p:blipFill>
          <a:blip r:embed="rId9">
            <a:extLst>
              <a:ext uri="{96DAC541-7B7A-43D3-8B79-37D633B846F1}">
                <asvg:svgBlip xmlns:asvg="http://schemas.microsoft.com/office/drawing/2016/SVG/main" r:embed="rId10"/>
              </a:ext>
            </a:extLst>
          </a:blip>
          <a:srcRect t="40949" b="45185"/>
          <a:stretch>
            <a:fillRect/>
          </a:stretch>
        </p:blipFill>
        <p:spPr>
          <a:xfrm>
            <a:off x="6755216" y="6355935"/>
            <a:ext cx="2004668" cy="359705"/>
          </a:xfrm>
          <a:prstGeom prst="rect">
            <a:avLst/>
          </a:prstGeom>
        </p:spPr>
      </p:pic>
      <p:pic>
        <p:nvPicPr>
          <p:cNvPr id="18" name="Gráfico 17">
            <a:extLst>
              <a:ext uri="{FF2B5EF4-FFF2-40B4-BE49-F238E27FC236}">
                <a16:creationId xmlns:a16="http://schemas.microsoft.com/office/drawing/2014/main" id="{B5ECB2DE-D188-7D1C-5690-BE285FEE19B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712749" y="6459871"/>
            <a:ext cx="1028930" cy="239082"/>
          </a:xfrm>
          <a:prstGeom prst="rect">
            <a:avLst/>
          </a:prstGeom>
        </p:spPr>
      </p:pic>
      <p:pic>
        <p:nvPicPr>
          <p:cNvPr id="19" name="Imagen 18">
            <a:extLst>
              <a:ext uri="{FF2B5EF4-FFF2-40B4-BE49-F238E27FC236}">
                <a16:creationId xmlns:a16="http://schemas.microsoft.com/office/drawing/2014/main" id="{13259992-3960-B3A0-CCDD-60887D41C89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843834" y="6434101"/>
            <a:ext cx="1706460" cy="239082"/>
          </a:xfrm>
          <a:prstGeom prst="rect">
            <a:avLst/>
          </a:prstGeom>
        </p:spPr>
      </p:pic>
      <p:pic>
        <p:nvPicPr>
          <p:cNvPr id="20" name="Imagen 19">
            <a:extLst>
              <a:ext uri="{FF2B5EF4-FFF2-40B4-BE49-F238E27FC236}">
                <a16:creationId xmlns:a16="http://schemas.microsoft.com/office/drawing/2014/main" id="{10A014A9-5AF1-8034-0A3F-A3EF44B5B882}"/>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98934" y="6243210"/>
            <a:ext cx="642103" cy="613722"/>
          </a:xfrm>
          <a:prstGeom prst="rect">
            <a:avLst/>
          </a:prstGeom>
        </p:spPr>
      </p:pic>
    </p:spTree>
    <p:extLst>
      <p:ext uri="{BB962C8B-B14F-4D97-AF65-F5344CB8AC3E}">
        <p14:creationId xmlns:p14="http://schemas.microsoft.com/office/powerpoint/2010/main" val="18425544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A4608-5700-7ABB-3B11-17A1733A2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35985A-A762-6D68-96CE-708156E804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CDE34-99E1-7839-2B0F-94EB04F115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5965DE-2586-726F-D9F1-B65564784689}"/>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6" name="Footer Placeholder 5">
            <a:extLst>
              <a:ext uri="{FF2B5EF4-FFF2-40B4-BE49-F238E27FC236}">
                <a16:creationId xmlns:a16="http://schemas.microsoft.com/office/drawing/2014/main" id="{8E31ACA4-246B-2D2B-B0A2-7B3B8364C5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DF95E-B6AF-9DC2-75C4-EFE145AA0EEE}"/>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933081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89783-0310-DE24-EA8E-68868C6004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14A9A4-8063-FD4E-B52F-870A335E63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3D6CD9-31F2-5B1E-5A4A-5C38DC7E9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785EA1-5BC1-7832-B7F5-F4D0D8102CDD}"/>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6" name="Footer Placeholder 5">
            <a:extLst>
              <a:ext uri="{FF2B5EF4-FFF2-40B4-BE49-F238E27FC236}">
                <a16:creationId xmlns:a16="http://schemas.microsoft.com/office/drawing/2014/main" id="{36AD3897-C011-118D-F95A-F28E8241EF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8489DB-5854-05BE-CA9A-8C12A93AD920}"/>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1803491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37F6B-1E32-634B-ECF5-914F348118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742C2E-B674-7B94-0CEA-FA799A6CC2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A02D8-568D-7D89-F880-BC7CB7B8DE0F}"/>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0EEA08C1-9A9A-6346-9A12-1D3610C7B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7F3EC-8378-D48B-33A6-5CE4EE949463}"/>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630562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EEE578-E2D0-5B96-36A3-22987888E3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E01419-F51A-A866-89B2-A6DA58836C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03C4B-965E-E49C-1E6E-2DB208DB7612}"/>
              </a:ext>
            </a:extLst>
          </p:cNvPr>
          <p:cNvSpPr>
            <a:spLocks noGrp="1"/>
          </p:cNvSpPr>
          <p:nvPr>
            <p:ph type="dt" sz="half" idx="10"/>
          </p:nvPr>
        </p:nvSpPr>
        <p:spPr/>
        <p:txBody>
          <a:body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5DE68E58-6C96-B2BB-7FAB-B4405AD049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54CAE-BF6F-C7AC-625B-80BE10E09198}"/>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011352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3/14/2026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35477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3/14/2026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69002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3/14/2026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78235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3/14/2026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99182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3/14/2026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0028039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silhouette of a city&#10;&#10;AI-generated content may be incorrect.">
            <a:extLst>
              <a:ext uri="{FF2B5EF4-FFF2-40B4-BE49-F238E27FC236}">
                <a16:creationId xmlns:a16="http://schemas.microsoft.com/office/drawing/2014/main" id="{E134ECA9-9007-251D-BF9F-93E1B19975DF}"/>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DC78A224-A07F-D1CC-488A-32F01743D0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83CCA1-C758-6EF9-6BA9-6868514C6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D722D6-AE58-5C40-599F-4E9DAEEC9C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73396F-A861-4C1C-A7E9-F53FB1B01DF7}" type="datetimeFigureOut">
              <a:rPr lang="en-US" smtClean="0"/>
              <a:t>3/14/2026</a:t>
            </a:fld>
            <a:endParaRPr lang="en-US"/>
          </a:p>
        </p:txBody>
      </p:sp>
      <p:sp>
        <p:nvSpPr>
          <p:cNvPr id="5" name="Footer Placeholder 4">
            <a:extLst>
              <a:ext uri="{FF2B5EF4-FFF2-40B4-BE49-F238E27FC236}">
                <a16:creationId xmlns:a16="http://schemas.microsoft.com/office/drawing/2014/main" id="{878D2FAF-006F-1388-18F2-1A8758C63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E8DBDE-7680-E54A-7822-E5230C6A66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025323-F69B-4C72-A383-43AF704BB72C}" type="slidenum">
              <a:rPr lang="en-US" smtClean="0"/>
              <a:t>‹#›</a:t>
            </a:fld>
            <a:endParaRPr lang="en-US"/>
          </a:p>
        </p:txBody>
      </p:sp>
      <p:pic>
        <p:nvPicPr>
          <p:cNvPr id="8" name="Picture 7" descr="A yellow and green text on a black background&#10;&#10;AI-generated content may be incorrect.">
            <a:extLst>
              <a:ext uri="{FF2B5EF4-FFF2-40B4-BE49-F238E27FC236}">
                <a16:creationId xmlns:a16="http://schemas.microsoft.com/office/drawing/2014/main" id="{D5090FE9-6F62-0D72-68E0-1450118534C0}"/>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10001250" y="-542925"/>
            <a:ext cx="2095500" cy="2095500"/>
          </a:xfrm>
          <a:prstGeom prst="rect">
            <a:avLst/>
          </a:prstGeom>
        </p:spPr>
      </p:pic>
    </p:spTree>
    <p:extLst>
      <p:ext uri="{BB962C8B-B14F-4D97-AF65-F5344CB8AC3E}">
        <p14:creationId xmlns:p14="http://schemas.microsoft.com/office/powerpoint/2010/main" val="2324928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2" r:id="rId8"/>
    <p:sldLayoutId id="2147483661" r:id="rId9"/>
    <p:sldLayoutId id="2147483660" r:id="rId10"/>
    <p:sldLayoutId id="2147483656" r:id="rId11"/>
    <p:sldLayoutId id="2147483657" r:id="rId12"/>
    <p:sldLayoutId id="2147483658" r:id="rId13"/>
    <p:sldLayoutId id="2147483659"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rgbClr val="F7CA66"/>
          </a:solidFill>
          <a:latin typeface="Lufga"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Lufga" panose="000005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Lufga" panose="000005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Lufga" panose="000005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Lufga" panose="000005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Lufg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7.sv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zure-Samples/foundry-citadel-platfor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5.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7.sv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0.svg"/></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8.jpe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90.svg"/></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93.svg"/></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5.svg"/></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334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a:extLst>
              <a:ext uri="{FF2B5EF4-FFF2-40B4-BE49-F238E27FC236}">
                <a16:creationId xmlns:a16="http://schemas.microsoft.com/office/drawing/2014/main" id="{DE186E32-C9B7-2BB2-EC87-3DDE29C2D883}"/>
              </a:ext>
            </a:extLst>
          </p:cNvPr>
          <p:cNvSpPr txBox="1"/>
          <p:nvPr/>
        </p:nvSpPr>
        <p:spPr>
          <a:xfrm>
            <a:off x="593229" y="2088577"/>
            <a:ext cx="6321921" cy="1754326"/>
          </a:xfrm>
          <a:prstGeom prst="rect">
            <a:avLst/>
          </a:prstGeom>
          <a:noFill/>
        </p:spPr>
        <p:txBody>
          <a:bodyPr wrap="square" rtlCol="0">
            <a:spAutoFit/>
          </a:bodyPr>
          <a:lstStyle/>
          <a:p>
            <a:r>
              <a:rPr lang="en-US" sz="3600" b="1" dirty="0">
                <a:solidFill>
                  <a:srgbClr val="F7CA66"/>
                </a:solidFill>
                <a:latin typeface="Lufga" panose="00000500000000000000" pitchFamily="50" charset="0"/>
              </a:rPr>
              <a:t>Scaling to Production your Agents with Azure Landing Zone &amp; Microsoft Foundry</a:t>
            </a:r>
          </a:p>
        </p:txBody>
      </p:sp>
      <p:sp>
        <p:nvSpPr>
          <p:cNvPr id="9" name="TextBox 12">
            <a:extLst>
              <a:ext uri="{FF2B5EF4-FFF2-40B4-BE49-F238E27FC236}">
                <a16:creationId xmlns:a16="http://schemas.microsoft.com/office/drawing/2014/main" id="{69393819-DADA-8F29-A555-D202B69BF045}"/>
              </a:ext>
            </a:extLst>
          </p:cNvPr>
          <p:cNvSpPr txBox="1"/>
          <p:nvPr/>
        </p:nvSpPr>
        <p:spPr>
          <a:xfrm>
            <a:off x="992443" y="4190970"/>
            <a:ext cx="1933543" cy="400110"/>
          </a:xfrm>
          <a:prstGeom prst="rect">
            <a:avLst/>
          </a:prstGeom>
          <a:noFill/>
        </p:spPr>
        <p:txBody>
          <a:bodyPr wrap="none" rtlCol="0">
            <a:spAutoFit/>
          </a:bodyPr>
          <a:lstStyle/>
          <a:p>
            <a:r>
              <a:rPr lang="en-US" sz="2000" dirty="0">
                <a:solidFill>
                  <a:schemeClr val="bg1"/>
                </a:solidFill>
                <a:latin typeface="Lufga" panose="00000500000000000000" pitchFamily="50" charset="0"/>
              </a:rPr>
              <a:t>14 March 2026</a:t>
            </a:r>
          </a:p>
        </p:txBody>
      </p:sp>
      <p:sp>
        <p:nvSpPr>
          <p:cNvPr id="10" name="TextBox 13">
            <a:extLst>
              <a:ext uri="{FF2B5EF4-FFF2-40B4-BE49-F238E27FC236}">
                <a16:creationId xmlns:a16="http://schemas.microsoft.com/office/drawing/2014/main" id="{829AC529-E6A7-C715-9573-CE59875F73C5}"/>
              </a:ext>
            </a:extLst>
          </p:cNvPr>
          <p:cNvSpPr txBox="1"/>
          <p:nvPr/>
        </p:nvSpPr>
        <p:spPr>
          <a:xfrm>
            <a:off x="3793386" y="4200465"/>
            <a:ext cx="3348994" cy="400110"/>
          </a:xfrm>
          <a:prstGeom prst="rect">
            <a:avLst/>
          </a:prstGeom>
          <a:noFill/>
        </p:spPr>
        <p:txBody>
          <a:bodyPr wrap="none" rtlCol="0">
            <a:spAutoFit/>
          </a:bodyPr>
          <a:lstStyle/>
          <a:p>
            <a:r>
              <a:rPr lang="en-US" sz="2000" dirty="0">
                <a:solidFill>
                  <a:schemeClr val="bg1"/>
                </a:solidFill>
                <a:latin typeface="Lufga" panose="00000500000000000000" pitchFamily="50" charset="0"/>
              </a:rPr>
              <a:t>09:00 AM – 04:00 PM CST</a:t>
            </a:r>
          </a:p>
        </p:txBody>
      </p:sp>
      <p:sp>
        <p:nvSpPr>
          <p:cNvPr id="11" name="TextBox 14">
            <a:extLst>
              <a:ext uri="{FF2B5EF4-FFF2-40B4-BE49-F238E27FC236}">
                <a16:creationId xmlns:a16="http://schemas.microsoft.com/office/drawing/2014/main" id="{3E88244F-A7FF-1046-9066-C18F24C973F5}"/>
              </a:ext>
            </a:extLst>
          </p:cNvPr>
          <p:cNvSpPr txBox="1"/>
          <p:nvPr/>
        </p:nvSpPr>
        <p:spPr>
          <a:xfrm>
            <a:off x="964014" y="4640401"/>
            <a:ext cx="6178366" cy="400110"/>
          </a:xfrm>
          <a:prstGeom prst="rect">
            <a:avLst/>
          </a:prstGeom>
          <a:noFill/>
        </p:spPr>
        <p:txBody>
          <a:bodyPr wrap="square" rtlCol="0">
            <a:spAutoFit/>
          </a:bodyPr>
          <a:lstStyle/>
          <a:p>
            <a:r>
              <a:rPr lang="en-US" sz="2000" dirty="0">
                <a:solidFill>
                  <a:schemeClr val="bg1"/>
                </a:solidFill>
                <a:latin typeface="Lufga" panose="00000500000000000000" pitchFamily="50" charset="0"/>
              </a:rPr>
              <a:t>Harbour Space University, Barcelona, Spain</a:t>
            </a:r>
          </a:p>
        </p:txBody>
      </p:sp>
      <p:sp>
        <p:nvSpPr>
          <p:cNvPr id="12" name="TextBox 15">
            <a:extLst>
              <a:ext uri="{FF2B5EF4-FFF2-40B4-BE49-F238E27FC236}">
                <a16:creationId xmlns:a16="http://schemas.microsoft.com/office/drawing/2014/main" id="{A5CFA7AE-3FD2-7A19-10C3-75AE347589EF}"/>
              </a:ext>
            </a:extLst>
          </p:cNvPr>
          <p:cNvSpPr txBox="1"/>
          <p:nvPr/>
        </p:nvSpPr>
        <p:spPr>
          <a:xfrm>
            <a:off x="9181588" y="4544323"/>
            <a:ext cx="1875835" cy="400110"/>
          </a:xfrm>
          <a:prstGeom prst="rect">
            <a:avLst/>
          </a:prstGeom>
          <a:noFill/>
        </p:spPr>
        <p:txBody>
          <a:bodyPr wrap="none" rtlCol="0">
            <a:spAutoFit/>
          </a:bodyPr>
          <a:lstStyle/>
          <a:p>
            <a:pPr algn="r"/>
            <a:r>
              <a:rPr lang="en-US" sz="2000" b="1" dirty="0">
                <a:solidFill>
                  <a:srgbClr val="F7CA66"/>
                </a:solidFill>
                <a:latin typeface="Lufga" panose="00000500000000000000" pitchFamily="50" charset="0"/>
              </a:rPr>
              <a:t>Rubén Toribio	</a:t>
            </a:r>
          </a:p>
        </p:txBody>
      </p:sp>
      <p:sp>
        <p:nvSpPr>
          <p:cNvPr id="13" name="TextBox 16">
            <a:extLst>
              <a:ext uri="{FF2B5EF4-FFF2-40B4-BE49-F238E27FC236}">
                <a16:creationId xmlns:a16="http://schemas.microsoft.com/office/drawing/2014/main" id="{5A9E019D-6165-F91F-51E3-D18B5540F410}"/>
              </a:ext>
            </a:extLst>
          </p:cNvPr>
          <p:cNvSpPr txBox="1"/>
          <p:nvPr/>
        </p:nvSpPr>
        <p:spPr>
          <a:xfrm>
            <a:off x="9750656" y="4871234"/>
            <a:ext cx="883575" cy="338554"/>
          </a:xfrm>
          <a:prstGeom prst="rect">
            <a:avLst/>
          </a:prstGeom>
          <a:noFill/>
        </p:spPr>
        <p:txBody>
          <a:bodyPr wrap="none" rtlCol="0">
            <a:spAutoFit/>
          </a:bodyPr>
          <a:lstStyle/>
          <a:p>
            <a:pPr algn="ctr"/>
            <a:r>
              <a:rPr lang="en-US" sz="1600" dirty="0">
                <a:solidFill>
                  <a:srgbClr val="F7CA66"/>
                </a:solidFill>
                <a:latin typeface="Lufga" panose="00000500000000000000" pitchFamily="50" charset="0"/>
              </a:rPr>
              <a:t>MVP AI</a:t>
            </a:r>
          </a:p>
        </p:txBody>
      </p:sp>
      <p:pic>
        <p:nvPicPr>
          <p:cNvPr id="2" name="Picture 3" descr="Profile photo of Rubén Toribio Gallardo">
            <a:extLst>
              <a:ext uri="{FF2B5EF4-FFF2-40B4-BE49-F238E27FC236}">
                <a16:creationId xmlns:a16="http://schemas.microsoft.com/office/drawing/2014/main" id="{F16AD593-9410-D8EC-28AE-9DA26C07DA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81588" y="2313677"/>
            <a:ext cx="1824296" cy="1824296"/>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67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1DEA-1479-95DF-4872-D4DA0759332B}"/>
              </a:ext>
            </a:extLst>
          </p:cNvPr>
          <p:cNvSpPr>
            <a:spLocks noGrp="1"/>
          </p:cNvSpPr>
          <p:nvPr>
            <p:ph type="ctrTitle"/>
          </p:nvPr>
        </p:nvSpPr>
        <p:spPr>
          <a:xfrm>
            <a:off x="1203960" y="2425383"/>
            <a:ext cx="9144000" cy="2387600"/>
          </a:xfrm>
        </p:spPr>
        <p:txBody>
          <a:bodyPr>
            <a:normAutofit fontScale="90000"/>
          </a:bodyPr>
          <a:lstStyle/>
          <a:p>
            <a:r>
              <a:rPr lang="en-US" dirty="0"/>
              <a:t>ENTERPRISE AI INFRASTRUCTURE FOCUS </a:t>
            </a:r>
            <a:br>
              <a:rPr lang="en-US" dirty="0"/>
            </a:br>
            <a:endParaRPr lang="en-US" dirty="0"/>
          </a:p>
        </p:txBody>
      </p:sp>
    </p:spTree>
    <p:extLst>
      <p:ext uri="{BB962C8B-B14F-4D97-AF65-F5344CB8AC3E}">
        <p14:creationId xmlns:p14="http://schemas.microsoft.com/office/powerpoint/2010/main" val="1887860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F548DC-A7B3-4C35-768E-91FC4024073E}"/>
              </a:ext>
            </a:extLst>
          </p:cNvPr>
          <p:cNvSpPr>
            <a:spLocks noGrp="1"/>
          </p:cNvSpPr>
          <p:nvPr>
            <p:ph type="title"/>
          </p:nvPr>
        </p:nvSpPr>
        <p:spPr/>
        <p:txBody>
          <a:bodyPr/>
          <a:lstStyle/>
          <a:p>
            <a:endParaRPr lang="es-ES"/>
          </a:p>
        </p:txBody>
      </p:sp>
    </p:spTree>
    <p:extLst>
      <p:ext uri="{BB962C8B-B14F-4D97-AF65-F5344CB8AC3E}">
        <p14:creationId xmlns:p14="http://schemas.microsoft.com/office/powerpoint/2010/main" val="2786609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C0944F1-241E-91C6-E4B6-80871D3267FC}"/>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EBE6DA34-37D7-FDF3-F811-F155C3164F1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DE858712-123B-05F7-B90B-2F396DCD5660}"/>
              </a:ext>
            </a:extLst>
          </p:cNvPr>
          <p:cNvSpPr>
            <a:spLocks noGrp="1"/>
          </p:cNvSpPr>
          <p:nvPr>
            <p:ph type="sldNum" sz="quarter" idx="12"/>
          </p:nvPr>
        </p:nvSpPr>
        <p:spPr/>
        <p:txBody>
          <a:bodyPr/>
          <a:lstStyle/>
          <a:p>
            <a:fld id="{84C450F2-3BB4-4AE4-8A35-A9D7AEA4C850}" type="slidenum">
              <a:rPr lang="en-US" smtClean="0"/>
              <a:t>5</a:t>
            </a:fld>
            <a:endParaRPr lang="en-US" dirty="0"/>
          </a:p>
        </p:txBody>
      </p:sp>
      <p:pic>
        <p:nvPicPr>
          <p:cNvPr id="8" name="Graphic 7" descr="A detailed infographic illustrating the core infrastructure challenges of scaling enterprise AI, visually representing issues like security/compliance risks (shields, locks), cost unpredictability (fluctuating graphs), infrastructure sprawl (multiple disconnected nodes), integration complexity (interconnected puzzle pieces), and operational overhead (gears, manual tools). The design should be clean and modern, with clear visual separation of each pain point, and no visible or implied text, letters, or words anywhere in the image">
            <a:extLst>
              <a:ext uri="{FF2B5EF4-FFF2-40B4-BE49-F238E27FC236}">
                <a16:creationId xmlns:a16="http://schemas.microsoft.com/office/drawing/2014/main" id="{EEC745DC-921C-4224-A9E8-8F337EF699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
            <a:ext cx="6858000" cy="7049729"/>
          </a:xfrm>
          <a:prstGeom prst="rect">
            <a:avLst/>
          </a:prstGeom>
        </p:spPr>
      </p:pic>
      <p:sp>
        <p:nvSpPr>
          <p:cNvPr id="9" name="TextBox 8">
            <a:extLst>
              <a:ext uri="{FF2B5EF4-FFF2-40B4-BE49-F238E27FC236}">
                <a16:creationId xmlns:a16="http://schemas.microsoft.com/office/drawing/2014/main" id="{A3816830-83EA-41CF-8F3D-E3127F3ED4CB}"/>
              </a:ext>
            </a:extLst>
          </p:cNvPr>
          <p:cNvSpPr txBox="1"/>
          <p:nvPr/>
        </p:nvSpPr>
        <p:spPr>
          <a:xfrm>
            <a:off x="6979981" y="269681"/>
            <a:ext cx="4391025" cy="1885950"/>
          </a:xfrm>
          <a:prstGeom prst="rect">
            <a:avLst/>
          </a:prstGeom>
          <a:noFill/>
        </p:spPr>
        <p:txBody>
          <a:bodyPr wrap="square" rtlCol="0">
            <a:normAutofit/>
          </a:bodyPr>
          <a:lstStyle/>
          <a:p>
            <a:pPr marL="0" algn="l">
              <a:buNone/>
            </a:pPr>
            <a:r>
              <a:rPr sz="3600" dirty="0">
                <a:solidFill>
                  <a:srgbClr val="F7CA66"/>
                </a:solidFill>
                <a:latin typeface="Lufga" panose="00000500000000000000" pitchFamily="50" charset="0"/>
                <a:ea typeface="+mj-ea"/>
                <a:cs typeface="+mj-cs"/>
              </a:rPr>
              <a:t>Enterprise AI: Infrastructure Needs </a:t>
            </a:r>
            <a:endParaRPr lang="en-GB" sz="36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52889C1F-6E5A-4645-B6DD-226F85AE537E}"/>
              </a:ext>
            </a:extLst>
          </p:cNvPr>
          <p:cNvSpPr txBox="1"/>
          <p:nvPr/>
        </p:nvSpPr>
        <p:spPr>
          <a:xfrm>
            <a:off x="7247792" y="2317506"/>
            <a:ext cx="4391025" cy="285750"/>
          </a:xfrm>
          <a:prstGeom prst="rect">
            <a:avLst/>
          </a:prstGeom>
          <a:noFill/>
        </p:spPr>
        <p:txBody>
          <a:bodyPr wrap="square" rtlCol="0">
            <a:normAutofit fontScale="85000" lnSpcReduction="20000"/>
          </a:bodyPr>
          <a:lstStyle/>
          <a:p>
            <a:pPr marL="0" algn="l">
              <a:buNone/>
            </a:pPr>
            <a:r>
              <a:rPr sz="1800" b="1">
                <a:solidFill>
                  <a:srgbClr val="FFFFFF"/>
                </a:solidFill>
                <a:effectLst/>
                <a:latin typeface="Avenir Next LT Pro" panose="020B0504020202020204" pitchFamily="34" charset="0"/>
              </a:rPr>
              <a:t>Foundation for Scale</a:t>
            </a:r>
            <a:r>
              <a:rPr>
                <a:effectLst/>
              </a:rPr>
              <a:t> </a:t>
            </a:r>
            <a:endParaRPr lang="en-GB"/>
          </a:p>
        </p:txBody>
      </p:sp>
      <p:sp>
        <p:nvSpPr>
          <p:cNvPr id="11" name="TextBox 10">
            <a:extLst>
              <a:ext uri="{FF2B5EF4-FFF2-40B4-BE49-F238E27FC236}">
                <a16:creationId xmlns:a16="http://schemas.microsoft.com/office/drawing/2014/main" id="{165C13EB-34F1-4459-BAA1-99F567ED3323}"/>
              </a:ext>
            </a:extLst>
          </p:cNvPr>
          <p:cNvSpPr txBox="1"/>
          <p:nvPr/>
        </p:nvSpPr>
        <p:spPr>
          <a:xfrm>
            <a:off x="7247792" y="2827459"/>
            <a:ext cx="4391025" cy="426541"/>
          </a:xfrm>
          <a:prstGeom prst="rect">
            <a:avLst/>
          </a:prstGeom>
          <a:noFill/>
        </p:spPr>
        <p:txBody>
          <a:bodyPr wrap="square" rtlCol="0">
            <a:normAutofit fontScale="85000" lnSpcReduction="20000"/>
          </a:bodyPr>
          <a:lstStyle/>
          <a:p>
            <a:pPr marL="0" marR="0" algn="l">
              <a:spcBef>
                <a:spcPts val="750"/>
              </a:spcBef>
              <a:buNone/>
            </a:pPr>
            <a:r>
              <a:rPr sz="1200" b="0">
                <a:solidFill>
                  <a:srgbClr val="FFFFFF"/>
                </a:solidFill>
                <a:effectLst/>
                <a:latin typeface="Avenir Next LT Pro" panose="020B0504020202020204" pitchFamily="34" charset="0"/>
              </a:rPr>
              <a:t>AI ALZ extends Azure CAF to deliver a secure, governed, cost‑optimized platform for enterprise AI.</a:t>
            </a:r>
            <a:r>
              <a:rPr>
                <a:effectLst/>
              </a:rPr>
              <a:t> </a:t>
            </a:r>
            <a:endParaRPr lang="en-GB"/>
          </a:p>
        </p:txBody>
      </p:sp>
      <p:sp>
        <p:nvSpPr>
          <p:cNvPr id="12" name="TextBox 11">
            <a:extLst>
              <a:ext uri="{FF2B5EF4-FFF2-40B4-BE49-F238E27FC236}">
                <a16:creationId xmlns:a16="http://schemas.microsoft.com/office/drawing/2014/main" id="{0CC671A6-59BC-441E-92C0-D258F3618CFF}"/>
              </a:ext>
            </a:extLst>
          </p:cNvPr>
          <p:cNvSpPr txBox="1"/>
          <p:nvPr/>
        </p:nvSpPr>
        <p:spPr>
          <a:xfrm>
            <a:off x="7247792" y="3519235"/>
            <a:ext cx="4391025" cy="285750"/>
          </a:xfrm>
          <a:prstGeom prst="rect">
            <a:avLst/>
          </a:prstGeom>
          <a:noFill/>
        </p:spPr>
        <p:txBody>
          <a:bodyPr wrap="square" rtlCol="0">
            <a:normAutofit fontScale="85000" lnSpcReduction="20000"/>
          </a:bodyPr>
          <a:lstStyle/>
          <a:p>
            <a:pPr marL="0" marR="0" algn="l">
              <a:spcBef>
                <a:spcPts val="1350"/>
              </a:spcBef>
              <a:buNone/>
            </a:pPr>
            <a:r>
              <a:rPr sz="1800" b="1">
                <a:solidFill>
                  <a:srgbClr val="FFFFFF"/>
                </a:solidFill>
                <a:effectLst/>
                <a:latin typeface="Avenir Next LT Pro" panose="020B0504020202020204" pitchFamily="34" charset="0"/>
              </a:rPr>
              <a:t>Security &amp; Compliance</a:t>
            </a:r>
            <a:r>
              <a:rPr>
                <a:effectLst/>
              </a:rPr>
              <a:t> </a:t>
            </a:r>
            <a:endParaRPr lang="en-GB"/>
          </a:p>
        </p:txBody>
      </p:sp>
      <p:sp>
        <p:nvSpPr>
          <p:cNvPr id="13" name="TextBox 12">
            <a:extLst>
              <a:ext uri="{FF2B5EF4-FFF2-40B4-BE49-F238E27FC236}">
                <a16:creationId xmlns:a16="http://schemas.microsoft.com/office/drawing/2014/main" id="{A11EAC07-3BE8-4026-AEA2-98F67C48D3EF}"/>
              </a:ext>
            </a:extLst>
          </p:cNvPr>
          <p:cNvSpPr txBox="1"/>
          <p:nvPr/>
        </p:nvSpPr>
        <p:spPr>
          <a:xfrm>
            <a:off x="7247792" y="4040912"/>
            <a:ext cx="4391025" cy="426541"/>
          </a:xfrm>
          <a:prstGeom prst="rect">
            <a:avLst/>
          </a:prstGeom>
          <a:noFill/>
        </p:spPr>
        <p:txBody>
          <a:bodyPr wrap="square" rtlCol="0">
            <a:normAutofit fontScale="85000" lnSpcReduction="20000"/>
          </a:bodyPr>
          <a:lstStyle/>
          <a:p>
            <a:pPr marL="0" marR="0" algn="l">
              <a:spcBef>
                <a:spcPts val="750"/>
              </a:spcBef>
              <a:buNone/>
            </a:pPr>
            <a:r>
              <a:rPr sz="1200">
                <a:solidFill>
                  <a:srgbClr val="FFFFFF"/>
                </a:solidFill>
                <a:effectLst/>
                <a:latin typeface="Avenir Next LT Pro" panose="020B0504020202020204" pitchFamily="34" charset="0"/>
              </a:rPr>
              <a:t>Eliminate public endpoints, control API keys, enforce residency, and enable full auditability.</a:t>
            </a:r>
            <a:r>
              <a:rPr>
                <a:effectLst/>
              </a:rPr>
              <a:t> </a:t>
            </a:r>
            <a:endParaRPr lang="en-GB"/>
          </a:p>
        </p:txBody>
      </p:sp>
      <p:sp>
        <p:nvSpPr>
          <p:cNvPr id="14" name="TextBox 13">
            <a:extLst>
              <a:ext uri="{FF2B5EF4-FFF2-40B4-BE49-F238E27FC236}">
                <a16:creationId xmlns:a16="http://schemas.microsoft.com/office/drawing/2014/main" id="{AF1B7B59-911D-49DB-BAAD-756A61DA7939}"/>
              </a:ext>
            </a:extLst>
          </p:cNvPr>
          <p:cNvSpPr txBox="1"/>
          <p:nvPr/>
        </p:nvSpPr>
        <p:spPr>
          <a:xfrm>
            <a:off x="7247792" y="4685795"/>
            <a:ext cx="4391025" cy="285750"/>
          </a:xfrm>
          <a:prstGeom prst="rect">
            <a:avLst/>
          </a:prstGeom>
          <a:noFill/>
        </p:spPr>
        <p:txBody>
          <a:bodyPr wrap="square" rtlCol="0">
            <a:normAutofit fontScale="85000" lnSpcReduction="20000"/>
          </a:bodyPr>
          <a:lstStyle/>
          <a:p>
            <a:pPr marL="0" marR="0" algn="l">
              <a:spcBef>
                <a:spcPts val="1350"/>
              </a:spcBef>
              <a:buNone/>
            </a:pPr>
            <a:r>
              <a:rPr sz="1800" b="1">
                <a:solidFill>
                  <a:srgbClr val="FFFFFF"/>
                </a:solidFill>
                <a:effectLst/>
                <a:latin typeface="Avenir Next LT Pro" panose="020B0504020202020204" pitchFamily="34" charset="0"/>
              </a:rPr>
              <a:t>Cost &amp; Capacity</a:t>
            </a:r>
            <a:r>
              <a:rPr>
                <a:effectLst/>
              </a:rPr>
              <a:t> </a:t>
            </a:r>
            <a:endParaRPr lang="en-GB"/>
          </a:p>
        </p:txBody>
      </p:sp>
      <p:sp>
        <p:nvSpPr>
          <p:cNvPr id="15" name="TextBox 14">
            <a:extLst>
              <a:ext uri="{FF2B5EF4-FFF2-40B4-BE49-F238E27FC236}">
                <a16:creationId xmlns:a16="http://schemas.microsoft.com/office/drawing/2014/main" id="{796430AB-824A-402E-8E87-AAC816207936}"/>
              </a:ext>
            </a:extLst>
          </p:cNvPr>
          <p:cNvSpPr txBox="1"/>
          <p:nvPr/>
        </p:nvSpPr>
        <p:spPr>
          <a:xfrm>
            <a:off x="7247792" y="5078519"/>
            <a:ext cx="4391025" cy="426541"/>
          </a:xfrm>
          <a:prstGeom prst="rect">
            <a:avLst/>
          </a:prstGeom>
          <a:noFill/>
        </p:spPr>
        <p:txBody>
          <a:bodyPr wrap="square" rtlCol="0">
            <a:normAutofit fontScale="85000" lnSpcReduction="20000"/>
          </a:bodyPr>
          <a:lstStyle/>
          <a:p>
            <a:pPr marL="0" marR="0" algn="l">
              <a:spcBef>
                <a:spcPts val="750"/>
              </a:spcBef>
              <a:buNone/>
            </a:pPr>
            <a:r>
              <a:rPr sz="1200">
                <a:solidFill>
                  <a:srgbClr val="FFFFFF"/>
                </a:solidFill>
                <a:effectLst/>
                <a:latin typeface="Avenir Next LT Pro" panose="020B0504020202020204" pitchFamily="34" charset="0"/>
              </a:rPr>
              <a:t>Gain predictability with governed model usage, quotas, and right‑sized capacity plans.</a:t>
            </a:r>
            <a:r>
              <a:rPr>
                <a:effectLst/>
              </a:rPr>
              <a:t> </a:t>
            </a:r>
            <a:endParaRPr lang="en-GB"/>
          </a:p>
        </p:txBody>
      </p:sp>
      <p:sp>
        <p:nvSpPr>
          <p:cNvPr id="16" name="TextBox 15">
            <a:extLst>
              <a:ext uri="{FF2B5EF4-FFF2-40B4-BE49-F238E27FC236}">
                <a16:creationId xmlns:a16="http://schemas.microsoft.com/office/drawing/2014/main" id="{42D35320-8C92-4DFA-91A6-BE89803B5B43}"/>
              </a:ext>
            </a:extLst>
          </p:cNvPr>
          <p:cNvSpPr txBox="1"/>
          <p:nvPr/>
        </p:nvSpPr>
        <p:spPr>
          <a:xfrm>
            <a:off x="7200900" y="5746849"/>
            <a:ext cx="4391025" cy="285750"/>
          </a:xfrm>
          <a:prstGeom prst="rect">
            <a:avLst/>
          </a:prstGeom>
          <a:noFill/>
        </p:spPr>
        <p:txBody>
          <a:bodyPr wrap="square" rtlCol="0">
            <a:normAutofit fontScale="85000" lnSpcReduction="20000"/>
          </a:bodyPr>
          <a:lstStyle/>
          <a:p>
            <a:pPr marL="0" marR="0" algn="l">
              <a:spcBef>
                <a:spcPts val="1350"/>
              </a:spcBef>
              <a:buNone/>
            </a:pPr>
            <a:r>
              <a:rPr sz="1800" b="1">
                <a:solidFill>
                  <a:srgbClr val="FFFFFF"/>
                </a:solidFill>
                <a:effectLst/>
                <a:latin typeface="Avenir Next LT Pro" panose="020B0504020202020204" pitchFamily="34" charset="0"/>
              </a:rPr>
              <a:t>Unified Platform</a:t>
            </a:r>
            <a:r>
              <a:rPr>
                <a:effectLst/>
              </a:rPr>
              <a:t> </a:t>
            </a:r>
            <a:endParaRPr lang="en-GB"/>
          </a:p>
        </p:txBody>
      </p:sp>
      <p:sp>
        <p:nvSpPr>
          <p:cNvPr id="17" name="TextBox 16">
            <a:extLst>
              <a:ext uri="{FF2B5EF4-FFF2-40B4-BE49-F238E27FC236}">
                <a16:creationId xmlns:a16="http://schemas.microsoft.com/office/drawing/2014/main" id="{F5C2FD8C-086A-4162-893D-293159F5AF35}"/>
              </a:ext>
            </a:extLst>
          </p:cNvPr>
          <p:cNvSpPr txBox="1"/>
          <p:nvPr/>
        </p:nvSpPr>
        <p:spPr>
          <a:xfrm>
            <a:off x="7200900" y="6127849"/>
            <a:ext cx="4391025" cy="426541"/>
          </a:xfrm>
          <a:prstGeom prst="rect">
            <a:avLst/>
          </a:prstGeom>
          <a:noFill/>
        </p:spPr>
        <p:txBody>
          <a:bodyPr wrap="square" rtlCol="0">
            <a:normAutofit fontScale="85000" lnSpcReduction="20000"/>
          </a:bodyPr>
          <a:lstStyle/>
          <a:p>
            <a:pPr marL="0" marR="0" algn="l">
              <a:spcBef>
                <a:spcPts val="750"/>
              </a:spcBef>
              <a:buNone/>
            </a:pPr>
            <a:r>
              <a:rPr sz="1200">
                <a:solidFill>
                  <a:srgbClr val="FFFFFF"/>
                </a:solidFill>
                <a:effectLst/>
                <a:latin typeface="Avenir Next LT Pro" panose="020B0504020202020204" pitchFamily="34" charset="0"/>
              </a:rPr>
              <a:t>Prevent silos; standardize networking, security, monitoring, and shared services for teams.</a:t>
            </a:r>
            <a:r>
              <a:rPr>
                <a:effectLst/>
              </a:rPr>
              <a:t> </a:t>
            </a:r>
            <a:endParaRPr lang="en-GB"/>
          </a:p>
        </p:txBody>
      </p:sp>
    </p:spTree>
    <p:extLst>
      <p:ext uri="{BB962C8B-B14F-4D97-AF65-F5344CB8AC3E}">
        <p14:creationId xmlns:p14="http://schemas.microsoft.com/office/powerpoint/2010/main" val="131742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CC73CB-ABC6-2128-9D09-0DAD46CCEBB7}"/>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04B5ACEB-6401-1415-C4A6-0D407E5AAE4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427D38E-C36C-4E15-FB56-F97821CB1306}"/>
              </a:ext>
            </a:extLst>
          </p:cNvPr>
          <p:cNvSpPr>
            <a:spLocks noGrp="1"/>
          </p:cNvSpPr>
          <p:nvPr>
            <p:ph type="sldNum" sz="quarter" idx="12"/>
          </p:nvPr>
        </p:nvSpPr>
        <p:spPr/>
        <p:txBody>
          <a:bodyPr/>
          <a:lstStyle/>
          <a:p>
            <a:fld id="{84C450F2-3BB4-4AE4-8A35-A9D7AEA4C850}" type="slidenum">
              <a:rPr lang="en-US" smtClean="0"/>
              <a:t>6</a:t>
            </a:fld>
            <a:endParaRPr lang="en-US" dirty="0"/>
          </a:p>
        </p:txBody>
      </p:sp>
      <p:pic>
        <p:nvPicPr>
          <p:cNvPr id="8" name="Graphic 7" descr="A detailed infographic illustrating the AI ALZ solution architecture, featuring centralized AI infrastructure with hub-and-spoke networking, API gateway, infrastructure-as-code templates, integrated monitoring, and cost allocation. The visual should depict interconnected components, cloud icons, and workflow arrows, emphasizing security, cost optimization, and seamless integration. No visible or implied text, letters, or words should appear anywhere in the image">
            <a:extLst>
              <a:ext uri="{FF2B5EF4-FFF2-40B4-BE49-F238E27FC236}">
                <a16:creationId xmlns:a16="http://schemas.microsoft.com/office/drawing/2014/main" id="{A7AA9DC2-F22C-4277-9C20-53CF7650C5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6858000" cy="6858000"/>
          </a:xfrm>
          <a:prstGeom prst="rect">
            <a:avLst/>
          </a:prstGeom>
        </p:spPr>
      </p:pic>
      <p:sp>
        <p:nvSpPr>
          <p:cNvPr id="9" name="TextBox 8">
            <a:extLst>
              <a:ext uri="{FF2B5EF4-FFF2-40B4-BE49-F238E27FC236}">
                <a16:creationId xmlns:a16="http://schemas.microsoft.com/office/drawing/2014/main" id="{90F75D6A-EA73-44C5-B27D-87F882AA2850}"/>
              </a:ext>
            </a:extLst>
          </p:cNvPr>
          <p:cNvSpPr txBox="1"/>
          <p:nvPr/>
        </p:nvSpPr>
        <p:spPr>
          <a:xfrm>
            <a:off x="7200891" y="322695"/>
            <a:ext cx="3034490" cy="2514600"/>
          </a:xfrm>
          <a:prstGeom prst="rect">
            <a:avLst/>
          </a:prstGeom>
          <a:noFill/>
        </p:spPr>
        <p:txBody>
          <a:bodyPr wrap="square" rtlCol="0">
            <a:normAutofit fontScale="92500"/>
          </a:bodyPr>
          <a:lstStyle/>
          <a:p>
            <a:pPr marL="0" algn="l">
              <a:buNone/>
            </a:pPr>
            <a:r>
              <a:rPr sz="3600" dirty="0">
                <a:solidFill>
                  <a:srgbClr val="F7CA66"/>
                </a:solidFill>
                <a:latin typeface="Lufga" panose="00000500000000000000" pitchFamily="50" charset="0"/>
                <a:ea typeface="+mj-ea"/>
                <a:cs typeface="+mj-cs"/>
              </a:rPr>
              <a:t>AI ALZ: SECURITY, COST, INTEGRATION </a:t>
            </a:r>
            <a:endParaRPr lang="en-GB" sz="36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32048714-2707-4A6C-AADA-4ED84E39FA7D}"/>
              </a:ext>
            </a:extLst>
          </p:cNvPr>
          <p:cNvSpPr txBox="1"/>
          <p:nvPr/>
        </p:nvSpPr>
        <p:spPr>
          <a:xfrm>
            <a:off x="7200899" y="2831692"/>
            <a:ext cx="4391025" cy="274290"/>
          </a:xfrm>
          <a:prstGeom prst="rect">
            <a:avLst/>
          </a:prstGeom>
          <a:noFill/>
        </p:spPr>
        <p:txBody>
          <a:bodyPr wrap="square" rtlCol="0">
            <a:normAutofit fontScale="77500" lnSpcReduction="20000"/>
          </a:bodyPr>
          <a:lstStyle/>
          <a:p>
            <a:pPr marL="0" algn="l">
              <a:buNone/>
            </a:pPr>
            <a:r>
              <a:rPr sz="1800" b="1" dirty="0">
                <a:solidFill>
                  <a:srgbClr val="FFFFFF"/>
                </a:solidFill>
                <a:effectLst/>
                <a:latin typeface="Avenir Next LT Pro Bold" panose="020B0804020202020204" pitchFamily="34" charset="0"/>
              </a:rPr>
              <a:t>Centralized AI Platform</a:t>
            </a:r>
            <a:r>
              <a:rPr dirty="0">
                <a:effectLst/>
              </a:rPr>
              <a:t> </a:t>
            </a:r>
            <a:endParaRPr lang="en-GB" dirty="0"/>
          </a:p>
        </p:txBody>
      </p:sp>
      <p:sp>
        <p:nvSpPr>
          <p:cNvPr id="11" name="TextBox 10">
            <a:extLst>
              <a:ext uri="{FF2B5EF4-FFF2-40B4-BE49-F238E27FC236}">
                <a16:creationId xmlns:a16="http://schemas.microsoft.com/office/drawing/2014/main" id="{0E46BDC6-F86E-4139-B22C-714C9FD7FC19}"/>
              </a:ext>
            </a:extLst>
          </p:cNvPr>
          <p:cNvSpPr txBox="1"/>
          <p:nvPr/>
        </p:nvSpPr>
        <p:spPr>
          <a:xfrm>
            <a:off x="7200898" y="3327544"/>
            <a:ext cx="4391025" cy="411360"/>
          </a:xfrm>
          <a:prstGeom prst="rect">
            <a:avLst/>
          </a:prstGeom>
          <a:noFill/>
        </p:spPr>
        <p:txBody>
          <a:bodyPr wrap="square" rtlCol="0">
            <a:noAutofit/>
          </a:bodyPr>
          <a:lstStyle/>
          <a:p>
            <a:pPr marL="0" marR="0" algn="l">
              <a:spcBef>
                <a:spcPts val="750"/>
              </a:spcBef>
              <a:buNone/>
            </a:pPr>
            <a:r>
              <a:rPr sz="1200" dirty="0">
                <a:solidFill>
                  <a:srgbClr val="FFFFFF"/>
                </a:solidFill>
                <a:effectLst/>
                <a:latin typeface="Avenir Next LT Pro Regular"/>
              </a:rPr>
              <a:t>Reusable infra with hub–spoke networking, private endpoints, unified security policies.</a:t>
            </a:r>
            <a:r>
              <a:rPr sz="1200" dirty="0">
                <a:effectLst/>
              </a:rPr>
              <a:t> </a:t>
            </a:r>
            <a:endParaRPr lang="en-GB" sz="1200" dirty="0"/>
          </a:p>
        </p:txBody>
      </p:sp>
      <p:sp>
        <p:nvSpPr>
          <p:cNvPr id="12" name="TextBox 11">
            <a:extLst>
              <a:ext uri="{FF2B5EF4-FFF2-40B4-BE49-F238E27FC236}">
                <a16:creationId xmlns:a16="http://schemas.microsoft.com/office/drawing/2014/main" id="{26F2DD7E-EC59-4438-9559-B28A7BA52D08}"/>
              </a:ext>
            </a:extLst>
          </p:cNvPr>
          <p:cNvSpPr txBox="1"/>
          <p:nvPr/>
        </p:nvSpPr>
        <p:spPr>
          <a:xfrm>
            <a:off x="7200897" y="3954509"/>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FFFFFF"/>
                </a:solidFill>
                <a:effectLst/>
                <a:latin typeface="Avenir Next LT Pro Bold" panose="020B0804020202020204" pitchFamily="34" charset="0"/>
              </a:rPr>
              <a:t>Intelligent API Gateway</a:t>
            </a:r>
            <a:r>
              <a:rPr>
                <a:effectLst/>
              </a:rPr>
              <a:t> </a:t>
            </a:r>
            <a:endParaRPr lang="en-GB"/>
          </a:p>
        </p:txBody>
      </p:sp>
      <p:sp>
        <p:nvSpPr>
          <p:cNvPr id="13" name="TextBox 12">
            <a:extLst>
              <a:ext uri="{FF2B5EF4-FFF2-40B4-BE49-F238E27FC236}">
                <a16:creationId xmlns:a16="http://schemas.microsoft.com/office/drawing/2014/main" id="{C7C31A90-A310-4EC2-9D9C-73FF03C6E4BD}"/>
              </a:ext>
            </a:extLst>
          </p:cNvPr>
          <p:cNvSpPr txBox="1"/>
          <p:nvPr/>
        </p:nvSpPr>
        <p:spPr>
          <a:xfrm>
            <a:off x="7200896" y="4355603"/>
            <a:ext cx="4391025" cy="411360"/>
          </a:xfrm>
          <a:prstGeom prst="rect">
            <a:avLst/>
          </a:prstGeom>
          <a:noFill/>
        </p:spPr>
        <p:txBody>
          <a:bodyPr wrap="square" rtlCol="0">
            <a:noAutofit/>
          </a:bodyPr>
          <a:lstStyle/>
          <a:p>
            <a:pPr marL="0" marR="0" algn="l">
              <a:spcBef>
                <a:spcPts val="750"/>
              </a:spcBef>
              <a:buNone/>
            </a:pPr>
            <a:r>
              <a:rPr sz="1200" dirty="0">
                <a:solidFill>
                  <a:srgbClr val="FFFFFF"/>
                </a:solidFill>
                <a:effectLst/>
                <a:latin typeface="Avenir Next LT Pro Regular"/>
              </a:rPr>
              <a:t>APIM for routing, auth, rate limits, and usage tracking across Azure OpenAI.</a:t>
            </a:r>
            <a:r>
              <a:rPr sz="1200" dirty="0">
                <a:effectLst/>
              </a:rPr>
              <a:t> </a:t>
            </a:r>
            <a:endParaRPr lang="en-GB" sz="1200" dirty="0"/>
          </a:p>
        </p:txBody>
      </p:sp>
      <p:sp>
        <p:nvSpPr>
          <p:cNvPr id="14" name="TextBox 13">
            <a:extLst>
              <a:ext uri="{FF2B5EF4-FFF2-40B4-BE49-F238E27FC236}">
                <a16:creationId xmlns:a16="http://schemas.microsoft.com/office/drawing/2014/main" id="{E09C817D-C50F-43C3-8B00-2391096781F1}"/>
              </a:ext>
            </a:extLst>
          </p:cNvPr>
          <p:cNvSpPr txBox="1"/>
          <p:nvPr/>
        </p:nvSpPr>
        <p:spPr>
          <a:xfrm>
            <a:off x="7200895" y="4940181"/>
            <a:ext cx="4391025" cy="274290"/>
          </a:xfrm>
          <a:prstGeom prst="rect">
            <a:avLst/>
          </a:prstGeom>
          <a:noFill/>
        </p:spPr>
        <p:txBody>
          <a:bodyPr wrap="square" rtlCol="0">
            <a:normAutofit fontScale="77500" lnSpcReduction="20000"/>
          </a:bodyPr>
          <a:lstStyle/>
          <a:p>
            <a:pPr marL="0" algn="l">
              <a:spcBef>
                <a:spcPts val="1200"/>
              </a:spcBef>
              <a:buNone/>
            </a:pPr>
            <a:r>
              <a:rPr sz="1800" b="1" dirty="0" err="1">
                <a:solidFill>
                  <a:srgbClr val="FFFFFF"/>
                </a:solidFill>
                <a:effectLst/>
                <a:latin typeface="Avenir Next LT Pro Bold" panose="020B0804020202020204" pitchFamily="34" charset="0"/>
              </a:rPr>
              <a:t>IaC</a:t>
            </a:r>
            <a:r>
              <a:rPr sz="1800" b="1" dirty="0">
                <a:solidFill>
                  <a:srgbClr val="FFFFFF"/>
                </a:solidFill>
                <a:effectLst/>
                <a:latin typeface="Avenir Next LT Pro Bold" panose="020B0804020202020204" pitchFamily="34" charset="0"/>
              </a:rPr>
              <a:t> “Vending Machine”</a:t>
            </a:r>
            <a:r>
              <a:rPr dirty="0">
                <a:effectLst/>
              </a:rPr>
              <a:t> </a:t>
            </a:r>
            <a:endParaRPr lang="en-GB" dirty="0"/>
          </a:p>
        </p:txBody>
      </p:sp>
      <p:sp>
        <p:nvSpPr>
          <p:cNvPr id="15" name="TextBox 14">
            <a:extLst>
              <a:ext uri="{FF2B5EF4-FFF2-40B4-BE49-F238E27FC236}">
                <a16:creationId xmlns:a16="http://schemas.microsoft.com/office/drawing/2014/main" id="{59558C8B-1449-4A75-A40E-9A8A359FE019}"/>
              </a:ext>
            </a:extLst>
          </p:cNvPr>
          <p:cNvSpPr txBox="1"/>
          <p:nvPr/>
        </p:nvSpPr>
        <p:spPr>
          <a:xfrm>
            <a:off x="7200894" y="5355977"/>
            <a:ext cx="4391025" cy="411360"/>
          </a:xfrm>
          <a:prstGeom prst="rect">
            <a:avLst/>
          </a:prstGeom>
          <a:noFill/>
        </p:spPr>
        <p:txBody>
          <a:bodyPr wrap="square" rtlCol="0">
            <a:noAutofit/>
          </a:bodyPr>
          <a:lstStyle/>
          <a:p>
            <a:pPr marL="0" marR="0" algn="l">
              <a:spcBef>
                <a:spcPts val="750"/>
              </a:spcBef>
              <a:buNone/>
            </a:pPr>
            <a:r>
              <a:rPr sz="1200" dirty="0">
                <a:solidFill>
                  <a:srgbClr val="FFFFFF"/>
                </a:solidFill>
                <a:effectLst/>
                <a:latin typeface="Avenir Next LT Pro Regular"/>
              </a:rPr>
              <a:t>Bicep/Terraform templates enable self‑service deployments for app teams.</a:t>
            </a:r>
            <a:r>
              <a:rPr sz="1200" dirty="0">
                <a:effectLst/>
              </a:rPr>
              <a:t> </a:t>
            </a:r>
            <a:endParaRPr lang="en-GB" sz="1200" dirty="0"/>
          </a:p>
        </p:txBody>
      </p:sp>
      <p:sp>
        <p:nvSpPr>
          <p:cNvPr id="16" name="TextBox 15">
            <a:extLst>
              <a:ext uri="{FF2B5EF4-FFF2-40B4-BE49-F238E27FC236}">
                <a16:creationId xmlns:a16="http://schemas.microsoft.com/office/drawing/2014/main" id="{4A80CDBE-3369-40C8-A9B5-28AEF76F76CF}"/>
              </a:ext>
            </a:extLst>
          </p:cNvPr>
          <p:cNvSpPr txBox="1"/>
          <p:nvPr/>
        </p:nvSpPr>
        <p:spPr>
          <a:xfrm>
            <a:off x="7200893" y="5902944"/>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FFFFFF"/>
                </a:solidFill>
                <a:effectLst/>
                <a:latin typeface="Avenir Next LT Pro Bold" panose="020B0804020202020204" pitchFamily="34" charset="0"/>
              </a:rPr>
              <a:t>Monitoring &amp; Governance</a:t>
            </a:r>
            <a:r>
              <a:rPr>
                <a:effectLst/>
              </a:rPr>
              <a:t> </a:t>
            </a:r>
            <a:endParaRPr lang="en-GB"/>
          </a:p>
        </p:txBody>
      </p:sp>
      <p:sp>
        <p:nvSpPr>
          <p:cNvPr id="17" name="TextBox 16">
            <a:extLst>
              <a:ext uri="{FF2B5EF4-FFF2-40B4-BE49-F238E27FC236}">
                <a16:creationId xmlns:a16="http://schemas.microsoft.com/office/drawing/2014/main" id="{772A35F9-07B6-492D-8570-BF84F470DFDB}"/>
              </a:ext>
            </a:extLst>
          </p:cNvPr>
          <p:cNvSpPr txBox="1"/>
          <p:nvPr/>
        </p:nvSpPr>
        <p:spPr>
          <a:xfrm>
            <a:off x="7200892" y="6310115"/>
            <a:ext cx="4391025" cy="411360"/>
          </a:xfrm>
          <a:prstGeom prst="rect">
            <a:avLst/>
          </a:prstGeom>
          <a:noFill/>
        </p:spPr>
        <p:txBody>
          <a:bodyPr wrap="square" rtlCol="0">
            <a:noAutofit/>
          </a:bodyPr>
          <a:lstStyle/>
          <a:p>
            <a:pPr marL="0" marR="0" algn="l">
              <a:spcBef>
                <a:spcPts val="750"/>
              </a:spcBef>
              <a:buNone/>
            </a:pPr>
            <a:r>
              <a:rPr sz="1200" dirty="0">
                <a:solidFill>
                  <a:srgbClr val="FFFFFF"/>
                </a:solidFill>
                <a:effectLst/>
                <a:latin typeface="Avenir Next LT Pro Regular"/>
              </a:rPr>
              <a:t>Azure Monitor, Defender for Cloud, and Purview for visibility and cost allocation.</a:t>
            </a:r>
            <a:r>
              <a:rPr sz="1200" dirty="0">
                <a:effectLst/>
              </a:rPr>
              <a:t> </a:t>
            </a:r>
            <a:endParaRPr lang="en-GB" sz="1200" dirty="0"/>
          </a:p>
        </p:txBody>
      </p:sp>
    </p:spTree>
    <p:extLst>
      <p:ext uri="{BB962C8B-B14F-4D97-AF65-F5344CB8AC3E}">
        <p14:creationId xmlns:p14="http://schemas.microsoft.com/office/powerpoint/2010/main" val="116320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52BFC4-DEDE-FFFD-9E83-D40BB1452584}"/>
              </a:ext>
            </a:extLst>
          </p:cNvPr>
          <p:cNvSpPr>
            <a:spLocks noGrp="1"/>
          </p:cNvSpPr>
          <p:nvPr>
            <p:ph type="title"/>
          </p:nvPr>
        </p:nvSpPr>
        <p:spPr/>
        <p:txBody>
          <a:bodyPr/>
          <a:lstStyle/>
          <a:p>
            <a:r>
              <a:rPr lang="en-US" dirty="0"/>
              <a:t>SECURITY, COMPLIANCE, AND GOVERNANCE </a:t>
            </a:r>
          </a:p>
        </p:txBody>
      </p:sp>
    </p:spTree>
    <p:extLst>
      <p:ext uri="{BB962C8B-B14F-4D97-AF65-F5344CB8AC3E}">
        <p14:creationId xmlns:p14="http://schemas.microsoft.com/office/powerpoint/2010/main" val="903428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AD3E-D208-CA2E-BE6D-A628793F1898}"/>
              </a:ext>
            </a:extLst>
          </p:cNvPr>
          <p:cNvSpPr>
            <a:spLocks noGrp="1"/>
          </p:cNvSpPr>
          <p:nvPr>
            <p:ph type="title"/>
          </p:nvPr>
        </p:nvSpPr>
        <p:spPr>
          <a:xfrm>
            <a:off x="215757" y="394462"/>
            <a:ext cx="4899316" cy="1453896"/>
          </a:xfrm>
        </p:spPr>
        <p:txBody>
          <a:bodyPr anchor="t">
            <a:normAutofit/>
          </a:bodyPr>
          <a:lstStyle/>
          <a:p>
            <a:r>
              <a:rPr lang="en-GB" b="1" dirty="0"/>
              <a:t>Security &amp; Compliance Challenges</a:t>
            </a:r>
            <a:endParaRPr lang="en-US" dirty="0"/>
          </a:p>
          <a:p>
            <a:endParaRPr lang="en-GB" dirty="0"/>
          </a:p>
        </p:txBody>
      </p:sp>
      <p:sp>
        <p:nvSpPr>
          <p:cNvPr id="17" name="Picture Placeholder 2">
            <a:extLst>
              <a:ext uri="{FF2B5EF4-FFF2-40B4-BE49-F238E27FC236}">
                <a16:creationId xmlns:a16="http://schemas.microsoft.com/office/drawing/2014/main" id="{76869F05-75C4-29DC-A43C-42191F58B971}"/>
              </a:ext>
            </a:extLst>
          </p:cNvPr>
          <p:cNvSpPr>
            <a:spLocks noGrp="1"/>
          </p:cNvSpPr>
          <p:nvPr>
            <p:ph type="pic" sz="quarter" idx="15"/>
          </p:nvPr>
        </p:nvSpPr>
        <p:spPr>
          <a:xfrm>
            <a:off x="0" y="2293494"/>
            <a:ext cx="4176819" cy="4564506"/>
          </a:xfrm>
        </p:spPr>
        <p:txBody>
          <a:bodyPr/>
          <a:lstStyle/>
          <a:p>
            <a:endParaRPr lang="en-GB"/>
          </a:p>
        </p:txBody>
      </p:sp>
      <p:sp>
        <p:nvSpPr>
          <p:cNvPr id="4" name="Date Placeholder 3">
            <a:extLst>
              <a:ext uri="{FF2B5EF4-FFF2-40B4-BE49-F238E27FC236}">
                <a16:creationId xmlns:a16="http://schemas.microsoft.com/office/drawing/2014/main" id="{AC83E66A-E26A-7A3E-6E37-24B509420F99}"/>
              </a:ext>
            </a:extLst>
          </p:cNvPr>
          <p:cNvSpPr>
            <a:spLocks noGrp="1"/>
          </p:cNvSpPr>
          <p:nvPr>
            <p:ph type="dt" sz="half" idx="10"/>
          </p:nvPr>
        </p:nvSpPr>
        <p:spPr>
          <a:xfrm>
            <a:off x="5115073" y="6492240"/>
            <a:ext cx="2843784" cy="338328"/>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7AF5F17D-CAC2-EC1D-F0B6-F8B941B0725B}"/>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DAD16E71-B5BF-D474-478E-AA1C720DC54B}"/>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8</a:t>
            </a:fld>
            <a:endParaRPr lang="en-US"/>
          </a:p>
        </p:txBody>
      </p:sp>
      <p:graphicFrame>
        <p:nvGraphicFramePr>
          <p:cNvPr id="18" name="Content Placeholder 2">
            <a:extLst>
              <a:ext uri="{FF2B5EF4-FFF2-40B4-BE49-F238E27FC236}">
                <a16:creationId xmlns:a16="http://schemas.microsoft.com/office/drawing/2014/main" id="{E12D8B5F-BBB8-85F5-4B38-528FD65E21A7}"/>
              </a:ext>
            </a:extLst>
          </p:cNvPr>
          <p:cNvGraphicFramePr>
            <a:graphicFrameLocks noGrp="1"/>
          </p:cNvGraphicFramePr>
          <p:nvPr>
            <p:ph sz="quarter" idx="14"/>
            <p:extLst>
              <p:ext uri="{D42A27DB-BD31-4B8C-83A1-F6EECF244321}">
                <p14:modId xmlns:p14="http://schemas.microsoft.com/office/powerpoint/2010/main" val="2589926261"/>
              </p:ext>
            </p:extLst>
          </p:nvPr>
        </p:nvGraphicFramePr>
        <p:xfrm>
          <a:off x="5120787" y="549275"/>
          <a:ext cx="6561138" cy="5788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825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CA6BBB-5064-EB20-55FC-5BAEA44A5F21}"/>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6" name="Slide Number Placeholder 5">
            <a:extLst>
              <a:ext uri="{FF2B5EF4-FFF2-40B4-BE49-F238E27FC236}">
                <a16:creationId xmlns:a16="http://schemas.microsoft.com/office/drawing/2014/main" id="{FCBFC3CD-803A-3745-FA22-DCD0FF4D3279}"/>
              </a:ext>
            </a:extLst>
          </p:cNvPr>
          <p:cNvSpPr>
            <a:spLocks noGrp="1"/>
          </p:cNvSpPr>
          <p:nvPr>
            <p:ph type="sldNum" sz="quarter" idx="12"/>
          </p:nvPr>
        </p:nvSpPr>
        <p:spPr/>
        <p:txBody>
          <a:bodyPr/>
          <a:lstStyle/>
          <a:p>
            <a:fld id="{84C450F2-3BB4-4AE4-8A35-A9D7AEA4C850}" type="slidenum">
              <a:rPr lang="en-US" smtClean="0"/>
              <a:t>9</a:t>
            </a:fld>
            <a:endParaRPr lang="en-US" dirty="0"/>
          </a:p>
        </p:txBody>
      </p:sp>
      <p:pic>
        <p:nvPicPr>
          <p:cNvPr id="8" name="Graphic 7" descr="A black-and-white hero photograph showing a secure data center corridor with subtle blue accent lighting. The image should evoke trust, technology, and professionalism, and be visually distinct from the infographic. The composition must be minimal with strong lines and depth, providing ambiance without any visible or implied text, letters, or words">
            <a:extLst>
              <a:ext uri="{FF2B5EF4-FFF2-40B4-BE49-F238E27FC236}">
                <a16:creationId xmlns:a16="http://schemas.microsoft.com/office/drawing/2014/main" id="{E1A2FD54-4F8C-48E6-A137-40A356DD31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8707" y="0"/>
            <a:ext cx="5533293" cy="3584331"/>
          </a:xfrm>
          <a:prstGeom prst="rect">
            <a:avLst/>
          </a:prstGeom>
        </p:spPr>
      </p:pic>
      <p:sp>
        <p:nvSpPr>
          <p:cNvPr id="9" name="TextBox 8">
            <a:extLst>
              <a:ext uri="{FF2B5EF4-FFF2-40B4-BE49-F238E27FC236}">
                <a16:creationId xmlns:a16="http://schemas.microsoft.com/office/drawing/2014/main" id="{9193971C-1BF9-4676-85B5-3176656253CE}"/>
              </a:ext>
            </a:extLst>
          </p:cNvPr>
          <p:cNvSpPr txBox="1"/>
          <p:nvPr/>
        </p:nvSpPr>
        <p:spPr>
          <a:xfrm>
            <a:off x="619125" y="581025"/>
            <a:ext cx="4391025" cy="2514600"/>
          </a:xfrm>
          <a:prstGeom prst="rect">
            <a:avLst/>
          </a:prstGeom>
          <a:noFill/>
        </p:spPr>
        <p:txBody>
          <a:bodyPr wrap="square" rtlCol="0">
            <a:normAutofit/>
          </a:bodyPr>
          <a:lstStyle/>
          <a:p>
            <a:pPr marL="0" algn="l">
              <a:buNone/>
            </a:pPr>
            <a:r>
              <a:rPr sz="3200" dirty="0">
                <a:solidFill>
                  <a:srgbClr val="F7CA66"/>
                </a:solidFill>
                <a:latin typeface="Lufga" panose="00000500000000000000" pitchFamily="50" charset="0"/>
                <a:ea typeface="+mj-ea"/>
                <a:cs typeface="+mj-cs"/>
              </a:rPr>
              <a:t>MITIGATING SECURITY AND COMPLIANCE RISKS </a:t>
            </a:r>
            <a:endParaRPr lang="en-GB" sz="32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39FDE050-D9C8-45E4-81A9-30E9E5614B48}"/>
              </a:ext>
            </a:extLst>
          </p:cNvPr>
          <p:cNvSpPr txBox="1"/>
          <p:nvPr/>
        </p:nvSpPr>
        <p:spPr>
          <a:xfrm>
            <a:off x="619125" y="3438525"/>
            <a:ext cx="4391025" cy="274290"/>
          </a:xfrm>
          <a:prstGeom prst="rect">
            <a:avLst/>
          </a:prstGeom>
          <a:noFill/>
        </p:spPr>
        <p:txBody>
          <a:bodyPr wrap="square" rtlCol="0">
            <a:normAutofit fontScale="77500" lnSpcReduction="20000"/>
          </a:bodyPr>
          <a:lstStyle/>
          <a:p>
            <a:pPr marL="0" algn="l">
              <a:buNone/>
            </a:pPr>
            <a:r>
              <a:rPr sz="1800" b="1">
                <a:solidFill>
                  <a:srgbClr val="FFFFFF"/>
                </a:solidFill>
                <a:effectLst/>
                <a:latin typeface="Avenir Next LT Pro" panose="020B0504020202020204" pitchFamily="34" charset="0"/>
              </a:rPr>
              <a:t>1. Public endpoints, API keys</a:t>
            </a:r>
            <a:r>
              <a:rPr>
                <a:effectLst/>
              </a:rPr>
              <a:t> </a:t>
            </a:r>
            <a:endParaRPr lang="en-GB"/>
          </a:p>
        </p:txBody>
      </p:sp>
      <p:sp>
        <p:nvSpPr>
          <p:cNvPr id="11" name="TextBox 10">
            <a:extLst>
              <a:ext uri="{FF2B5EF4-FFF2-40B4-BE49-F238E27FC236}">
                <a16:creationId xmlns:a16="http://schemas.microsoft.com/office/drawing/2014/main" id="{77EE3B20-65BB-4B6A-8420-4A0646A5C8E1}"/>
              </a:ext>
            </a:extLst>
          </p:cNvPr>
          <p:cNvSpPr txBox="1"/>
          <p:nvPr/>
        </p:nvSpPr>
        <p:spPr>
          <a:xfrm>
            <a:off x="619125" y="3808065"/>
            <a:ext cx="5614235" cy="639812"/>
          </a:xfrm>
          <a:prstGeom prst="rect">
            <a:avLst/>
          </a:prstGeom>
          <a:noFill/>
        </p:spPr>
        <p:txBody>
          <a:bodyPr wrap="square" rtlCol="0">
            <a:normAutofit/>
          </a:bodyPr>
          <a:lstStyle/>
          <a:p>
            <a:pPr marL="0" algn="l">
              <a:spcBef>
                <a:spcPts val="750"/>
              </a:spcBef>
              <a:buNone/>
            </a:pPr>
            <a:r>
              <a:rPr sz="1200" b="0">
                <a:solidFill>
                  <a:srgbClr val="FFFFFF"/>
                </a:solidFill>
                <a:effectLst/>
                <a:latin typeface="Avenir Next LT Pro" panose="020B0504020202020204" pitchFamily="34" charset="0"/>
              </a:rPr>
              <a:t>Risk of key leakage and no network isolation. AI ALZ enforces private endpoints, NSGs, Firewall, and managed identity auth.</a:t>
            </a:r>
            <a:r>
              <a:rPr>
                <a:effectLst/>
              </a:rPr>
              <a:t> </a:t>
            </a:r>
            <a:endParaRPr lang="en-GB"/>
          </a:p>
        </p:txBody>
      </p:sp>
      <p:sp>
        <p:nvSpPr>
          <p:cNvPr id="12" name="TextBox 11">
            <a:extLst>
              <a:ext uri="{FF2B5EF4-FFF2-40B4-BE49-F238E27FC236}">
                <a16:creationId xmlns:a16="http://schemas.microsoft.com/office/drawing/2014/main" id="{DDC969F4-E404-407C-A10E-5FE9F1089BCB}"/>
              </a:ext>
            </a:extLst>
          </p:cNvPr>
          <p:cNvSpPr txBox="1"/>
          <p:nvPr/>
        </p:nvSpPr>
        <p:spPr>
          <a:xfrm>
            <a:off x="619125" y="4600277"/>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FFFFFF"/>
                </a:solidFill>
                <a:effectLst/>
                <a:latin typeface="Avenir Next LT Pro" panose="020B0504020202020204" pitchFamily="34" charset="0"/>
              </a:rPr>
              <a:t>2. Data residency, sovereignty</a:t>
            </a:r>
            <a:r>
              <a:rPr>
                <a:effectLst/>
              </a:rPr>
              <a:t> </a:t>
            </a:r>
            <a:endParaRPr lang="en-GB"/>
          </a:p>
        </p:txBody>
      </p:sp>
      <p:sp>
        <p:nvSpPr>
          <p:cNvPr id="13" name="TextBox 12">
            <a:extLst>
              <a:ext uri="{FF2B5EF4-FFF2-40B4-BE49-F238E27FC236}">
                <a16:creationId xmlns:a16="http://schemas.microsoft.com/office/drawing/2014/main" id="{5CE9EEB6-52B4-49D5-A453-5309785EE2F8}"/>
              </a:ext>
            </a:extLst>
          </p:cNvPr>
          <p:cNvSpPr txBox="1"/>
          <p:nvPr/>
        </p:nvSpPr>
        <p:spPr>
          <a:xfrm>
            <a:off x="619125" y="4969817"/>
            <a:ext cx="5293393" cy="426541"/>
          </a:xfrm>
          <a:prstGeom prst="rect">
            <a:avLst/>
          </a:prstGeom>
          <a:noFill/>
        </p:spPr>
        <p:txBody>
          <a:bodyPr wrap="square" rtlCol="0">
            <a:normAutofit fontScale="85000" lnSpcReduction="20000"/>
          </a:bodyPr>
          <a:lstStyle/>
          <a:p>
            <a:pPr marL="0" algn="l">
              <a:spcBef>
                <a:spcPts val="750"/>
              </a:spcBef>
              <a:buNone/>
            </a:pPr>
            <a:r>
              <a:rPr sz="1200" b="0">
                <a:solidFill>
                  <a:srgbClr val="FFFFFF"/>
                </a:solidFill>
                <a:effectLst/>
                <a:latin typeface="Avenir Next LT Pro" panose="020B0504020202020204" pitchFamily="34" charset="0"/>
              </a:rPr>
              <a:t>Avoid processing outside required geos. AI ALZ uses Data Zone Standard/Provisioned with region constraints via Policy.</a:t>
            </a:r>
            <a:r>
              <a:rPr>
                <a:effectLst/>
              </a:rPr>
              <a:t> </a:t>
            </a:r>
            <a:endParaRPr lang="en-GB"/>
          </a:p>
        </p:txBody>
      </p:sp>
      <p:sp>
        <p:nvSpPr>
          <p:cNvPr id="14" name="TextBox 13">
            <a:extLst>
              <a:ext uri="{FF2B5EF4-FFF2-40B4-BE49-F238E27FC236}">
                <a16:creationId xmlns:a16="http://schemas.microsoft.com/office/drawing/2014/main" id="{60084179-DE4D-4E80-B42B-71DB84201440}"/>
              </a:ext>
            </a:extLst>
          </p:cNvPr>
          <p:cNvSpPr txBox="1"/>
          <p:nvPr/>
        </p:nvSpPr>
        <p:spPr>
          <a:xfrm>
            <a:off x="619125" y="5548758"/>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FFFFFF"/>
                </a:solidFill>
                <a:effectLst/>
                <a:latin typeface="Avenir Next LT Pro" panose="020B0504020202020204" pitchFamily="34" charset="0"/>
              </a:rPr>
              <a:t>3. Missing audit and detection</a:t>
            </a:r>
            <a:r>
              <a:rPr>
                <a:effectLst/>
              </a:rPr>
              <a:t> </a:t>
            </a:r>
            <a:endParaRPr lang="en-GB"/>
          </a:p>
        </p:txBody>
      </p:sp>
      <p:sp>
        <p:nvSpPr>
          <p:cNvPr id="15" name="TextBox 14">
            <a:extLst>
              <a:ext uri="{FF2B5EF4-FFF2-40B4-BE49-F238E27FC236}">
                <a16:creationId xmlns:a16="http://schemas.microsoft.com/office/drawing/2014/main" id="{AB2B71D2-8FDC-4A69-80A3-6A8F6EBCE43D}"/>
              </a:ext>
            </a:extLst>
          </p:cNvPr>
          <p:cNvSpPr txBox="1"/>
          <p:nvPr/>
        </p:nvSpPr>
        <p:spPr>
          <a:xfrm>
            <a:off x="619125" y="5918299"/>
            <a:ext cx="4391025" cy="426541"/>
          </a:xfrm>
          <a:prstGeom prst="rect">
            <a:avLst/>
          </a:prstGeom>
          <a:noFill/>
        </p:spPr>
        <p:txBody>
          <a:bodyPr wrap="square" rtlCol="0">
            <a:normAutofit fontScale="85000" lnSpcReduction="20000"/>
          </a:bodyPr>
          <a:lstStyle/>
          <a:p>
            <a:pPr marL="0" algn="l">
              <a:spcBef>
                <a:spcPts val="750"/>
              </a:spcBef>
              <a:buNone/>
            </a:pPr>
            <a:r>
              <a:rPr sz="1200" b="0">
                <a:solidFill>
                  <a:srgbClr val="FFFFFF"/>
                </a:solidFill>
                <a:effectLst/>
                <a:latin typeface="Avenir Next LT Pro" panose="020B0504020202020204" pitchFamily="34" charset="0"/>
              </a:rPr>
              <a:t>AI ALZ logs every request and integrates Defender for AI, Monitor, App Insights, and Purview.</a:t>
            </a:r>
            <a:r>
              <a:rPr>
                <a:effectLst/>
              </a:rPr>
              <a:t> </a:t>
            </a:r>
            <a:endParaRPr lang="en-GB"/>
          </a:p>
        </p:txBody>
      </p:sp>
      <p:sp>
        <p:nvSpPr>
          <p:cNvPr id="2" name="TextBox 1">
            <a:extLst>
              <a:ext uri="{FF2B5EF4-FFF2-40B4-BE49-F238E27FC236}">
                <a16:creationId xmlns:a16="http://schemas.microsoft.com/office/drawing/2014/main" id="{9D2918CB-0207-1D5B-A674-1E89810BC4F7}"/>
              </a:ext>
            </a:extLst>
          </p:cNvPr>
          <p:cNvSpPr txBox="1"/>
          <p:nvPr/>
        </p:nvSpPr>
        <p:spPr>
          <a:xfrm>
            <a:off x="6376737" y="4471737"/>
            <a:ext cx="6096000" cy="12695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FFFFFF"/>
                </a:solidFill>
                <a:latin typeface="Avenir Next LT Pro"/>
              </a:rPr>
              <a:t>4. Governance</a:t>
            </a:r>
            <a:r>
              <a:rPr lang="en-GB" dirty="0">
                <a:solidFill>
                  <a:srgbClr val="131313"/>
                </a:solidFill>
                <a:latin typeface="Neue Haas Grotesk Text Pro"/>
              </a:rPr>
              <a:t> </a:t>
            </a:r>
            <a:endParaRPr lang="en-US" sz="1350" dirty="0">
              <a:solidFill>
                <a:srgbClr val="CBD5E1"/>
              </a:solidFill>
              <a:latin typeface="Arial"/>
            </a:endParaRPr>
          </a:p>
          <a:p>
            <a:r>
              <a:rPr lang="en-US" sz="1350" kern="1200" dirty="0">
                <a:solidFill>
                  <a:srgbClr val="CBD5E1"/>
                </a:solidFill>
                <a:latin typeface="Arial"/>
                <a:ea typeface="+mn-ea"/>
                <a:cs typeface="+mn-cs"/>
              </a:rPr>
              <a:t>Uncontrolled token consumption (3-10x budget overages)</a:t>
            </a:r>
            <a:endParaRPr lang="en-US" dirty="0"/>
          </a:p>
          <a:p>
            <a:r>
              <a:rPr lang="en-US" sz="1350" kern="1200" dirty="0">
                <a:solidFill>
                  <a:srgbClr val="CBD5E1"/>
                </a:solidFill>
                <a:latin typeface="Arial"/>
                <a:ea typeface="+mn-ea"/>
                <a:cs typeface="+mn-cs"/>
              </a:rPr>
              <a:t>Infrastructure sprawl across teams</a:t>
            </a:r>
            <a:endParaRPr lang="en-US" sz="1350" kern="1200" dirty="0">
              <a:solidFill>
                <a:srgbClr val="CBD5E1"/>
              </a:solidFill>
              <a:latin typeface="Arial"/>
              <a:cs typeface="Arial"/>
            </a:endParaRPr>
          </a:p>
          <a:p>
            <a:r>
              <a:rPr lang="en-US" sz="1350" kern="1200" dirty="0">
                <a:solidFill>
                  <a:srgbClr val="CBD5E1"/>
                </a:solidFill>
                <a:latin typeface="Arial"/>
                <a:ea typeface="+mn-ea"/>
                <a:cs typeface="+mn-cs"/>
              </a:rPr>
              <a:t>Integration complexity with multiple frameworks</a:t>
            </a:r>
            <a:endParaRPr lang="en-US" sz="1350" kern="1200" dirty="0">
              <a:solidFill>
                <a:srgbClr val="CBD5E1"/>
              </a:solidFill>
              <a:latin typeface="Arial"/>
              <a:cs typeface="Arial"/>
            </a:endParaRPr>
          </a:p>
          <a:p>
            <a:pPr algn="ctr"/>
            <a:endParaRPr lang="en-GB" dirty="0"/>
          </a:p>
        </p:txBody>
      </p:sp>
    </p:spTree>
    <p:extLst>
      <p:ext uri="{BB962C8B-B14F-4D97-AF65-F5344CB8AC3E}">
        <p14:creationId xmlns:p14="http://schemas.microsoft.com/office/powerpoint/2010/main" val="333268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0A8731-2066-2F08-0BC8-CDA4D2C4821A}"/>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B85E9EEF-6057-53B0-C7EC-3F88BE922870}"/>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51B5A11A-C5C9-A048-B34A-B52E31C19DDB}"/>
              </a:ext>
            </a:extLst>
          </p:cNvPr>
          <p:cNvSpPr>
            <a:spLocks noGrp="1"/>
          </p:cNvSpPr>
          <p:nvPr>
            <p:ph type="sldNum" sz="quarter" idx="12"/>
          </p:nvPr>
        </p:nvSpPr>
        <p:spPr/>
        <p:txBody>
          <a:bodyPr/>
          <a:lstStyle/>
          <a:p>
            <a:fld id="{84C450F2-3BB4-4AE4-8A35-A9D7AEA4C850}" type="slidenum">
              <a:rPr lang="en-US" smtClean="0"/>
              <a:t>10</a:t>
            </a:fld>
            <a:endParaRPr lang="en-US" dirty="0"/>
          </a:p>
        </p:txBody>
      </p:sp>
      <p:pic>
        <p:nvPicPr>
          <p:cNvPr id="8" name="Graphic 7" descr="A detailed infographic illustrating the Zero Trust security model in a cloud environment, showing layers such as identity verification (MFA, OAuth 2.0/JWT), least-privilege RBAC roles, network segmentation (NSGs, private endpoints), and AI-specific monitoring (Defender for AI). The visual should depict interconnected security controls around users, applications, and services, with clear separation between management plane and application plane. No visible or implied text, letters, or words should appear anywhere in the image">
            <a:extLst>
              <a:ext uri="{FF2B5EF4-FFF2-40B4-BE49-F238E27FC236}">
                <a16:creationId xmlns:a16="http://schemas.microsoft.com/office/drawing/2014/main" id="{89B292AF-FD89-4A88-A5A9-3988BF1118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82C1DCD1-7772-4BB0-BA7C-F93A045680C7}"/>
              </a:ext>
            </a:extLst>
          </p:cNvPr>
          <p:cNvSpPr txBox="1"/>
          <p:nvPr/>
        </p:nvSpPr>
        <p:spPr>
          <a:xfrm>
            <a:off x="619125" y="581025"/>
            <a:ext cx="4391025" cy="1257300"/>
          </a:xfrm>
          <a:prstGeom prst="rect">
            <a:avLst/>
          </a:prstGeom>
          <a:noFill/>
        </p:spPr>
        <p:txBody>
          <a:bodyPr wrap="square" rtlCol="0">
            <a:normAutofit/>
          </a:bodyPr>
          <a:lstStyle/>
          <a:p>
            <a:pPr marL="0" algn="l">
              <a:buNone/>
            </a:pPr>
            <a:r>
              <a:rPr sz="3200" dirty="0">
                <a:solidFill>
                  <a:srgbClr val="F7CA66"/>
                </a:solidFill>
                <a:latin typeface="Lufga" panose="00000500000000000000" pitchFamily="50" charset="0"/>
                <a:ea typeface="+mj-ea"/>
                <a:cs typeface="+mj-cs"/>
              </a:rPr>
              <a:t>ZERO TRUST SECURITY </a:t>
            </a:r>
            <a:endParaRPr lang="en-GB" sz="32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989CC2AD-0D3B-4B8E-9A19-A142E6583B2A}"/>
              </a:ext>
            </a:extLst>
          </p:cNvPr>
          <p:cNvSpPr txBox="1"/>
          <p:nvPr/>
        </p:nvSpPr>
        <p:spPr>
          <a:xfrm>
            <a:off x="619125" y="2181225"/>
            <a:ext cx="4391025" cy="274290"/>
          </a:xfrm>
          <a:prstGeom prst="rect">
            <a:avLst/>
          </a:prstGeom>
          <a:noFill/>
        </p:spPr>
        <p:txBody>
          <a:bodyPr wrap="square" rtlCol="0">
            <a:normAutofit fontScale="77500" lnSpcReduction="20000"/>
          </a:bodyPr>
          <a:lstStyle/>
          <a:p>
            <a:pPr marL="0" algn="l">
              <a:buNone/>
            </a:pPr>
            <a:r>
              <a:rPr sz="1800" b="1">
                <a:solidFill>
                  <a:srgbClr val="6D7BF7"/>
                </a:solidFill>
                <a:effectLst/>
                <a:latin typeface="Avenir Next LT Pro" panose="020B0504020202020204" pitchFamily="34" charset="0"/>
              </a:rPr>
              <a:t>1.</a:t>
            </a:r>
            <a:r>
              <a:rPr>
                <a:effectLst/>
              </a:rPr>
              <a:t> </a:t>
            </a:r>
            <a:r>
              <a:rPr sz="1800" b="1">
                <a:solidFill>
                  <a:srgbClr val="FFFFFF"/>
                </a:solidFill>
                <a:effectLst/>
                <a:latin typeface="Avenir Next LT Pro" panose="020B0504020202020204" pitchFamily="34" charset="0"/>
              </a:rPr>
              <a:t>VERIFY EXPLICITLY</a:t>
            </a:r>
            <a:r>
              <a:rPr>
                <a:effectLst/>
              </a:rPr>
              <a:t> </a:t>
            </a:r>
            <a:endParaRPr lang="en-GB"/>
          </a:p>
        </p:txBody>
      </p:sp>
      <p:sp>
        <p:nvSpPr>
          <p:cNvPr id="11" name="TextBox 10">
            <a:extLst>
              <a:ext uri="{FF2B5EF4-FFF2-40B4-BE49-F238E27FC236}">
                <a16:creationId xmlns:a16="http://schemas.microsoft.com/office/drawing/2014/main" id="{18935FC6-3430-47E1-AD1F-08BE14B7684C}"/>
              </a:ext>
            </a:extLst>
          </p:cNvPr>
          <p:cNvSpPr txBox="1"/>
          <p:nvPr/>
        </p:nvSpPr>
        <p:spPr>
          <a:xfrm>
            <a:off x="619125" y="2550765"/>
            <a:ext cx="4391025" cy="213270"/>
          </a:xfrm>
          <a:prstGeom prst="rect">
            <a:avLst/>
          </a:prstGeom>
          <a:noFill/>
        </p:spPr>
        <p:txBody>
          <a:bodyPr wrap="square" rtlCol="0">
            <a:noAutofit/>
          </a:bodyPr>
          <a:lstStyle/>
          <a:p>
            <a:pPr marL="0" algn="l">
              <a:spcBef>
                <a:spcPts val="750"/>
              </a:spcBef>
              <a:buNone/>
            </a:pPr>
            <a:r>
              <a:rPr sz="1200" dirty="0">
                <a:solidFill>
                  <a:srgbClr val="FFFFFF"/>
                </a:solidFill>
                <a:effectLst/>
                <a:latin typeface="Avenir Next LT Pro" panose="020B0504020202020204" pitchFamily="34" charset="0"/>
              </a:rPr>
              <a:t>Authenticate via Entra ID with OAuth 2.0 and JWT tokens.</a:t>
            </a:r>
            <a:r>
              <a:rPr sz="1200" dirty="0">
                <a:effectLst/>
              </a:rPr>
              <a:t> </a:t>
            </a:r>
            <a:endParaRPr lang="en-GB" sz="1200" dirty="0"/>
          </a:p>
        </p:txBody>
      </p:sp>
      <p:sp>
        <p:nvSpPr>
          <p:cNvPr id="12" name="TextBox 11">
            <a:extLst>
              <a:ext uri="{FF2B5EF4-FFF2-40B4-BE49-F238E27FC236}">
                <a16:creationId xmlns:a16="http://schemas.microsoft.com/office/drawing/2014/main" id="{C8012094-321B-4B93-BB51-E294940A8F47}"/>
              </a:ext>
            </a:extLst>
          </p:cNvPr>
          <p:cNvSpPr txBox="1"/>
          <p:nvPr/>
        </p:nvSpPr>
        <p:spPr>
          <a:xfrm>
            <a:off x="619125" y="2821185"/>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Use managed identities; no production API keys.</a:t>
            </a:r>
            <a:r>
              <a:rPr sz="1200" dirty="0">
                <a:effectLst/>
              </a:rPr>
              <a:t> </a:t>
            </a:r>
            <a:endParaRPr lang="en-GB" sz="1200" dirty="0"/>
          </a:p>
        </p:txBody>
      </p:sp>
      <p:sp>
        <p:nvSpPr>
          <p:cNvPr id="13" name="TextBox 12">
            <a:extLst>
              <a:ext uri="{FF2B5EF4-FFF2-40B4-BE49-F238E27FC236}">
                <a16:creationId xmlns:a16="http://schemas.microsoft.com/office/drawing/2014/main" id="{3D3C6858-E729-4245-BD32-B0111D13834C}"/>
              </a:ext>
            </a:extLst>
          </p:cNvPr>
          <p:cNvSpPr txBox="1"/>
          <p:nvPr/>
        </p:nvSpPr>
        <p:spPr>
          <a:xfrm>
            <a:off x="619125" y="3091606"/>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Enforce MFA for management plane access.</a:t>
            </a:r>
            <a:r>
              <a:rPr sz="1200" dirty="0">
                <a:effectLst/>
              </a:rPr>
              <a:t> </a:t>
            </a:r>
            <a:endParaRPr lang="en-GB" sz="1200" dirty="0"/>
          </a:p>
        </p:txBody>
      </p:sp>
      <p:sp>
        <p:nvSpPr>
          <p:cNvPr id="14" name="TextBox 13">
            <a:extLst>
              <a:ext uri="{FF2B5EF4-FFF2-40B4-BE49-F238E27FC236}">
                <a16:creationId xmlns:a16="http://schemas.microsoft.com/office/drawing/2014/main" id="{9DB6C22D-1FAD-44C9-A346-92BC784EB026}"/>
              </a:ext>
            </a:extLst>
          </p:cNvPr>
          <p:cNvSpPr txBox="1"/>
          <p:nvPr/>
        </p:nvSpPr>
        <p:spPr>
          <a:xfrm>
            <a:off x="619125" y="3457277"/>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6D7BF7"/>
                </a:solidFill>
                <a:effectLst/>
                <a:latin typeface="Avenir Next LT Pro" panose="020B0504020202020204" pitchFamily="34" charset="0"/>
              </a:rPr>
              <a:t>2.</a:t>
            </a:r>
            <a:r>
              <a:rPr>
                <a:effectLst/>
              </a:rPr>
              <a:t> </a:t>
            </a:r>
            <a:r>
              <a:rPr sz="1800" b="1">
                <a:solidFill>
                  <a:srgbClr val="FFFFFF"/>
                </a:solidFill>
                <a:effectLst/>
                <a:latin typeface="Avenir Next LT Pro" panose="020B0504020202020204" pitchFamily="34" charset="0"/>
              </a:rPr>
              <a:t>LEAST-PRIVILEGE ACCESS</a:t>
            </a:r>
            <a:r>
              <a:rPr>
                <a:effectLst/>
              </a:rPr>
              <a:t> </a:t>
            </a:r>
            <a:endParaRPr lang="en-GB"/>
          </a:p>
        </p:txBody>
      </p:sp>
      <p:sp>
        <p:nvSpPr>
          <p:cNvPr id="15" name="TextBox 14">
            <a:extLst>
              <a:ext uri="{FF2B5EF4-FFF2-40B4-BE49-F238E27FC236}">
                <a16:creationId xmlns:a16="http://schemas.microsoft.com/office/drawing/2014/main" id="{42445A91-D421-4617-B8A3-9A89AEE64BE8}"/>
              </a:ext>
            </a:extLst>
          </p:cNvPr>
          <p:cNvSpPr txBox="1"/>
          <p:nvPr/>
        </p:nvSpPr>
        <p:spPr>
          <a:xfrm>
            <a:off x="619125" y="3826817"/>
            <a:ext cx="4391025" cy="213270"/>
          </a:xfrm>
          <a:prstGeom prst="rect">
            <a:avLst/>
          </a:prstGeom>
          <a:noFill/>
        </p:spPr>
        <p:txBody>
          <a:bodyPr wrap="square" rtlCol="0">
            <a:noAutofit/>
          </a:bodyPr>
          <a:lstStyle/>
          <a:p>
            <a:pPr marL="0" algn="l">
              <a:spcBef>
                <a:spcPts val="750"/>
              </a:spcBef>
              <a:buNone/>
            </a:pPr>
            <a:r>
              <a:rPr sz="1200" dirty="0">
                <a:solidFill>
                  <a:srgbClr val="FFFFFF"/>
                </a:solidFill>
                <a:effectLst/>
                <a:latin typeface="Avenir Next LT Pro" panose="020B0504020202020204" pitchFamily="34" charset="0"/>
              </a:rPr>
              <a:t>Scope RBAC to required roles: Reader, Contributor, Owner.</a:t>
            </a:r>
            <a:r>
              <a:rPr sz="1200" dirty="0">
                <a:effectLst/>
              </a:rPr>
              <a:t> </a:t>
            </a:r>
            <a:endParaRPr lang="en-GB" sz="1200" dirty="0"/>
          </a:p>
        </p:txBody>
      </p:sp>
      <p:sp>
        <p:nvSpPr>
          <p:cNvPr id="16" name="TextBox 15">
            <a:extLst>
              <a:ext uri="{FF2B5EF4-FFF2-40B4-BE49-F238E27FC236}">
                <a16:creationId xmlns:a16="http://schemas.microsoft.com/office/drawing/2014/main" id="{B2AB1963-77D9-4D91-BAE3-DC3BB220A7B0}"/>
              </a:ext>
            </a:extLst>
          </p:cNvPr>
          <p:cNvSpPr txBox="1"/>
          <p:nvPr/>
        </p:nvSpPr>
        <p:spPr>
          <a:xfrm>
            <a:off x="619125" y="4097238"/>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Use custom roles for app teams; hub remains immutable.</a:t>
            </a:r>
            <a:r>
              <a:rPr sz="1200" dirty="0">
                <a:effectLst/>
              </a:rPr>
              <a:t> </a:t>
            </a:r>
            <a:endParaRPr lang="en-GB" sz="1200" dirty="0"/>
          </a:p>
        </p:txBody>
      </p:sp>
      <p:sp>
        <p:nvSpPr>
          <p:cNvPr id="17" name="TextBox 16">
            <a:extLst>
              <a:ext uri="{FF2B5EF4-FFF2-40B4-BE49-F238E27FC236}">
                <a16:creationId xmlns:a16="http://schemas.microsoft.com/office/drawing/2014/main" id="{215F069C-95E2-4901-BD51-45DE83678B83}"/>
              </a:ext>
            </a:extLst>
          </p:cNvPr>
          <p:cNvSpPr txBox="1"/>
          <p:nvPr/>
        </p:nvSpPr>
        <p:spPr>
          <a:xfrm>
            <a:off x="619125" y="4367658"/>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Enable PIM for just-in-time administrative access.</a:t>
            </a:r>
            <a:r>
              <a:rPr sz="1200" dirty="0">
                <a:effectLst/>
              </a:rPr>
              <a:t> </a:t>
            </a:r>
            <a:endParaRPr lang="en-GB" sz="1200" dirty="0"/>
          </a:p>
        </p:txBody>
      </p:sp>
      <p:sp>
        <p:nvSpPr>
          <p:cNvPr id="18" name="TextBox 17">
            <a:extLst>
              <a:ext uri="{FF2B5EF4-FFF2-40B4-BE49-F238E27FC236}">
                <a16:creationId xmlns:a16="http://schemas.microsoft.com/office/drawing/2014/main" id="{C78F67F5-4F75-469B-8725-C7E8083F9FD0}"/>
              </a:ext>
            </a:extLst>
          </p:cNvPr>
          <p:cNvSpPr txBox="1"/>
          <p:nvPr/>
        </p:nvSpPr>
        <p:spPr>
          <a:xfrm>
            <a:off x="619125" y="4733329"/>
            <a:ext cx="4391025" cy="274290"/>
          </a:xfrm>
          <a:prstGeom prst="rect">
            <a:avLst/>
          </a:prstGeom>
          <a:noFill/>
        </p:spPr>
        <p:txBody>
          <a:bodyPr wrap="square" rtlCol="0">
            <a:normAutofit fontScale="77500" lnSpcReduction="20000"/>
          </a:bodyPr>
          <a:lstStyle/>
          <a:p>
            <a:pPr marL="0" algn="l">
              <a:spcBef>
                <a:spcPts val="1200"/>
              </a:spcBef>
              <a:buNone/>
            </a:pPr>
            <a:r>
              <a:rPr sz="1800" b="1">
                <a:solidFill>
                  <a:srgbClr val="6D7BF7"/>
                </a:solidFill>
                <a:effectLst/>
                <a:latin typeface="Avenir Next LT Pro" panose="020B0504020202020204" pitchFamily="34" charset="0"/>
              </a:rPr>
              <a:t>3.</a:t>
            </a:r>
            <a:r>
              <a:rPr>
                <a:effectLst/>
              </a:rPr>
              <a:t> </a:t>
            </a:r>
            <a:r>
              <a:rPr sz="1800" b="1">
                <a:solidFill>
                  <a:srgbClr val="FFFFFF"/>
                </a:solidFill>
                <a:effectLst/>
                <a:latin typeface="Avenir Next LT Pro" panose="020B0504020202020204" pitchFamily="34" charset="0"/>
              </a:rPr>
              <a:t>ASSUME BREACH</a:t>
            </a:r>
            <a:r>
              <a:rPr>
                <a:effectLst/>
              </a:rPr>
              <a:t> </a:t>
            </a:r>
            <a:endParaRPr lang="en-GB"/>
          </a:p>
        </p:txBody>
      </p:sp>
      <p:sp>
        <p:nvSpPr>
          <p:cNvPr id="19" name="TextBox 18">
            <a:extLst>
              <a:ext uri="{FF2B5EF4-FFF2-40B4-BE49-F238E27FC236}">
                <a16:creationId xmlns:a16="http://schemas.microsoft.com/office/drawing/2014/main" id="{133F4B04-CE83-4339-BBF2-A0D205DDA435}"/>
              </a:ext>
            </a:extLst>
          </p:cNvPr>
          <p:cNvSpPr txBox="1"/>
          <p:nvPr/>
        </p:nvSpPr>
        <p:spPr>
          <a:xfrm>
            <a:off x="619125" y="5102869"/>
            <a:ext cx="4391025" cy="213270"/>
          </a:xfrm>
          <a:prstGeom prst="rect">
            <a:avLst/>
          </a:prstGeom>
          <a:noFill/>
        </p:spPr>
        <p:txBody>
          <a:bodyPr wrap="square" rtlCol="0">
            <a:noAutofit/>
          </a:bodyPr>
          <a:lstStyle/>
          <a:p>
            <a:pPr marL="0" algn="l">
              <a:spcBef>
                <a:spcPts val="750"/>
              </a:spcBef>
              <a:buNone/>
            </a:pPr>
            <a:r>
              <a:rPr sz="1200" dirty="0">
                <a:solidFill>
                  <a:srgbClr val="FFFFFF"/>
                </a:solidFill>
                <a:effectLst/>
                <a:latin typeface="Avenir Next LT Pro" panose="020B0504020202020204" pitchFamily="34" charset="0"/>
              </a:rPr>
              <a:t>Segment networks with NSGs; isolate APIM, AI, and apps.</a:t>
            </a:r>
            <a:r>
              <a:rPr sz="1200" dirty="0">
                <a:effectLst/>
              </a:rPr>
              <a:t> </a:t>
            </a:r>
            <a:endParaRPr lang="en-GB" sz="1200" dirty="0"/>
          </a:p>
        </p:txBody>
      </p:sp>
      <p:sp>
        <p:nvSpPr>
          <p:cNvPr id="20" name="TextBox 19">
            <a:extLst>
              <a:ext uri="{FF2B5EF4-FFF2-40B4-BE49-F238E27FC236}">
                <a16:creationId xmlns:a16="http://schemas.microsoft.com/office/drawing/2014/main" id="{8CE333D8-5B80-4F7B-BDE4-2F5848370A22}"/>
              </a:ext>
            </a:extLst>
          </p:cNvPr>
          <p:cNvSpPr txBox="1"/>
          <p:nvPr/>
        </p:nvSpPr>
        <p:spPr>
          <a:xfrm>
            <a:off x="619125" y="5373290"/>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Use private endpoints only; no public IPs for AI services.</a:t>
            </a:r>
            <a:r>
              <a:rPr sz="1200" dirty="0">
                <a:effectLst/>
              </a:rPr>
              <a:t> </a:t>
            </a:r>
            <a:endParaRPr lang="en-GB" sz="1200" dirty="0"/>
          </a:p>
        </p:txBody>
      </p:sp>
      <p:sp>
        <p:nvSpPr>
          <p:cNvPr id="21" name="TextBox 20">
            <a:extLst>
              <a:ext uri="{FF2B5EF4-FFF2-40B4-BE49-F238E27FC236}">
                <a16:creationId xmlns:a16="http://schemas.microsoft.com/office/drawing/2014/main" id="{354D41E1-8D5D-411A-9D25-85496BE02CA3}"/>
              </a:ext>
            </a:extLst>
          </p:cNvPr>
          <p:cNvSpPr txBox="1"/>
          <p:nvPr/>
        </p:nvSpPr>
        <p:spPr>
          <a:xfrm>
            <a:off x="619125" y="5643711"/>
            <a:ext cx="4391025" cy="426541"/>
          </a:xfrm>
          <a:prstGeom prst="rect">
            <a:avLst/>
          </a:prstGeom>
          <a:noFill/>
        </p:spPr>
        <p:txBody>
          <a:bodyPr wrap="square" rtlCol="0">
            <a:normAutofit fontScale="92500"/>
          </a:bodyPr>
          <a:lstStyle/>
          <a:p>
            <a:pPr marL="0" algn="l">
              <a:spcBef>
                <a:spcPts val="450"/>
              </a:spcBef>
              <a:buNone/>
            </a:pPr>
            <a:r>
              <a:rPr sz="1200">
                <a:solidFill>
                  <a:srgbClr val="FFFFFF"/>
                </a:solidFill>
                <a:effectLst/>
                <a:latin typeface="Avenir Next LT Pro" panose="020B0504020202020204" pitchFamily="34" charset="0"/>
              </a:rPr>
              <a:t>Inspect egress with Azure Firewall; block unapproved models.</a:t>
            </a:r>
            <a:r>
              <a:rPr>
                <a:effectLst/>
              </a:rPr>
              <a:t> </a:t>
            </a:r>
            <a:endParaRPr lang="en-GB"/>
          </a:p>
        </p:txBody>
      </p:sp>
      <p:sp>
        <p:nvSpPr>
          <p:cNvPr id="22" name="TextBox 21">
            <a:extLst>
              <a:ext uri="{FF2B5EF4-FFF2-40B4-BE49-F238E27FC236}">
                <a16:creationId xmlns:a16="http://schemas.microsoft.com/office/drawing/2014/main" id="{A0587F4B-F25A-4001-95B6-29BF7949F867}"/>
              </a:ext>
            </a:extLst>
          </p:cNvPr>
          <p:cNvSpPr txBox="1"/>
          <p:nvPr/>
        </p:nvSpPr>
        <p:spPr>
          <a:xfrm>
            <a:off x="619125" y="6127402"/>
            <a:ext cx="4391025" cy="213270"/>
          </a:xfrm>
          <a:prstGeom prst="rect">
            <a:avLst/>
          </a:prstGeom>
          <a:noFill/>
        </p:spPr>
        <p:txBody>
          <a:bodyPr wrap="square" rtlCol="0">
            <a:noAutofit/>
          </a:bodyPr>
          <a:lstStyle/>
          <a:p>
            <a:pPr marL="0" algn="l">
              <a:spcBef>
                <a:spcPts val="450"/>
              </a:spcBef>
              <a:buNone/>
            </a:pPr>
            <a:r>
              <a:rPr sz="1200" dirty="0">
                <a:solidFill>
                  <a:srgbClr val="FFFFFF"/>
                </a:solidFill>
                <a:effectLst/>
                <a:latin typeface="Avenir Next LT Pro" panose="020B0504020202020204" pitchFamily="34" charset="0"/>
              </a:rPr>
              <a:t>Defender for AI protects against injections and exfiltration.</a:t>
            </a:r>
            <a:r>
              <a:rPr sz="1200" dirty="0">
                <a:effectLst/>
              </a:rPr>
              <a:t> </a:t>
            </a:r>
            <a:endParaRPr lang="en-GB" sz="1200" dirty="0"/>
          </a:p>
        </p:txBody>
      </p:sp>
    </p:spTree>
    <p:extLst>
      <p:ext uri="{BB962C8B-B14F-4D97-AF65-F5344CB8AC3E}">
        <p14:creationId xmlns:p14="http://schemas.microsoft.com/office/powerpoint/2010/main" val="3772985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7F4D9F1-CACD-56E0-A451-DD8C7C38CF4B}"/>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9CCDA276-FFCA-B063-C024-DDE1219C8BF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B670CB0E-1951-A9AE-B0E2-1487DD222F76}"/>
              </a:ext>
            </a:extLst>
          </p:cNvPr>
          <p:cNvSpPr>
            <a:spLocks noGrp="1"/>
          </p:cNvSpPr>
          <p:nvPr>
            <p:ph type="sldNum" sz="quarter" idx="12"/>
          </p:nvPr>
        </p:nvSpPr>
        <p:spPr/>
        <p:txBody>
          <a:bodyPr/>
          <a:lstStyle/>
          <a:p>
            <a:fld id="{84C450F2-3BB4-4AE4-8A35-A9D7AEA4C850}" type="slidenum">
              <a:rPr lang="en-US" smtClean="0"/>
              <a:t>11</a:t>
            </a:fld>
            <a:endParaRPr lang="en-US" dirty="0"/>
          </a:p>
        </p:txBody>
      </p:sp>
      <p:pic>
        <p:nvPicPr>
          <p:cNvPr id="8" name="Graphic 7" descr="A detailed infographic illustrating governance and responsible AI practices in Azure, featuring icons and visual elements for private endpoints, managed identities, content filters, data residency, tagging standards, policy compliance dashboard, data classification, lineage tracking, and access auditing. The infographic should visually represent policy enforcement, compliance monitoring, and data flow in a clean, modern style. No visible or implied text, letters, or words should appear anywhere in the image">
            <a:extLst>
              <a:ext uri="{FF2B5EF4-FFF2-40B4-BE49-F238E27FC236}">
                <a16:creationId xmlns:a16="http://schemas.microsoft.com/office/drawing/2014/main" id="{A4A913AB-9AA5-46B7-9A20-84C1BAA121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A56EED0C-88B1-4C26-AB6D-FBA4D4247F0C}"/>
              </a:ext>
            </a:extLst>
          </p:cNvPr>
          <p:cNvSpPr txBox="1"/>
          <p:nvPr/>
        </p:nvSpPr>
        <p:spPr>
          <a:xfrm>
            <a:off x="619125" y="581025"/>
            <a:ext cx="4391025" cy="2400300"/>
          </a:xfrm>
          <a:prstGeom prst="rect">
            <a:avLst/>
          </a:prstGeom>
          <a:noFill/>
        </p:spPr>
        <p:txBody>
          <a:bodyPr wrap="square" rtlCol="0">
            <a:normAutofit/>
          </a:bodyPr>
          <a:lstStyle/>
          <a:p>
            <a:pPr marL="0" algn="l">
              <a:buNone/>
            </a:pPr>
            <a:r>
              <a:rPr sz="3200" dirty="0">
                <a:solidFill>
                  <a:srgbClr val="F7CA66"/>
                </a:solidFill>
                <a:latin typeface="Lufga" panose="00000500000000000000" pitchFamily="50" charset="0"/>
                <a:ea typeface="+mj-ea"/>
                <a:cs typeface="+mj-cs"/>
              </a:rPr>
              <a:t>GOVERNANCE AND RESPONSIBLE AI </a:t>
            </a:r>
            <a:endParaRPr lang="en-GB" sz="32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D2C4C3CE-1F94-4D98-88DA-72DF27ED0FD1}"/>
              </a:ext>
            </a:extLst>
          </p:cNvPr>
          <p:cNvSpPr txBox="1"/>
          <p:nvPr/>
        </p:nvSpPr>
        <p:spPr>
          <a:xfrm>
            <a:off x="619117" y="2016805"/>
            <a:ext cx="4391025" cy="274290"/>
          </a:xfrm>
          <a:prstGeom prst="rect">
            <a:avLst/>
          </a:prstGeom>
          <a:noFill/>
        </p:spPr>
        <p:txBody>
          <a:bodyPr wrap="square" rtlCol="0">
            <a:normAutofit fontScale="77500" lnSpcReduction="20000"/>
          </a:bodyPr>
          <a:lstStyle/>
          <a:p>
            <a:pPr marL="0" algn="l">
              <a:buNone/>
            </a:pPr>
            <a:r>
              <a:rPr sz="1800" b="1" dirty="0">
                <a:solidFill>
                  <a:srgbClr val="FFFFFF"/>
                </a:solidFill>
                <a:effectLst/>
                <a:latin typeface="Avenir Next LT Pro" panose="020B0504020202020204" pitchFamily="34" charset="0"/>
              </a:rPr>
              <a:t>Network &amp; Identity</a:t>
            </a:r>
            <a:r>
              <a:rPr dirty="0">
                <a:effectLst/>
              </a:rPr>
              <a:t> </a:t>
            </a:r>
            <a:endParaRPr lang="en-GB" dirty="0"/>
          </a:p>
        </p:txBody>
      </p:sp>
      <p:sp>
        <p:nvSpPr>
          <p:cNvPr id="11" name="TextBox 10">
            <a:extLst>
              <a:ext uri="{FF2B5EF4-FFF2-40B4-BE49-F238E27FC236}">
                <a16:creationId xmlns:a16="http://schemas.microsoft.com/office/drawing/2014/main" id="{CCF10AA9-D125-4AB2-999A-9E2CFAD9F040}"/>
              </a:ext>
            </a:extLst>
          </p:cNvPr>
          <p:cNvSpPr txBox="1"/>
          <p:nvPr/>
        </p:nvSpPr>
        <p:spPr>
          <a:xfrm>
            <a:off x="619117" y="2473319"/>
            <a:ext cx="4391025" cy="41136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Private endpoints only; APIM uses managed identities—no API keys.</a:t>
            </a:r>
            <a:r>
              <a:rPr sz="1200" dirty="0">
                <a:effectLst/>
              </a:rPr>
              <a:t> </a:t>
            </a:r>
            <a:endParaRPr lang="en-GB" sz="1200" dirty="0"/>
          </a:p>
        </p:txBody>
      </p:sp>
      <p:sp>
        <p:nvSpPr>
          <p:cNvPr id="12" name="TextBox 11">
            <a:extLst>
              <a:ext uri="{FF2B5EF4-FFF2-40B4-BE49-F238E27FC236}">
                <a16:creationId xmlns:a16="http://schemas.microsoft.com/office/drawing/2014/main" id="{E8D820DB-14A6-4EC4-90B3-77E82B93376F}"/>
              </a:ext>
            </a:extLst>
          </p:cNvPr>
          <p:cNvSpPr txBox="1"/>
          <p:nvPr/>
        </p:nvSpPr>
        <p:spPr>
          <a:xfrm>
            <a:off x="619117" y="3117207"/>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Guardrails &amp; Residency</a:t>
            </a:r>
            <a:r>
              <a:rPr dirty="0">
                <a:effectLst/>
              </a:rPr>
              <a:t> </a:t>
            </a:r>
            <a:endParaRPr lang="en-GB" dirty="0"/>
          </a:p>
        </p:txBody>
      </p:sp>
      <p:sp>
        <p:nvSpPr>
          <p:cNvPr id="13" name="TextBox 12">
            <a:extLst>
              <a:ext uri="{FF2B5EF4-FFF2-40B4-BE49-F238E27FC236}">
                <a16:creationId xmlns:a16="http://schemas.microsoft.com/office/drawing/2014/main" id="{0F083563-77C0-4000-8877-A2048BE7D309}"/>
              </a:ext>
            </a:extLst>
          </p:cNvPr>
          <p:cNvSpPr txBox="1"/>
          <p:nvPr/>
        </p:nvSpPr>
        <p:spPr>
          <a:xfrm>
            <a:off x="619116" y="3537068"/>
            <a:ext cx="4391025" cy="41136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Content filters required; models restricted to approved EU regions.</a:t>
            </a:r>
            <a:r>
              <a:rPr sz="1200" dirty="0">
                <a:effectLst/>
              </a:rPr>
              <a:t> </a:t>
            </a:r>
            <a:endParaRPr lang="en-GB" sz="1200" dirty="0"/>
          </a:p>
        </p:txBody>
      </p:sp>
      <p:sp>
        <p:nvSpPr>
          <p:cNvPr id="14" name="TextBox 13">
            <a:extLst>
              <a:ext uri="{FF2B5EF4-FFF2-40B4-BE49-F238E27FC236}">
                <a16:creationId xmlns:a16="http://schemas.microsoft.com/office/drawing/2014/main" id="{25B72604-CE1F-4C96-A00C-724085C98438}"/>
              </a:ext>
            </a:extLst>
          </p:cNvPr>
          <p:cNvSpPr txBox="1"/>
          <p:nvPr/>
        </p:nvSpPr>
        <p:spPr>
          <a:xfrm>
            <a:off x="619115" y="4162534"/>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Tagging &amp; Compliance</a:t>
            </a:r>
            <a:r>
              <a:rPr dirty="0">
                <a:effectLst/>
              </a:rPr>
              <a:t> </a:t>
            </a:r>
            <a:endParaRPr lang="en-GB" dirty="0"/>
          </a:p>
        </p:txBody>
      </p:sp>
      <p:sp>
        <p:nvSpPr>
          <p:cNvPr id="15" name="TextBox 14">
            <a:extLst>
              <a:ext uri="{FF2B5EF4-FFF2-40B4-BE49-F238E27FC236}">
                <a16:creationId xmlns:a16="http://schemas.microsoft.com/office/drawing/2014/main" id="{681556C5-49BA-440D-B5FF-89795C646B46}"/>
              </a:ext>
            </a:extLst>
          </p:cNvPr>
          <p:cNvSpPr txBox="1"/>
          <p:nvPr/>
        </p:nvSpPr>
        <p:spPr>
          <a:xfrm>
            <a:off x="619114" y="4625534"/>
            <a:ext cx="4391025" cy="411360"/>
          </a:xfrm>
          <a:prstGeom prst="rect">
            <a:avLst/>
          </a:prstGeom>
          <a:noFill/>
        </p:spPr>
        <p:txBody>
          <a:bodyPr wrap="square" rtlCol="0">
            <a:noAutofit/>
          </a:bodyPr>
          <a:lstStyle/>
          <a:p>
            <a:pPr marL="0" marR="0" algn="l">
              <a:spcBef>
                <a:spcPts val="750"/>
              </a:spcBef>
              <a:buNone/>
            </a:pPr>
            <a:r>
              <a:rPr sz="1200" b="0" dirty="0" err="1">
                <a:solidFill>
                  <a:srgbClr val="FFFFFF"/>
                </a:solidFill>
                <a:effectLst/>
                <a:latin typeface="Avenir Next LT Pro" panose="020B0504020202020204" pitchFamily="34" charset="0"/>
              </a:rPr>
              <a:t>BusinessUnit</a:t>
            </a:r>
            <a:r>
              <a:rPr sz="1200" b="0" dirty="0">
                <a:solidFill>
                  <a:srgbClr val="FFFFFF"/>
                </a:solidFill>
                <a:effectLst/>
                <a:latin typeface="Avenir Next LT Pro" panose="020B0504020202020204" pitchFamily="34" charset="0"/>
              </a:rPr>
              <a:t>, </a:t>
            </a:r>
            <a:r>
              <a:rPr sz="1200" b="0" dirty="0" err="1">
                <a:solidFill>
                  <a:srgbClr val="FFFFFF"/>
                </a:solidFill>
                <a:effectLst/>
                <a:latin typeface="Avenir Next LT Pro" panose="020B0504020202020204" pitchFamily="34" charset="0"/>
              </a:rPr>
              <a:t>CostCenter</a:t>
            </a:r>
            <a:r>
              <a:rPr sz="1200" b="0" dirty="0">
                <a:solidFill>
                  <a:srgbClr val="FFFFFF"/>
                </a:solidFill>
                <a:effectLst/>
                <a:latin typeface="Avenir Next LT Pro" panose="020B0504020202020204" pitchFamily="34" charset="0"/>
              </a:rPr>
              <a:t>, Environment tags; dashboard shows % compliance.</a:t>
            </a:r>
            <a:r>
              <a:rPr sz="1200" dirty="0">
                <a:effectLst/>
              </a:rPr>
              <a:t> </a:t>
            </a:r>
            <a:endParaRPr lang="en-GB" sz="1200" dirty="0"/>
          </a:p>
        </p:txBody>
      </p:sp>
      <p:sp>
        <p:nvSpPr>
          <p:cNvPr id="16" name="TextBox 15">
            <a:extLst>
              <a:ext uri="{FF2B5EF4-FFF2-40B4-BE49-F238E27FC236}">
                <a16:creationId xmlns:a16="http://schemas.microsoft.com/office/drawing/2014/main" id="{B5C25A1F-CDF0-4B9E-8B0B-A35E013A8472}"/>
              </a:ext>
            </a:extLst>
          </p:cNvPr>
          <p:cNvSpPr txBox="1"/>
          <p:nvPr/>
        </p:nvSpPr>
        <p:spPr>
          <a:xfrm>
            <a:off x="619114" y="5301113"/>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Data Governance</a:t>
            </a:r>
            <a:r>
              <a:rPr dirty="0">
                <a:effectLst/>
              </a:rPr>
              <a:t> </a:t>
            </a:r>
            <a:endParaRPr lang="en-GB" dirty="0"/>
          </a:p>
        </p:txBody>
      </p:sp>
      <p:sp>
        <p:nvSpPr>
          <p:cNvPr id="17" name="TextBox 16">
            <a:extLst>
              <a:ext uri="{FF2B5EF4-FFF2-40B4-BE49-F238E27FC236}">
                <a16:creationId xmlns:a16="http://schemas.microsoft.com/office/drawing/2014/main" id="{F162B207-6B51-4BA6-977A-CB4B8765A23B}"/>
              </a:ext>
            </a:extLst>
          </p:cNvPr>
          <p:cNvSpPr txBox="1"/>
          <p:nvPr/>
        </p:nvSpPr>
        <p:spPr>
          <a:xfrm>
            <a:off x="619113" y="5633942"/>
            <a:ext cx="4391025" cy="41136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Classify PII/financial/health data; track lineage; audit access and auto-remediate.</a:t>
            </a:r>
            <a:r>
              <a:rPr sz="1200" dirty="0">
                <a:effectLst/>
              </a:rPr>
              <a:t> </a:t>
            </a:r>
            <a:endParaRPr lang="en-GB" sz="1200" dirty="0"/>
          </a:p>
        </p:txBody>
      </p:sp>
    </p:spTree>
    <p:extLst>
      <p:ext uri="{BB962C8B-B14F-4D97-AF65-F5344CB8AC3E}">
        <p14:creationId xmlns:p14="http://schemas.microsoft.com/office/powerpoint/2010/main" val="2266795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CDAC-975B-2659-4081-9C42AB26CB6F}"/>
              </a:ext>
            </a:extLst>
          </p:cNvPr>
          <p:cNvSpPr>
            <a:spLocks noGrp="1"/>
          </p:cNvSpPr>
          <p:nvPr>
            <p:ph type="title"/>
          </p:nvPr>
        </p:nvSpPr>
        <p:spPr>
          <a:xfrm>
            <a:off x="429768" y="550218"/>
            <a:ext cx="3827439" cy="1453896"/>
          </a:xfrm>
        </p:spPr>
        <p:txBody>
          <a:bodyPr anchor="t">
            <a:normAutofit/>
          </a:bodyPr>
          <a:lstStyle/>
          <a:p>
            <a:r>
              <a:rPr lang="en-GB" dirty="0"/>
              <a:t>OUTCOME</a:t>
            </a:r>
          </a:p>
        </p:txBody>
      </p:sp>
      <p:sp>
        <p:nvSpPr>
          <p:cNvPr id="12" name="Picture Placeholder 2">
            <a:extLst>
              <a:ext uri="{FF2B5EF4-FFF2-40B4-BE49-F238E27FC236}">
                <a16:creationId xmlns:a16="http://schemas.microsoft.com/office/drawing/2014/main" id="{B9EE2C88-72D2-E63D-E801-A129E275AB09}"/>
              </a:ext>
            </a:extLst>
          </p:cNvPr>
          <p:cNvSpPr>
            <a:spLocks noGrp="1"/>
          </p:cNvSpPr>
          <p:nvPr>
            <p:ph type="pic" sz="quarter" idx="15"/>
          </p:nvPr>
        </p:nvSpPr>
        <p:spPr>
          <a:xfrm>
            <a:off x="0" y="2293494"/>
            <a:ext cx="4176819" cy="4564506"/>
          </a:xfrm>
        </p:spPr>
        <p:txBody>
          <a:bodyPr/>
          <a:lstStyle/>
          <a:p>
            <a:endParaRPr lang="en-US"/>
          </a:p>
        </p:txBody>
      </p:sp>
      <p:sp>
        <p:nvSpPr>
          <p:cNvPr id="4" name="Date Placeholder 3">
            <a:extLst>
              <a:ext uri="{FF2B5EF4-FFF2-40B4-BE49-F238E27FC236}">
                <a16:creationId xmlns:a16="http://schemas.microsoft.com/office/drawing/2014/main" id="{5D70FCC6-B981-04DF-E861-C6FC9B6047F9}"/>
              </a:ext>
            </a:extLst>
          </p:cNvPr>
          <p:cNvSpPr>
            <a:spLocks noGrp="1"/>
          </p:cNvSpPr>
          <p:nvPr>
            <p:ph type="dt" sz="half" idx="10"/>
          </p:nvPr>
        </p:nvSpPr>
        <p:spPr>
          <a:xfrm>
            <a:off x="5115073" y="6492240"/>
            <a:ext cx="2843784" cy="338328"/>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A434434B-58E5-7869-399D-34D000B12A4D}"/>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1770B594-562C-7B01-B777-8F4C5DBBE69F}"/>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12</a:t>
            </a:fld>
            <a:endParaRPr lang="en-US"/>
          </a:p>
        </p:txBody>
      </p:sp>
      <p:graphicFrame>
        <p:nvGraphicFramePr>
          <p:cNvPr id="8" name="Content Placeholder 2">
            <a:extLst>
              <a:ext uri="{FF2B5EF4-FFF2-40B4-BE49-F238E27FC236}">
                <a16:creationId xmlns:a16="http://schemas.microsoft.com/office/drawing/2014/main" id="{5A7AE073-AF01-B817-3008-7A3F06D671E0}"/>
              </a:ext>
            </a:extLst>
          </p:cNvPr>
          <p:cNvGraphicFramePr>
            <a:graphicFrameLocks noGrp="1"/>
          </p:cNvGraphicFramePr>
          <p:nvPr>
            <p:ph sz="quarter" idx="14"/>
          </p:nvPr>
        </p:nvGraphicFramePr>
        <p:xfrm>
          <a:off x="5120787" y="549275"/>
          <a:ext cx="6561138" cy="5788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103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B5517-ABE2-1C5B-A15E-FF1A9BFF43CA}"/>
              </a:ext>
            </a:extLst>
          </p:cNvPr>
          <p:cNvSpPr>
            <a:spLocks noGrp="1"/>
          </p:cNvSpPr>
          <p:nvPr>
            <p:ph type="title"/>
          </p:nvPr>
        </p:nvSpPr>
        <p:spPr>
          <a:xfrm>
            <a:off x="963930" y="1713865"/>
            <a:ext cx="10515600" cy="3189605"/>
          </a:xfrm>
        </p:spPr>
        <p:txBody>
          <a:bodyPr>
            <a:normAutofit/>
          </a:bodyPr>
          <a:lstStyle/>
          <a:p>
            <a:r>
              <a:rPr lang="en-US" dirty="0"/>
              <a:t>ARCHITECTURE AND INTEGRATION PATTERNS </a:t>
            </a:r>
            <a:br>
              <a:rPr lang="en-US" dirty="0"/>
            </a:br>
            <a:endParaRPr lang="en-US" dirty="0"/>
          </a:p>
        </p:txBody>
      </p:sp>
    </p:spTree>
    <p:extLst>
      <p:ext uri="{BB962C8B-B14F-4D97-AF65-F5344CB8AC3E}">
        <p14:creationId xmlns:p14="http://schemas.microsoft.com/office/powerpoint/2010/main" val="4001598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24597C8-7281-8F93-EE74-849D825CDCD0}"/>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6" name="Slide Number Placeholder 5">
            <a:extLst>
              <a:ext uri="{FF2B5EF4-FFF2-40B4-BE49-F238E27FC236}">
                <a16:creationId xmlns:a16="http://schemas.microsoft.com/office/drawing/2014/main" id="{7F360334-7406-C366-0B19-CF4C99894E9B}"/>
              </a:ext>
            </a:extLst>
          </p:cNvPr>
          <p:cNvSpPr>
            <a:spLocks noGrp="1"/>
          </p:cNvSpPr>
          <p:nvPr>
            <p:ph type="sldNum" sz="quarter" idx="12"/>
          </p:nvPr>
        </p:nvSpPr>
        <p:spPr/>
        <p:txBody>
          <a:bodyPr/>
          <a:lstStyle/>
          <a:p>
            <a:fld id="{84C450F2-3BB4-4AE4-8A35-A9D7AEA4C850}" type="slidenum">
              <a:rPr lang="en-US" smtClean="0"/>
              <a:t>14</a:t>
            </a:fld>
            <a:endParaRPr lang="en-US" dirty="0"/>
          </a:p>
        </p:txBody>
      </p:sp>
      <p:sp>
        <p:nvSpPr>
          <p:cNvPr id="9" name="TextBox 8">
            <a:extLst>
              <a:ext uri="{FF2B5EF4-FFF2-40B4-BE49-F238E27FC236}">
                <a16:creationId xmlns:a16="http://schemas.microsoft.com/office/drawing/2014/main" id="{8608A905-E1A6-4F7F-AC25-828C9B6BD049}"/>
              </a:ext>
            </a:extLst>
          </p:cNvPr>
          <p:cNvSpPr txBox="1"/>
          <p:nvPr/>
        </p:nvSpPr>
        <p:spPr>
          <a:xfrm>
            <a:off x="671804" y="283038"/>
            <a:ext cx="9481608" cy="1039284"/>
          </a:xfrm>
          <a:prstGeom prst="rect">
            <a:avLst/>
          </a:prstGeom>
          <a:noFill/>
        </p:spPr>
        <p:txBody>
          <a:bodyPr wrap="square" rtlCol="0">
            <a:normAutofit/>
          </a:bodyPr>
          <a:lstStyle/>
          <a:p>
            <a:pPr marL="0">
              <a:lnSpc>
                <a:spcPct val="90000"/>
              </a:lnSpc>
              <a:spcBef>
                <a:spcPct val="0"/>
              </a:spcBef>
            </a:pPr>
            <a:r>
              <a:rPr sz="4400" dirty="0">
                <a:solidFill>
                  <a:srgbClr val="F7CA66"/>
                </a:solidFill>
                <a:latin typeface="Lufga" panose="00000500000000000000" pitchFamily="50" charset="0"/>
                <a:ea typeface="+mj-ea"/>
                <a:cs typeface="+mj-cs"/>
              </a:rPr>
              <a:t>AI LANDING ZONE PRINCIPLES </a:t>
            </a:r>
            <a:endParaRPr lang="en-GB" sz="44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624481D3-C092-4BB2-A208-0F0B5BB6793C}"/>
              </a:ext>
            </a:extLst>
          </p:cNvPr>
          <p:cNvSpPr txBox="1"/>
          <p:nvPr/>
        </p:nvSpPr>
        <p:spPr>
          <a:xfrm>
            <a:off x="7412566" y="1307042"/>
            <a:ext cx="4391025" cy="274290"/>
          </a:xfrm>
          <a:prstGeom prst="rect">
            <a:avLst/>
          </a:prstGeom>
          <a:noFill/>
        </p:spPr>
        <p:txBody>
          <a:bodyPr wrap="square" rtlCol="0">
            <a:normAutofit fontScale="77500" lnSpcReduction="20000"/>
          </a:bodyPr>
          <a:lstStyle/>
          <a:p>
            <a:pPr marL="0" algn="l">
              <a:buNone/>
            </a:pPr>
            <a:r>
              <a:rPr sz="1800" b="1">
                <a:solidFill>
                  <a:srgbClr val="FFFFFF"/>
                </a:solidFill>
                <a:effectLst/>
                <a:latin typeface="Avenir Next LT Pro" panose="020B0504020202020204" pitchFamily="34" charset="0"/>
              </a:rPr>
              <a:t>Hub-and-spoke topology</a:t>
            </a:r>
            <a:r>
              <a:rPr>
                <a:effectLst/>
              </a:rPr>
              <a:t> </a:t>
            </a:r>
            <a:endParaRPr lang="en-GB"/>
          </a:p>
        </p:txBody>
      </p:sp>
      <p:sp>
        <p:nvSpPr>
          <p:cNvPr id="11" name="TextBox 10">
            <a:extLst>
              <a:ext uri="{FF2B5EF4-FFF2-40B4-BE49-F238E27FC236}">
                <a16:creationId xmlns:a16="http://schemas.microsoft.com/office/drawing/2014/main" id="{DDB62CB6-9AD3-43D4-9E63-0D5FDFBC8270}"/>
              </a:ext>
            </a:extLst>
          </p:cNvPr>
          <p:cNvSpPr txBox="1"/>
          <p:nvPr/>
        </p:nvSpPr>
        <p:spPr>
          <a:xfrm>
            <a:off x="7486650" y="1845915"/>
            <a:ext cx="4539191" cy="329686"/>
          </a:xfrm>
          <a:prstGeom prst="rect">
            <a:avLst/>
          </a:prstGeom>
          <a:noFill/>
        </p:spPr>
        <p:txBody>
          <a:bodyPr wrap="square" lIns="91440" tIns="45720" rIns="91440" bIns="45720" rtlCol="0" anchor="t">
            <a:normAutofit/>
          </a:bodyPr>
          <a:lstStyle/>
          <a:p>
            <a:pPr marL="0" marR="0" algn="l">
              <a:spcBef>
                <a:spcPts val="750"/>
              </a:spcBef>
              <a:buNone/>
            </a:pPr>
            <a:r>
              <a:rPr sz="1200" b="0">
                <a:solidFill>
                  <a:srgbClr val="FFFFFF"/>
                </a:solidFill>
                <a:effectLst/>
                <a:latin typeface="Avenir Next LT Pro"/>
              </a:rPr>
              <a:t>Central connectivity hub with isolated application spokes.</a:t>
            </a:r>
            <a:r>
              <a:rPr sz="1200" dirty="0">
                <a:effectLst/>
              </a:rPr>
              <a:t> </a:t>
            </a:r>
            <a:endParaRPr lang="en-GB" sz="1200"/>
          </a:p>
        </p:txBody>
      </p:sp>
      <p:sp>
        <p:nvSpPr>
          <p:cNvPr id="12" name="TextBox 11">
            <a:extLst>
              <a:ext uri="{FF2B5EF4-FFF2-40B4-BE49-F238E27FC236}">
                <a16:creationId xmlns:a16="http://schemas.microsoft.com/office/drawing/2014/main" id="{E3A57DEE-3B25-4C0E-AC49-1A0CD10F8EFF}"/>
              </a:ext>
            </a:extLst>
          </p:cNvPr>
          <p:cNvSpPr txBox="1"/>
          <p:nvPr/>
        </p:nvSpPr>
        <p:spPr>
          <a:xfrm>
            <a:off x="7486650" y="2317419"/>
            <a:ext cx="4391025" cy="274290"/>
          </a:xfrm>
          <a:prstGeom prst="rect">
            <a:avLst/>
          </a:prstGeom>
          <a:noFill/>
        </p:spPr>
        <p:txBody>
          <a:bodyPr wrap="square" rtlCol="0">
            <a:normAutofit fontScale="77500" lnSpcReduction="20000"/>
          </a:bodyPr>
          <a:lstStyle/>
          <a:p>
            <a:pPr marL="0" marR="0" algn="l">
              <a:spcBef>
                <a:spcPts val="1200"/>
              </a:spcBef>
              <a:buNone/>
            </a:pPr>
            <a:r>
              <a:rPr sz="1800" b="1">
                <a:solidFill>
                  <a:srgbClr val="FFFFFF"/>
                </a:solidFill>
                <a:effectLst/>
                <a:latin typeface="Avenir Next LT Pro" panose="020B0504020202020204" pitchFamily="34" charset="0"/>
              </a:rPr>
              <a:t>Policy-driven governance</a:t>
            </a:r>
            <a:r>
              <a:rPr>
                <a:effectLst/>
              </a:rPr>
              <a:t> </a:t>
            </a:r>
            <a:endParaRPr lang="en-GB"/>
          </a:p>
        </p:txBody>
      </p:sp>
      <p:sp>
        <p:nvSpPr>
          <p:cNvPr id="13" name="TextBox 12">
            <a:extLst>
              <a:ext uri="{FF2B5EF4-FFF2-40B4-BE49-F238E27FC236}">
                <a16:creationId xmlns:a16="http://schemas.microsoft.com/office/drawing/2014/main" id="{A58978B0-0373-41F4-825D-F90AE8AF8AD9}"/>
              </a:ext>
            </a:extLst>
          </p:cNvPr>
          <p:cNvSpPr txBox="1"/>
          <p:nvPr/>
        </p:nvSpPr>
        <p:spPr>
          <a:xfrm>
            <a:off x="7560733" y="2866876"/>
            <a:ext cx="4391025" cy="426541"/>
          </a:xfrm>
          <a:prstGeom prst="rect">
            <a:avLst/>
          </a:prstGeom>
          <a:noFill/>
        </p:spPr>
        <p:txBody>
          <a:bodyPr wrap="square" rtlCol="0">
            <a:normAutofit fontScale="92500"/>
          </a:bodyPr>
          <a:lstStyle/>
          <a:p>
            <a:pPr marL="0" marR="0" algn="l">
              <a:spcBef>
                <a:spcPts val="750"/>
              </a:spcBef>
              <a:buNone/>
            </a:pPr>
            <a:r>
              <a:rPr sz="1200" b="0">
                <a:solidFill>
                  <a:srgbClr val="FFFFFF"/>
                </a:solidFill>
                <a:effectLst/>
                <a:latin typeface="Avenir Next LT Pro" panose="020B0504020202020204" pitchFamily="34" charset="0"/>
              </a:rPr>
              <a:t>Azure Policy enforces baselines, naming, tagging, configurations.</a:t>
            </a:r>
            <a:r>
              <a:rPr>
                <a:effectLst/>
              </a:rPr>
              <a:t> </a:t>
            </a:r>
            <a:endParaRPr lang="en-GB"/>
          </a:p>
        </p:txBody>
      </p:sp>
      <p:sp>
        <p:nvSpPr>
          <p:cNvPr id="14" name="TextBox 13">
            <a:extLst>
              <a:ext uri="{FF2B5EF4-FFF2-40B4-BE49-F238E27FC236}">
                <a16:creationId xmlns:a16="http://schemas.microsoft.com/office/drawing/2014/main" id="{905DCA52-A16B-444E-B41C-2C78727FF691}"/>
              </a:ext>
            </a:extLst>
          </p:cNvPr>
          <p:cNvSpPr txBox="1"/>
          <p:nvPr/>
        </p:nvSpPr>
        <p:spPr>
          <a:xfrm>
            <a:off x="7560733" y="3551650"/>
            <a:ext cx="4391025" cy="274290"/>
          </a:xfrm>
          <a:prstGeom prst="rect">
            <a:avLst/>
          </a:prstGeom>
          <a:noFill/>
        </p:spPr>
        <p:txBody>
          <a:bodyPr wrap="square" rtlCol="0">
            <a:normAutofit fontScale="77500" lnSpcReduction="20000"/>
          </a:bodyPr>
          <a:lstStyle/>
          <a:p>
            <a:pPr marL="0" marR="0" algn="l">
              <a:spcBef>
                <a:spcPts val="1200"/>
              </a:spcBef>
              <a:buNone/>
            </a:pPr>
            <a:r>
              <a:rPr sz="1800" b="1">
                <a:solidFill>
                  <a:srgbClr val="FFFFFF"/>
                </a:solidFill>
                <a:effectLst/>
                <a:latin typeface="Avenir Next LT Pro" panose="020B0504020202020204" pitchFamily="34" charset="0"/>
              </a:rPr>
              <a:t>Zero Trust security</a:t>
            </a:r>
            <a:r>
              <a:rPr>
                <a:effectLst/>
              </a:rPr>
              <a:t> </a:t>
            </a:r>
            <a:endParaRPr lang="en-GB"/>
          </a:p>
        </p:txBody>
      </p:sp>
      <p:sp>
        <p:nvSpPr>
          <p:cNvPr id="15" name="TextBox 14">
            <a:extLst>
              <a:ext uri="{FF2B5EF4-FFF2-40B4-BE49-F238E27FC236}">
                <a16:creationId xmlns:a16="http://schemas.microsoft.com/office/drawing/2014/main" id="{50B12997-9B3B-48F8-A19B-A80EA3851564}"/>
              </a:ext>
            </a:extLst>
          </p:cNvPr>
          <p:cNvSpPr txBox="1"/>
          <p:nvPr/>
        </p:nvSpPr>
        <p:spPr>
          <a:xfrm>
            <a:off x="7560733" y="3974107"/>
            <a:ext cx="4391025" cy="426541"/>
          </a:xfrm>
          <a:prstGeom prst="rect">
            <a:avLst/>
          </a:prstGeom>
          <a:noFill/>
        </p:spPr>
        <p:txBody>
          <a:bodyPr wrap="square" rtlCol="0">
            <a:normAutofit fontScale="92500"/>
          </a:bodyPr>
          <a:lstStyle/>
          <a:p>
            <a:pPr marL="0" marR="0" algn="l">
              <a:spcBef>
                <a:spcPts val="750"/>
              </a:spcBef>
              <a:buNone/>
            </a:pPr>
            <a:r>
              <a:rPr sz="1200" b="0">
                <a:solidFill>
                  <a:srgbClr val="FFFFFF"/>
                </a:solidFill>
                <a:effectLst/>
                <a:latin typeface="Avenir Next LT Pro" panose="020B0504020202020204" pitchFamily="34" charset="0"/>
              </a:rPr>
              <a:t>No public endpoints; managed identities; least-privilege RBAC.</a:t>
            </a:r>
            <a:r>
              <a:rPr>
                <a:effectLst/>
              </a:rPr>
              <a:t> </a:t>
            </a:r>
            <a:endParaRPr lang="en-GB"/>
          </a:p>
        </p:txBody>
      </p:sp>
      <p:sp>
        <p:nvSpPr>
          <p:cNvPr id="16" name="TextBox 15">
            <a:extLst>
              <a:ext uri="{FF2B5EF4-FFF2-40B4-BE49-F238E27FC236}">
                <a16:creationId xmlns:a16="http://schemas.microsoft.com/office/drawing/2014/main" id="{F8E81020-F665-4616-996C-00A862E2BBBE}"/>
              </a:ext>
            </a:extLst>
          </p:cNvPr>
          <p:cNvSpPr txBox="1"/>
          <p:nvPr/>
        </p:nvSpPr>
        <p:spPr>
          <a:xfrm>
            <a:off x="7486650" y="4680049"/>
            <a:ext cx="4391025" cy="274290"/>
          </a:xfrm>
          <a:prstGeom prst="rect">
            <a:avLst/>
          </a:prstGeom>
          <a:noFill/>
        </p:spPr>
        <p:txBody>
          <a:bodyPr wrap="square" rtlCol="0">
            <a:normAutofit fontScale="77500" lnSpcReduction="20000"/>
          </a:bodyPr>
          <a:lstStyle/>
          <a:p>
            <a:pPr marL="0" marR="0" algn="l">
              <a:spcBef>
                <a:spcPts val="1200"/>
              </a:spcBef>
              <a:buNone/>
            </a:pPr>
            <a:r>
              <a:rPr sz="1800" b="1">
                <a:solidFill>
                  <a:srgbClr val="FFFFFF"/>
                </a:solidFill>
                <a:effectLst/>
                <a:latin typeface="Avenir Next LT Pro" panose="020B0504020202020204" pitchFamily="34" charset="0"/>
              </a:rPr>
              <a:t>Infrastructure as code</a:t>
            </a:r>
            <a:r>
              <a:rPr>
                <a:effectLst/>
              </a:rPr>
              <a:t> </a:t>
            </a:r>
            <a:endParaRPr lang="en-GB"/>
          </a:p>
        </p:txBody>
      </p:sp>
      <p:sp>
        <p:nvSpPr>
          <p:cNvPr id="17" name="TextBox 16">
            <a:extLst>
              <a:ext uri="{FF2B5EF4-FFF2-40B4-BE49-F238E27FC236}">
                <a16:creationId xmlns:a16="http://schemas.microsoft.com/office/drawing/2014/main" id="{7A6149B1-52E2-4071-8D59-E4F7AF7481A8}"/>
              </a:ext>
            </a:extLst>
          </p:cNvPr>
          <p:cNvSpPr txBox="1"/>
          <p:nvPr/>
        </p:nvSpPr>
        <p:spPr>
          <a:xfrm>
            <a:off x="7560733" y="5113089"/>
            <a:ext cx="4391025" cy="21327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Bicep/Terraform with version control and CI/CD pipelines.</a:t>
            </a:r>
            <a:r>
              <a:rPr sz="1200" dirty="0">
                <a:effectLst/>
              </a:rPr>
              <a:t> </a:t>
            </a:r>
            <a:endParaRPr lang="en-GB" sz="1200" dirty="0"/>
          </a:p>
        </p:txBody>
      </p:sp>
      <p:sp>
        <p:nvSpPr>
          <p:cNvPr id="18" name="TextBox 17">
            <a:extLst>
              <a:ext uri="{FF2B5EF4-FFF2-40B4-BE49-F238E27FC236}">
                <a16:creationId xmlns:a16="http://schemas.microsoft.com/office/drawing/2014/main" id="{4F1ABF06-4DA8-4187-A1A7-6A78216E10CE}"/>
              </a:ext>
            </a:extLst>
          </p:cNvPr>
          <p:cNvSpPr txBox="1"/>
          <p:nvPr/>
        </p:nvSpPr>
        <p:spPr>
          <a:xfrm>
            <a:off x="7560733" y="5637510"/>
            <a:ext cx="4391025" cy="274290"/>
          </a:xfrm>
          <a:prstGeom prst="rect">
            <a:avLst/>
          </a:prstGeom>
          <a:noFill/>
        </p:spPr>
        <p:txBody>
          <a:bodyPr wrap="square" rtlCol="0">
            <a:normAutofit fontScale="77500" lnSpcReduction="20000"/>
          </a:bodyPr>
          <a:lstStyle/>
          <a:p>
            <a:pPr marL="0" marR="0" algn="l">
              <a:spcBef>
                <a:spcPts val="1200"/>
              </a:spcBef>
              <a:buNone/>
            </a:pPr>
            <a:r>
              <a:rPr sz="1800" b="1">
                <a:solidFill>
                  <a:srgbClr val="FFFFFF"/>
                </a:solidFill>
                <a:effectLst/>
                <a:latin typeface="Avenir Next LT Pro" panose="020B0504020202020204" pitchFamily="34" charset="0"/>
              </a:rPr>
              <a:t>Segregation of duties</a:t>
            </a:r>
            <a:r>
              <a:rPr>
                <a:effectLst/>
              </a:rPr>
              <a:t> </a:t>
            </a:r>
            <a:endParaRPr lang="en-GB"/>
          </a:p>
        </p:txBody>
      </p:sp>
      <p:sp>
        <p:nvSpPr>
          <p:cNvPr id="19" name="TextBox 18">
            <a:extLst>
              <a:ext uri="{FF2B5EF4-FFF2-40B4-BE49-F238E27FC236}">
                <a16:creationId xmlns:a16="http://schemas.microsoft.com/office/drawing/2014/main" id="{0AC3B854-1D0C-4355-8DE7-27EFBA1B817E}"/>
              </a:ext>
            </a:extLst>
          </p:cNvPr>
          <p:cNvSpPr txBox="1"/>
          <p:nvPr/>
        </p:nvSpPr>
        <p:spPr>
          <a:xfrm>
            <a:off x="7560733" y="6123467"/>
            <a:ext cx="4391025" cy="21327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Platform team runs hub and AI core; apps own their spokes.</a:t>
            </a:r>
            <a:r>
              <a:rPr sz="1200" dirty="0">
                <a:effectLst/>
              </a:rPr>
              <a:t> </a:t>
            </a:r>
            <a:endParaRPr lang="en-GB" sz="1200" dirty="0"/>
          </a:p>
        </p:txBody>
      </p:sp>
      <p:pic>
        <p:nvPicPr>
          <p:cNvPr id="2" name="Picture 1" descr="UnifiedAIGatewayPattern.png">
            <a:extLst>
              <a:ext uri="{FF2B5EF4-FFF2-40B4-BE49-F238E27FC236}">
                <a16:creationId xmlns:a16="http://schemas.microsoft.com/office/drawing/2014/main" id="{412451FD-62AD-642B-599C-06C1A6368F01}"/>
              </a:ext>
            </a:extLst>
          </p:cNvPr>
          <p:cNvPicPr>
            <a:picLocks noChangeAspect="1"/>
          </p:cNvPicPr>
          <p:nvPr/>
        </p:nvPicPr>
        <p:blipFill>
          <a:blip r:embed="rId3"/>
          <a:stretch>
            <a:fillRect/>
          </a:stretch>
        </p:blipFill>
        <p:spPr>
          <a:xfrm>
            <a:off x="424803" y="1905089"/>
            <a:ext cx="6807198" cy="3732421"/>
          </a:xfrm>
          <a:prstGeom prst="rect">
            <a:avLst/>
          </a:prstGeom>
        </p:spPr>
      </p:pic>
    </p:spTree>
    <p:extLst>
      <p:ext uri="{BB962C8B-B14F-4D97-AF65-F5344CB8AC3E}">
        <p14:creationId xmlns:p14="http://schemas.microsoft.com/office/powerpoint/2010/main" val="1253102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3B91A5B-5CAA-02AE-966A-A44E0B3E8CBD}"/>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C5170203-AF2F-7E84-7F94-69D0F86BF28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24E2BC6-CCCF-003D-713F-2063D3BCD07C}"/>
              </a:ext>
            </a:extLst>
          </p:cNvPr>
          <p:cNvSpPr>
            <a:spLocks noGrp="1"/>
          </p:cNvSpPr>
          <p:nvPr>
            <p:ph type="sldNum" sz="quarter" idx="12"/>
          </p:nvPr>
        </p:nvSpPr>
        <p:spPr/>
        <p:txBody>
          <a:bodyPr/>
          <a:lstStyle/>
          <a:p>
            <a:fld id="{84C450F2-3BB4-4AE4-8A35-A9D7AEA4C850}" type="slidenum">
              <a:rPr lang="en-US" smtClean="0"/>
              <a:t>15</a:t>
            </a:fld>
            <a:endParaRPr lang="en-US" dirty="0"/>
          </a:p>
        </p:txBody>
      </p:sp>
      <p:pic>
        <p:nvPicPr>
          <p:cNvPr id="8" name="Graphic 7" descr="A detailed infographic illustrating a three-layered network architecture for an AI platform. The diagram should show Layer 1 as a foundational platform managed by a central team, Layer 2 as a centralized AI hub infrastructure, and Layer 3 as multiple isolated application landing zones (spokes) connected to the hub. The visual should use clear shapes and arrows to indicate relationships and peering between layers, with a modern, professional design. No visible or implied text, letters, or words should appear anywhere in the image">
            <a:extLst>
              <a:ext uri="{FF2B5EF4-FFF2-40B4-BE49-F238E27FC236}">
                <a16:creationId xmlns:a16="http://schemas.microsoft.com/office/drawing/2014/main" id="{8996F66C-2DC5-479E-BA0B-07DF6C3AB2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125" y="3990975"/>
            <a:ext cx="3026419" cy="2305050"/>
          </a:xfrm>
          <a:prstGeom prst="rect">
            <a:avLst/>
          </a:prstGeom>
        </p:spPr>
      </p:pic>
      <p:sp>
        <p:nvSpPr>
          <p:cNvPr id="9" name="TextBox 8">
            <a:extLst>
              <a:ext uri="{FF2B5EF4-FFF2-40B4-BE49-F238E27FC236}">
                <a16:creationId xmlns:a16="http://schemas.microsoft.com/office/drawing/2014/main" id="{B3CA0CE5-B865-4AD5-B3E3-0ADD4B3AD1C3}"/>
              </a:ext>
            </a:extLst>
          </p:cNvPr>
          <p:cNvSpPr txBox="1"/>
          <p:nvPr/>
        </p:nvSpPr>
        <p:spPr>
          <a:xfrm>
            <a:off x="619125" y="619125"/>
            <a:ext cx="9743741" cy="1912327"/>
          </a:xfrm>
          <a:prstGeom prst="rect">
            <a:avLst/>
          </a:prstGeom>
          <a:noFill/>
        </p:spPr>
        <p:txBody>
          <a:bodyPr wrap="square" rtlCol="0">
            <a:normAutofit/>
          </a:bodyPr>
          <a:lstStyle/>
          <a:p>
            <a:pPr marR="0">
              <a:lnSpc>
                <a:spcPct val="90000"/>
              </a:lnSpc>
              <a:spcBef>
                <a:spcPct val="0"/>
              </a:spcBef>
              <a:buNone/>
            </a:pPr>
            <a:r>
              <a:rPr sz="4400" dirty="0">
                <a:solidFill>
                  <a:srgbClr val="F7CA66"/>
                </a:solidFill>
                <a:latin typeface="Lufga" panose="00000500000000000000" pitchFamily="50" charset="0"/>
                <a:ea typeface="+mj-ea"/>
                <a:cs typeface="+mj-cs"/>
              </a:rPr>
              <a:t>REFERENCE ARCHITECTURE AND NETWORK DESIGN </a:t>
            </a:r>
            <a:endParaRPr lang="en-GB" sz="44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C34FD409-634A-45E5-B92B-F5E205894150}"/>
              </a:ext>
            </a:extLst>
          </p:cNvPr>
          <p:cNvSpPr txBox="1"/>
          <p:nvPr/>
        </p:nvSpPr>
        <p:spPr>
          <a:xfrm>
            <a:off x="4606836" y="3268540"/>
            <a:ext cx="7165181" cy="2891432"/>
          </a:xfrm>
          <a:prstGeom prst="rect">
            <a:avLst/>
          </a:prstGeom>
          <a:noFill/>
        </p:spPr>
        <p:txBody>
          <a:bodyPr wrap="square" lIns="91440" tIns="45720" rIns="91440" bIns="45720" rtlCol="0" anchor="t">
            <a:normAutofit lnSpcReduction="10000"/>
          </a:bodyPr>
          <a:lstStyle/>
          <a:p>
            <a:pPr marL="0" marR="0" algn="l">
              <a:buNone/>
            </a:pPr>
            <a:r>
              <a:rPr sz="1800" b="1" dirty="0">
                <a:solidFill>
                  <a:srgbClr val="FFFFFF"/>
                </a:solidFill>
                <a:effectLst/>
                <a:latin typeface="Avenir Next LT Pro Bold"/>
              </a:rPr>
              <a:t>Layer 1: Platform Landing Zones</a:t>
            </a:r>
            <a:r>
              <a:rPr dirty="0">
                <a:effectLst/>
              </a:rPr>
              <a:t> </a:t>
            </a:r>
          </a:p>
          <a:p>
            <a:pPr marL="0" marR="0" algn="l">
              <a:spcBef>
                <a:spcPts val="450"/>
              </a:spcBef>
              <a:buNone/>
            </a:pPr>
            <a:r>
              <a:rPr sz="1200" b="0" dirty="0">
                <a:solidFill>
                  <a:srgbClr val="FFFFFF"/>
                </a:solidFill>
                <a:effectLst/>
                <a:latin typeface="Avenir Next LT Pro Regular"/>
              </a:rPr>
              <a:t>Managed by the platform team, this layer provides secure, compliant foundations, shared services, and standardized guardrails for all environments.</a:t>
            </a:r>
            <a:r>
              <a:rPr dirty="0">
                <a:effectLst/>
              </a:rPr>
              <a:t> </a:t>
            </a:r>
          </a:p>
          <a:p>
            <a:pPr marL="0" marR="0" algn="l">
              <a:spcBef>
                <a:spcPts val="1800"/>
              </a:spcBef>
              <a:buNone/>
            </a:pPr>
            <a:r>
              <a:rPr sz="1800" b="1" dirty="0">
                <a:solidFill>
                  <a:srgbClr val="FFFFFF"/>
                </a:solidFill>
                <a:effectLst/>
                <a:latin typeface="Avenir Next LT Pro Bold"/>
              </a:rPr>
              <a:t>Layer 2: AI Hub Landing Zone</a:t>
            </a:r>
            <a:r>
              <a:rPr dirty="0">
                <a:effectLst/>
              </a:rPr>
              <a:t> </a:t>
            </a:r>
          </a:p>
          <a:p>
            <a:pPr marL="0" marR="0" algn="l">
              <a:spcBef>
                <a:spcPts val="450"/>
              </a:spcBef>
              <a:buNone/>
            </a:pPr>
            <a:r>
              <a:rPr sz="1200" b="0" dirty="0">
                <a:solidFill>
                  <a:srgbClr val="FFFFFF"/>
                </a:solidFill>
                <a:effectLst/>
                <a:latin typeface="Avenir Next LT Pro Regular"/>
              </a:rPr>
              <a:t>A centralized AI platform hosting core AI services, shared data, and governance. It enables reusable capabilities and secure access for multiple teams.</a:t>
            </a:r>
            <a:r>
              <a:rPr dirty="0">
                <a:effectLst/>
              </a:rPr>
              <a:t> </a:t>
            </a:r>
          </a:p>
          <a:p>
            <a:pPr>
              <a:spcBef>
                <a:spcPts val="1800"/>
              </a:spcBef>
            </a:pPr>
            <a:r>
              <a:rPr sz="1800" b="1" dirty="0">
                <a:solidFill>
                  <a:srgbClr val="FFFFFF"/>
                </a:solidFill>
                <a:effectLst/>
                <a:latin typeface="Avenir Next LT Pro Bold"/>
              </a:rPr>
              <a:t>Layer 3: Application </a:t>
            </a:r>
            <a:r>
              <a:rPr lang="en-GB" b="1" dirty="0">
                <a:solidFill>
                  <a:srgbClr val="FFFFFF"/>
                </a:solidFill>
                <a:latin typeface="Avenir Next LT Pro Bold"/>
              </a:rPr>
              <a:t>spoke</a:t>
            </a:r>
            <a:endParaRPr dirty="0">
              <a:effectLst/>
            </a:endParaRPr>
          </a:p>
          <a:p>
            <a:pPr marL="0" marR="0" algn="l">
              <a:spcBef>
                <a:spcPts val="450"/>
              </a:spcBef>
              <a:buNone/>
            </a:pPr>
            <a:r>
              <a:rPr sz="1200" b="0" dirty="0">
                <a:solidFill>
                  <a:srgbClr val="FFFFFF"/>
                </a:solidFill>
                <a:effectLst/>
                <a:latin typeface="Avenir Next LT Pro Regular"/>
              </a:rPr>
              <a:t>Isolated spoke subscriptions per app team, network-peered to the AI hub for controlled connectivity while preserving autonomy and blast-radius isolation.</a:t>
            </a:r>
            <a:r>
              <a:rPr dirty="0">
                <a:effectLst/>
              </a:rPr>
              <a:t> </a:t>
            </a:r>
            <a:endParaRPr lang="en-GB" dirty="0"/>
          </a:p>
        </p:txBody>
      </p:sp>
    </p:spTree>
    <p:extLst>
      <p:ext uri="{BB962C8B-B14F-4D97-AF65-F5344CB8AC3E}">
        <p14:creationId xmlns:p14="http://schemas.microsoft.com/office/powerpoint/2010/main" val="2117047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D6371-DAA5-5E1A-9806-20EFD175C7B8}"/>
              </a:ext>
            </a:extLst>
          </p:cNvPr>
          <p:cNvSpPr>
            <a:spLocks noGrp="1"/>
          </p:cNvSpPr>
          <p:nvPr>
            <p:ph type="title"/>
          </p:nvPr>
        </p:nvSpPr>
        <p:spPr>
          <a:xfrm>
            <a:off x="2879404" y="352296"/>
            <a:ext cx="11125032" cy="335181"/>
          </a:xfrm>
        </p:spPr>
        <p:txBody>
          <a:bodyPr>
            <a:normAutofit fontScale="90000"/>
          </a:bodyPr>
          <a:lstStyle/>
          <a:p>
            <a:r>
              <a:rPr lang="en-GB" dirty="0"/>
              <a:t>Azure Landing zone</a:t>
            </a:r>
          </a:p>
        </p:txBody>
      </p:sp>
      <p:pic>
        <p:nvPicPr>
          <p:cNvPr id="7" name="Content Placeholder 6" descr="A diagram of a software application&#10;&#10;AI-generated content may be incorrect.">
            <a:extLst>
              <a:ext uri="{FF2B5EF4-FFF2-40B4-BE49-F238E27FC236}">
                <a16:creationId xmlns:a16="http://schemas.microsoft.com/office/drawing/2014/main" id="{F1B872EF-F519-1418-5869-3AE7DBF19D03}"/>
              </a:ext>
            </a:extLst>
          </p:cNvPr>
          <p:cNvPicPr>
            <a:picLocks noGrp="1" noChangeAspect="1"/>
          </p:cNvPicPr>
          <p:nvPr>
            <p:ph idx="1"/>
          </p:nvPr>
        </p:nvPicPr>
        <p:blipFill>
          <a:blip r:embed="rId3"/>
          <a:stretch>
            <a:fillRect/>
          </a:stretch>
        </p:blipFill>
        <p:spPr>
          <a:xfrm>
            <a:off x="1931097" y="1081878"/>
            <a:ext cx="8051103" cy="5555356"/>
          </a:xfrm>
          <a:prstGeom prst="rect">
            <a:avLst/>
          </a:prstGeom>
        </p:spPr>
      </p:pic>
      <p:sp>
        <p:nvSpPr>
          <p:cNvPr id="4" name="Date Placeholder 3">
            <a:extLst>
              <a:ext uri="{FF2B5EF4-FFF2-40B4-BE49-F238E27FC236}">
                <a16:creationId xmlns:a16="http://schemas.microsoft.com/office/drawing/2014/main" id="{76477246-11DA-0ABF-AA84-5F462A190AA2}"/>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6" name="Slide Number Placeholder 5">
            <a:extLst>
              <a:ext uri="{FF2B5EF4-FFF2-40B4-BE49-F238E27FC236}">
                <a16:creationId xmlns:a16="http://schemas.microsoft.com/office/drawing/2014/main" id="{ABC78381-8352-7EE3-BE19-6FF51CFF977A}"/>
              </a:ext>
            </a:extLst>
          </p:cNvPr>
          <p:cNvSpPr>
            <a:spLocks noGrp="1"/>
          </p:cNvSpPr>
          <p:nvPr>
            <p:ph type="sldNum" sz="quarter" idx="12"/>
          </p:nvPr>
        </p:nvSpPr>
        <p:spPr/>
        <p:txBody>
          <a:bodyPr/>
          <a:lstStyle/>
          <a:p>
            <a:fld id="{84C450F2-3BB4-4AE4-8A35-A9D7AEA4C850}" type="slidenum">
              <a:rPr lang="en-US" smtClean="0"/>
              <a:t>16</a:t>
            </a:fld>
            <a:endParaRPr lang="en-US" dirty="0"/>
          </a:p>
        </p:txBody>
      </p:sp>
    </p:spTree>
    <p:extLst>
      <p:ext uri="{BB962C8B-B14F-4D97-AF65-F5344CB8AC3E}">
        <p14:creationId xmlns:p14="http://schemas.microsoft.com/office/powerpoint/2010/main" val="974186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I-Landing-Zone-with-platform.png">
            <a:extLst>
              <a:ext uri="{FF2B5EF4-FFF2-40B4-BE49-F238E27FC236}">
                <a16:creationId xmlns:a16="http://schemas.microsoft.com/office/drawing/2014/main" id="{2293D03A-F499-7F76-20A3-544BA941C58A}"/>
              </a:ext>
            </a:extLst>
          </p:cNvPr>
          <p:cNvPicPr>
            <a:picLocks noGrp="1" noChangeAspect="1"/>
          </p:cNvPicPr>
          <p:nvPr>
            <p:ph idx="1"/>
          </p:nvPr>
        </p:nvPicPr>
        <p:blipFill>
          <a:blip r:embed="rId3"/>
          <a:stretch>
            <a:fillRect/>
          </a:stretch>
        </p:blipFill>
        <p:spPr>
          <a:xfrm>
            <a:off x="653429" y="266700"/>
            <a:ext cx="10263794" cy="6104255"/>
          </a:xfrm>
          <a:prstGeom prst="rect">
            <a:avLst/>
          </a:prstGeom>
        </p:spPr>
      </p:pic>
      <p:sp>
        <p:nvSpPr>
          <p:cNvPr id="4" name="Date Placeholder 3">
            <a:extLst>
              <a:ext uri="{FF2B5EF4-FFF2-40B4-BE49-F238E27FC236}">
                <a16:creationId xmlns:a16="http://schemas.microsoft.com/office/drawing/2014/main" id="{B13772F3-9AC6-F15F-8AB1-E0DBEAB9CA9C}"/>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65EA716A-5743-FE23-3D9E-BD82998738D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D9D3A660-B48F-F27B-B06C-D153DA5E152B}"/>
              </a:ext>
            </a:extLst>
          </p:cNvPr>
          <p:cNvSpPr>
            <a:spLocks noGrp="1"/>
          </p:cNvSpPr>
          <p:nvPr>
            <p:ph type="sldNum" sz="quarter" idx="12"/>
          </p:nvPr>
        </p:nvSpPr>
        <p:spPr/>
        <p:txBody>
          <a:bodyPr/>
          <a:lstStyle/>
          <a:p>
            <a:fld id="{84C450F2-3BB4-4AE4-8A35-A9D7AEA4C850}" type="slidenum">
              <a:rPr lang="en-US" smtClean="0"/>
              <a:t>17</a:t>
            </a:fld>
            <a:endParaRPr lang="en-US" dirty="0"/>
          </a:p>
        </p:txBody>
      </p:sp>
    </p:spTree>
    <p:extLst>
      <p:ext uri="{BB962C8B-B14F-4D97-AF65-F5344CB8AC3E}">
        <p14:creationId xmlns:p14="http://schemas.microsoft.com/office/powerpoint/2010/main" val="62614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83A6-AA8F-6953-29D1-CB1BC4947B65}"/>
              </a:ext>
            </a:extLst>
          </p:cNvPr>
          <p:cNvSpPr>
            <a:spLocks noGrp="1"/>
          </p:cNvSpPr>
          <p:nvPr>
            <p:ph type="title"/>
          </p:nvPr>
        </p:nvSpPr>
        <p:spPr/>
        <p:txBody>
          <a:bodyPr/>
          <a:lstStyle/>
          <a:p>
            <a:r>
              <a:rPr lang="en-US" dirty="0"/>
              <a:t>Provisioning</a:t>
            </a:r>
          </a:p>
        </p:txBody>
      </p:sp>
      <p:sp>
        <p:nvSpPr>
          <p:cNvPr id="3" name="Content Placeholder 2">
            <a:extLst>
              <a:ext uri="{FF2B5EF4-FFF2-40B4-BE49-F238E27FC236}">
                <a16:creationId xmlns:a16="http://schemas.microsoft.com/office/drawing/2014/main" id="{F8DE89ED-0148-C529-08A7-4ADFDD799A61}"/>
              </a:ext>
            </a:extLst>
          </p:cNvPr>
          <p:cNvSpPr>
            <a:spLocks noGrp="1"/>
          </p:cNvSpPr>
          <p:nvPr>
            <p:ph idx="1"/>
          </p:nvPr>
        </p:nvSpPr>
        <p:spPr/>
        <p:txBody>
          <a:bodyPr/>
          <a:lstStyle/>
          <a:p>
            <a:r>
              <a:rPr lang="en-US" dirty="0"/>
              <a:t>Azure Foundry Citadel</a:t>
            </a:r>
          </a:p>
          <a:p>
            <a:endParaRPr lang="en-US" dirty="0"/>
          </a:p>
          <a:p>
            <a:r>
              <a:rPr lang="en-US" dirty="0">
                <a:hlinkClick r:id="rId3"/>
              </a:rPr>
              <a:t>https://github.com/Azure-Samples/foundry-citadel-platform</a:t>
            </a:r>
            <a:endParaRPr lang="en-US" dirty="0"/>
          </a:p>
          <a:p>
            <a:pPr marL="0" indent="0">
              <a:buNone/>
            </a:pPr>
            <a:endParaRPr lang="en-US" dirty="0"/>
          </a:p>
        </p:txBody>
      </p:sp>
    </p:spTree>
    <p:extLst>
      <p:ext uri="{BB962C8B-B14F-4D97-AF65-F5344CB8AC3E}">
        <p14:creationId xmlns:p14="http://schemas.microsoft.com/office/powerpoint/2010/main" val="1714473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63376-8B6E-65D4-EA12-731D1C8A158F}"/>
              </a:ext>
            </a:extLst>
          </p:cNvPr>
          <p:cNvSpPr>
            <a:spLocks noGrp="1"/>
          </p:cNvSpPr>
          <p:nvPr>
            <p:ph type="title"/>
          </p:nvPr>
        </p:nvSpPr>
        <p:spPr>
          <a:xfrm>
            <a:off x="6099048" y="401320"/>
            <a:ext cx="5455920" cy="577088"/>
          </a:xfrm>
        </p:spPr>
        <p:txBody>
          <a:bodyPr anchor="b">
            <a:normAutofit/>
          </a:bodyPr>
          <a:lstStyle/>
          <a:p>
            <a:r>
              <a:rPr lang="en-GB" sz="3000"/>
              <a:t>PLATFORM LANDING ZONE </a:t>
            </a:r>
          </a:p>
        </p:txBody>
      </p:sp>
      <p:pic>
        <p:nvPicPr>
          <p:cNvPr id="8" name="Picture 7" descr="Illuminated server room panel">
            <a:extLst>
              <a:ext uri="{FF2B5EF4-FFF2-40B4-BE49-F238E27FC236}">
                <a16:creationId xmlns:a16="http://schemas.microsoft.com/office/drawing/2014/main" id="{C796365E-A30F-7EC9-2451-4F6E269B9C69}"/>
              </a:ext>
            </a:extLst>
          </p:cNvPr>
          <p:cNvPicPr>
            <a:picLocks noChangeAspect="1"/>
          </p:cNvPicPr>
          <p:nvPr/>
        </p:nvPicPr>
        <p:blipFill>
          <a:blip r:embed="rId3"/>
          <a:srcRect l="6541" r="24808"/>
          <a:stretch>
            <a:fillRect/>
          </a:stretch>
        </p:blipFill>
        <p:spPr>
          <a:xfrm>
            <a:off x="20" y="10"/>
            <a:ext cx="5778480" cy="635850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noFill/>
        </p:spPr>
      </p:pic>
      <p:sp>
        <p:nvSpPr>
          <p:cNvPr id="3" name="Content Placeholder 2">
            <a:extLst>
              <a:ext uri="{FF2B5EF4-FFF2-40B4-BE49-F238E27FC236}">
                <a16:creationId xmlns:a16="http://schemas.microsoft.com/office/drawing/2014/main" id="{751A3949-99AF-E29A-DF9B-51ED5EF2B686}"/>
              </a:ext>
            </a:extLst>
          </p:cNvPr>
          <p:cNvSpPr>
            <a:spLocks noGrp="1"/>
          </p:cNvSpPr>
          <p:nvPr>
            <p:ph sz="quarter" idx="14"/>
          </p:nvPr>
        </p:nvSpPr>
        <p:spPr>
          <a:xfrm>
            <a:off x="6403848" y="1065784"/>
            <a:ext cx="5151120" cy="5298440"/>
          </a:xfrm>
        </p:spPr>
        <p:txBody>
          <a:bodyPr vert="horz" lIns="91440" tIns="45720" rIns="91440" bIns="45720" rtlCol="0" anchor="t">
            <a:normAutofit/>
          </a:bodyPr>
          <a:lstStyle/>
          <a:p>
            <a:pPr>
              <a:lnSpc>
                <a:spcPct val="110000"/>
              </a:lnSpc>
            </a:pPr>
            <a:endParaRPr lang="en-GB" sz="1300"/>
          </a:p>
          <a:p>
            <a:pPr>
              <a:lnSpc>
                <a:spcPct val="110000"/>
              </a:lnSpc>
            </a:pPr>
            <a:r>
              <a:rPr lang="en-GB" sz="1300"/>
              <a:t>Connectivity: Azure Firewall, ExpressRoute, Private DNS</a:t>
            </a:r>
          </a:p>
          <a:p>
            <a:pPr>
              <a:lnSpc>
                <a:spcPct val="110000"/>
              </a:lnSpc>
            </a:pPr>
            <a:r>
              <a:rPr lang="en-GB" sz="1300"/>
              <a:t>Management: Azure Monitor, Log Analytics, Policy</a:t>
            </a:r>
          </a:p>
          <a:p>
            <a:pPr>
              <a:lnSpc>
                <a:spcPct val="110000"/>
              </a:lnSpc>
            </a:pPr>
            <a:r>
              <a:rPr lang="en-GB" sz="1300"/>
              <a:t>Identity: Entra ID, PIM, Conditional Access</a:t>
            </a:r>
          </a:p>
          <a:p>
            <a:pPr marL="0" indent="0">
              <a:lnSpc>
                <a:spcPct val="110000"/>
              </a:lnSpc>
              <a:buNone/>
            </a:pPr>
            <a:endParaRPr lang="en-GB" sz="1300"/>
          </a:p>
          <a:p>
            <a:pPr marL="0" indent="0">
              <a:lnSpc>
                <a:spcPct val="110000"/>
              </a:lnSpc>
              <a:buNone/>
            </a:pPr>
            <a:r>
              <a:rPr lang="en-GB" sz="1300" b="1"/>
              <a:t>Cost</a:t>
            </a:r>
          </a:p>
          <a:p>
            <a:pPr>
              <a:lnSpc>
                <a:spcPct val="110000"/>
              </a:lnSpc>
              <a:buNone/>
            </a:pPr>
            <a:r>
              <a:rPr lang="en-GB" sz="1300"/>
              <a:t>Azure Firewall (Standard): $1,250/month</a:t>
            </a:r>
          </a:p>
          <a:p>
            <a:pPr>
              <a:lnSpc>
                <a:spcPct val="110000"/>
              </a:lnSpc>
              <a:buNone/>
            </a:pPr>
            <a:r>
              <a:rPr lang="en-GB" sz="1300"/>
              <a:t>DDoS Protection (Standard): $2,944/month  -&gt; external only</a:t>
            </a:r>
          </a:p>
          <a:p>
            <a:pPr>
              <a:lnSpc>
                <a:spcPct val="110000"/>
              </a:lnSpc>
              <a:buNone/>
            </a:pPr>
            <a:r>
              <a:rPr lang="en-GB" sz="1300"/>
              <a:t>Log Analytics (30GB/day): $650/month</a:t>
            </a:r>
          </a:p>
          <a:p>
            <a:pPr>
              <a:lnSpc>
                <a:spcPct val="110000"/>
              </a:lnSpc>
              <a:buNone/>
            </a:pPr>
            <a:r>
              <a:rPr lang="en-GB" sz="1300"/>
              <a:t>Azure Bastion (Basic): $140/month -&gt; external only</a:t>
            </a:r>
          </a:p>
          <a:p>
            <a:pPr>
              <a:lnSpc>
                <a:spcPct val="110000"/>
              </a:lnSpc>
              <a:buNone/>
            </a:pPr>
            <a:r>
              <a:rPr lang="en-GB" sz="1300"/>
              <a:t>Defender for Cloud: $150/month</a:t>
            </a:r>
          </a:p>
          <a:p>
            <a:pPr>
              <a:lnSpc>
                <a:spcPct val="110000"/>
              </a:lnSpc>
              <a:buNone/>
            </a:pPr>
            <a:r>
              <a:rPr lang="en-GB" sz="1300"/>
              <a:t>Azure Monitor: $125/month</a:t>
            </a:r>
          </a:p>
          <a:p>
            <a:pPr>
              <a:lnSpc>
                <a:spcPct val="110000"/>
              </a:lnSpc>
              <a:buNone/>
            </a:pPr>
            <a:r>
              <a:rPr lang="en-GB" sz="1300" b="1"/>
              <a:t>Total: $5,259/month</a:t>
            </a:r>
            <a:endParaRPr lang="en-GB" sz="1300"/>
          </a:p>
          <a:p>
            <a:pPr marL="0" indent="0">
              <a:lnSpc>
                <a:spcPct val="110000"/>
              </a:lnSpc>
              <a:buNone/>
            </a:pPr>
            <a:endParaRPr lang="en-GB" sz="1300"/>
          </a:p>
        </p:txBody>
      </p:sp>
      <p:sp>
        <p:nvSpPr>
          <p:cNvPr id="4" name="Date Placeholder 3">
            <a:extLst>
              <a:ext uri="{FF2B5EF4-FFF2-40B4-BE49-F238E27FC236}">
                <a16:creationId xmlns:a16="http://schemas.microsoft.com/office/drawing/2014/main" id="{1E072959-3D84-89CE-0363-A370CF2A7E12}"/>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53D2F48B-C046-C26B-D26F-82932F1C9C6F}"/>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E3C8BAF5-9942-7872-2265-BB396FB1CDF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19</a:t>
            </a:fld>
            <a:endParaRPr lang="en-US"/>
          </a:p>
        </p:txBody>
      </p:sp>
    </p:spTree>
    <p:extLst>
      <p:ext uri="{BB962C8B-B14F-4D97-AF65-F5344CB8AC3E}">
        <p14:creationId xmlns:p14="http://schemas.microsoft.com/office/powerpoint/2010/main" val="1198105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2E875-D76A-3861-CEE7-234BBBE0454F}"/>
              </a:ext>
            </a:extLst>
          </p:cNvPr>
          <p:cNvSpPr>
            <a:spLocks noGrp="1"/>
          </p:cNvSpPr>
          <p:nvPr>
            <p:ph type="title"/>
          </p:nvPr>
        </p:nvSpPr>
        <p:spPr>
          <a:xfrm>
            <a:off x="6007608" y="259080"/>
            <a:ext cx="6096000" cy="627888"/>
          </a:xfrm>
        </p:spPr>
        <p:txBody>
          <a:bodyPr anchor="b">
            <a:normAutofit/>
          </a:bodyPr>
          <a:lstStyle/>
          <a:p>
            <a:r>
              <a:rPr lang="en-GB" sz="3000" dirty="0"/>
              <a:t>Ai hub CORE COMPONENTS</a:t>
            </a:r>
          </a:p>
        </p:txBody>
      </p:sp>
      <p:pic>
        <p:nvPicPr>
          <p:cNvPr id="8" name="Picture 7" descr="Model of atoms">
            <a:extLst>
              <a:ext uri="{FF2B5EF4-FFF2-40B4-BE49-F238E27FC236}">
                <a16:creationId xmlns:a16="http://schemas.microsoft.com/office/drawing/2014/main" id="{3F585B50-0B51-59CE-BE3A-237026A476E2}"/>
              </a:ext>
            </a:extLst>
          </p:cNvPr>
          <p:cNvPicPr>
            <a:picLocks noChangeAspect="1"/>
          </p:cNvPicPr>
          <p:nvPr/>
        </p:nvPicPr>
        <p:blipFill>
          <a:blip r:embed="rId3"/>
          <a:srcRect l="26536" r="5060" b="-5"/>
          <a:stretch>
            <a:fillRect/>
          </a:stretch>
        </p:blipFill>
        <p:spPr>
          <a:xfrm>
            <a:off x="20" y="10"/>
            <a:ext cx="5605760" cy="635850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noFill/>
        </p:spPr>
      </p:pic>
      <p:sp>
        <p:nvSpPr>
          <p:cNvPr id="3" name="Content Placeholder 2">
            <a:extLst>
              <a:ext uri="{FF2B5EF4-FFF2-40B4-BE49-F238E27FC236}">
                <a16:creationId xmlns:a16="http://schemas.microsoft.com/office/drawing/2014/main" id="{266C5D88-AF04-BD7E-67F2-A4E15C4793E6}"/>
              </a:ext>
            </a:extLst>
          </p:cNvPr>
          <p:cNvSpPr>
            <a:spLocks noGrp="1"/>
          </p:cNvSpPr>
          <p:nvPr>
            <p:ph sz="quarter" idx="14"/>
          </p:nvPr>
        </p:nvSpPr>
        <p:spPr>
          <a:xfrm>
            <a:off x="6099048" y="1045464"/>
            <a:ext cx="5781040" cy="5318760"/>
          </a:xfrm>
        </p:spPr>
        <p:txBody>
          <a:bodyPr vert="horz" lIns="91440" tIns="45720" rIns="91440" bIns="45720" rtlCol="0" anchor="t">
            <a:noAutofit/>
          </a:bodyPr>
          <a:lstStyle/>
          <a:p>
            <a:pPr>
              <a:lnSpc>
                <a:spcPct val="110000"/>
              </a:lnSpc>
            </a:pPr>
            <a:r>
              <a:rPr lang="en-GB" sz="1200" dirty="0"/>
              <a:t>Azure OpenAI (2+ instances with PTU + PAYG)</a:t>
            </a:r>
          </a:p>
          <a:p>
            <a:pPr>
              <a:lnSpc>
                <a:spcPct val="110000"/>
              </a:lnSpc>
            </a:pPr>
            <a:r>
              <a:rPr lang="en-GB" sz="1200" dirty="0"/>
              <a:t>APIM Premium with VNET injection</a:t>
            </a:r>
          </a:p>
          <a:p>
            <a:pPr>
              <a:lnSpc>
                <a:spcPct val="110000"/>
              </a:lnSpc>
            </a:pPr>
            <a:r>
              <a:rPr lang="en-GB" sz="1200" dirty="0"/>
              <a:t>Azure AI Search and Cosmos DB</a:t>
            </a:r>
          </a:p>
          <a:p>
            <a:pPr>
              <a:lnSpc>
                <a:spcPct val="110000"/>
              </a:lnSpc>
            </a:pPr>
            <a:r>
              <a:rPr lang="en-GB" sz="1200" dirty="0"/>
              <a:t>Private endpoints and managed identities</a:t>
            </a:r>
          </a:p>
          <a:p>
            <a:pPr marL="0" indent="0">
              <a:lnSpc>
                <a:spcPct val="110000"/>
              </a:lnSpc>
              <a:buNone/>
            </a:pPr>
            <a:endParaRPr lang="en-GB" sz="1200" dirty="0"/>
          </a:p>
          <a:p>
            <a:pPr marL="0" indent="0">
              <a:lnSpc>
                <a:spcPct val="110000"/>
              </a:lnSpc>
              <a:buNone/>
            </a:pPr>
            <a:r>
              <a:rPr lang="en-GB" sz="1200" b="1" dirty="0"/>
              <a:t>Cost</a:t>
            </a:r>
          </a:p>
          <a:p>
            <a:pPr marL="0" indent="0">
              <a:lnSpc>
                <a:spcPct val="110000"/>
              </a:lnSpc>
              <a:buNone/>
            </a:pPr>
            <a:endParaRPr lang="en-GB" sz="1200" dirty="0"/>
          </a:p>
          <a:p>
            <a:pPr>
              <a:lnSpc>
                <a:spcPct val="110000"/>
              </a:lnSpc>
              <a:buNone/>
            </a:pPr>
            <a:r>
              <a:rPr lang="en-GB" sz="1200" dirty="0"/>
              <a:t>API Management Premium: $2,795/month -&gt; (</a:t>
            </a:r>
            <a:r>
              <a:rPr lang="en-GB" sz="1200" dirty="0" err="1"/>
              <a:t>vnet</a:t>
            </a:r>
            <a:r>
              <a:rPr lang="en-GB" sz="1200" dirty="0"/>
              <a:t> required) includes 1M external calls, unlimited internal</a:t>
            </a:r>
          </a:p>
          <a:p>
            <a:pPr>
              <a:lnSpc>
                <a:spcPct val="110000"/>
              </a:lnSpc>
              <a:buNone/>
            </a:pPr>
            <a:r>
              <a:rPr lang="en-GB" sz="1200" dirty="0"/>
              <a:t>Azure OpenAI PTU (50 units): $11,600/month   -&gt; 20k users</a:t>
            </a:r>
          </a:p>
          <a:p>
            <a:pPr>
              <a:lnSpc>
                <a:spcPct val="110000"/>
              </a:lnSpc>
              <a:buNone/>
            </a:pPr>
            <a:r>
              <a:rPr lang="en-GB" sz="1200" dirty="0"/>
              <a:t>Azure OpenAI PAYG: $350/month </a:t>
            </a:r>
          </a:p>
          <a:p>
            <a:pPr>
              <a:lnSpc>
                <a:spcPct val="110000"/>
              </a:lnSpc>
              <a:buNone/>
            </a:pPr>
            <a:r>
              <a:rPr lang="en-GB" sz="1200" dirty="0"/>
              <a:t>Azure AI Search S1: $250/month  -&gt;  optional</a:t>
            </a:r>
          </a:p>
          <a:p>
            <a:pPr>
              <a:lnSpc>
                <a:spcPct val="110000"/>
              </a:lnSpc>
              <a:buNone/>
            </a:pPr>
            <a:r>
              <a:rPr lang="en-GB" sz="1200" dirty="0"/>
              <a:t>Cosmos DB Serverless: $300/month</a:t>
            </a:r>
          </a:p>
          <a:p>
            <a:pPr>
              <a:lnSpc>
                <a:spcPct val="110000"/>
              </a:lnSpc>
              <a:buNone/>
            </a:pPr>
            <a:r>
              <a:rPr lang="en-GB" sz="1200" dirty="0"/>
              <a:t>Storage ADLS Gen2: $125/month</a:t>
            </a:r>
          </a:p>
          <a:p>
            <a:pPr>
              <a:lnSpc>
                <a:spcPct val="110000"/>
              </a:lnSpc>
              <a:buNone/>
            </a:pPr>
            <a:r>
              <a:rPr lang="en-GB" sz="1200" dirty="0"/>
              <a:t>Private Endpoints (10): $73/month</a:t>
            </a:r>
          </a:p>
          <a:p>
            <a:pPr>
              <a:lnSpc>
                <a:spcPct val="110000"/>
              </a:lnSpc>
              <a:buNone/>
            </a:pPr>
            <a:r>
              <a:rPr lang="en-GB" sz="1200" dirty="0"/>
              <a:t>Key Vault: $5/month</a:t>
            </a:r>
          </a:p>
          <a:p>
            <a:pPr>
              <a:lnSpc>
                <a:spcPct val="110000"/>
              </a:lnSpc>
              <a:buNone/>
            </a:pPr>
            <a:r>
              <a:rPr lang="en-GB" sz="1200" b="1" dirty="0"/>
              <a:t>Total: $14,498/month</a:t>
            </a:r>
            <a:endParaRPr lang="en-GB" sz="1200" dirty="0"/>
          </a:p>
          <a:p>
            <a:pPr marL="0" indent="0">
              <a:lnSpc>
                <a:spcPct val="110000"/>
              </a:lnSpc>
              <a:buNone/>
            </a:pPr>
            <a:endParaRPr lang="en-GB" sz="1200" dirty="0"/>
          </a:p>
        </p:txBody>
      </p:sp>
      <p:sp>
        <p:nvSpPr>
          <p:cNvPr id="4" name="Date Placeholder 3">
            <a:extLst>
              <a:ext uri="{FF2B5EF4-FFF2-40B4-BE49-F238E27FC236}">
                <a16:creationId xmlns:a16="http://schemas.microsoft.com/office/drawing/2014/main" id="{25885B99-FCBD-88EA-6C08-737B3467755E}"/>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4626F4A6-CCC6-A145-C330-DDDFC242CA8F}"/>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91EC5AA8-F973-3C56-B28A-0417DD28181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20</a:t>
            </a:fld>
            <a:endParaRPr lang="en-US"/>
          </a:p>
        </p:txBody>
      </p:sp>
    </p:spTree>
    <p:extLst>
      <p:ext uri="{BB962C8B-B14F-4D97-AF65-F5344CB8AC3E}">
        <p14:creationId xmlns:p14="http://schemas.microsoft.com/office/powerpoint/2010/main" val="1861355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0B59-53BA-EA0F-9260-3033E25F8AE8}"/>
              </a:ext>
            </a:extLst>
          </p:cNvPr>
          <p:cNvSpPr>
            <a:spLocks noGrp="1"/>
          </p:cNvSpPr>
          <p:nvPr>
            <p:ph type="title"/>
          </p:nvPr>
        </p:nvSpPr>
        <p:spPr>
          <a:xfrm>
            <a:off x="7196328" y="320040"/>
            <a:ext cx="4389120" cy="932688"/>
          </a:xfrm>
        </p:spPr>
        <p:txBody>
          <a:bodyPr anchor="b">
            <a:normAutofit/>
          </a:bodyPr>
          <a:lstStyle/>
          <a:p>
            <a:r>
              <a:rPr lang="en-GB" sz="3000"/>
              <a:t>APPLICATION spoke</a:t>
            </a:r>
          </a:p>
        </p:txBody>
      </p:sp>
      <p:pic>
        <p:nvPicPr>
          <p:cNvPr id="8" name="Picture 7" descr="Mobile device with apps">
            <a:extLst>
              <a:ext uri="{FF2B5EF4-FFF2-40B4-BE49-F238E27FC236}">
                <a16:creationId xmlns:a16="http://schemas.microsoft.com/office/drawing/2014/main" id="{611C241D-7C62-16DD-37B2-9E6216B77C41}"/>
              </a:ext>
            </a:extLst>
          </p:cNvPr>
          <p:cNvPicPr>
            <a:picLocks noChangeAspect="1"/>
          </p:cNvPicPr>
          <p:nvPr/>
        </p:nvPicPr>
        <p:blipFill>
          <a:blip r:embed="rId3"/>
          <a:srcRect l="40831" r="1232" b="3"/>
          <a:stretch>
            <a:fillRect/>
          </a:stretch>
        </p:blipFill>
        <p:spPr>
          <a:xfrm>
            <a:off x="20" y="10"/>
            <a:ext cx="6591280" cy="639914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noFill/>
        </p:spPr>
      </p:pic>
      <p:sp>
        <p:nvSpPr>
          <p:cNvPr id="3" name="Content Placeholder 2">
            <a:extLst>
              <a:ext uri="{FF2B5EF4-FFF2-40B4-BE49-F238E27FC236}">
                <a16:creationId xmlns:a16="http://schemas.microsoft.com/office/drawing/2014/main" id="{4B10BA49-F5A7-877B-3333-B8F6D8941703}"/>
              </a:ext>
            </a:extLst>
          </p:cNvPr>
          <p:cNvSpPr>
            <a:spLocks noGrp="1"/>
          </p:cNvSpPr>
          <p:nvPr>
            <p:ph sz="quarter" idx="14"/>
          </p:nvPr>
        </p:nvSpPr>
        <p:spPr>
          <a:xfrm>
            <a:off x="7196328" y="1380744"/>
            <a:ext cx="4389120" cy="4983480"/>
          </a:xfrm>
        </p:spPr>
        <p:txBody>
          <a:bodyPr vert="horz" lIns="91440" tIns="45720" rIns="91440" bIns="45720" rtlCol="0" anchor="t">
            <a:normAutofit lnSpcReduction="10000"/>
          </a:bodyPr>
          <a:lstStyle/>
          <a:p>
            <a:pPr>
              <a:lnSpc>
                <a:spcPct val="110000"/>
              </a:lnSpc>
            </a:pPr>
            <a:r>
              <a:rPr lang="en-GB" sz="1100"/>
              <a:t>AKS, Container Apps, or App Service</a:t>
            </a:r>
          </a:p>
          <a:p>
            <a:pPr>
              <a:lnSpc>
                <a:spcPct val="110000"/>
              </a:lnSpc>
            </a:pPr>
            <a:r>
              <a:rPr lang="en-GB" sz="1100"/>
              <a:t>Application Gateway with WAF</a:t>
            </a:r>
          </a:p>
          <a:p>
            <a:pPr>
              <a:lnSpc>
                <a:spcPct val="110000"/>
              </a:lnSpc>
            </a:pPr>
            <a:r>
              <a:rPr lang="en-GB" sz="1100"/>
              <a:t>App-specific AI Search indexes</a:t>
            </a:r>
          </a:p>
          <a:p>
            <a:pPr>
              <a:lnSpc>
                <a:spcPct val="110000"/>
              </a:lnSpc>
            </a:pPr>
            <a:r>
              <a:rPr lang="en-GB" sz="1100"/>
              <a:t>Observability via Application Insights</a:t>
            </a:r>
          </a:p>
          <a:p>
            <a:pPr>
              <a:lnSpc>
                <a:spcPct val="110000"/>
              </a:lnSpc>
            </a:pPr>
            <a:endParaRPr lang="en-GB" sz="1100"/>
          </a:p>
          <a:p>
            <a:pPr>
              <a:lnSpc>
                <a:spcPct val="110000"/>
              </a:lnSpc>
            </a:pPr>
            <a:r>
              <a:rPr lang="en-GB" sz="1100" b="1"/>
              <a:t>Cost</a:t>
            </a:r>
          </a:p>
          <a:p>
            <a:pPr>
              <a:lnSpc>
                <a:spcPct val="110000"/>
              </a:lnSpc>
            </a:pPr>
            <a:r>
              <a:rPr lang="en-GB" sz="1100"/>
              <a:t>AKS (3 D4s_v5 nodes): $450/month</a:t>
            </a:r>
          </a:p>
          <a:p>
            <a:pPr>
              <a:lnSpc>
                <a:spcPct val="110000"/>
              </a:lnSpc>
            </a:pPr>
            <a:r>
              <a:rPr lang="en-GB" sz="1100"/>
              <a:t>Application Gateway WAF v2: $300/month  -&gt; external only</a:t>
            </a:r>
          </a:p>
          <a:p>
            <a:pPr>
              <a:lnSpc>
                <a:spcPct val="110000"/>
              </a:lnSpc>
            </a:pPr>
            <a:r>
              <a:rPr lang="en-GB" sz="1100"/>
              <a:t>Front Door Premium: $400/month  -&gt; external only</a:t>
            </a:r>
          </a:p>
          <a:p>
            <a:pPr>
              <a:lnSpc>
                <a:spcPct val="110000"/>
              </a:lnSpc>
            </a:pPr>
            <a:r>
              <a:rPr lang="en-GB" sz="1100"/>
              <a:t>Application Insights: $325/month -&gt; 5–20 GB/day telemetry ingestion</a:t>
            </a:r>
          </a:p>
          <a:p>
            <a:pPr>
              <a:lnSpc>
                <a:spcPct val="110000"/>
              </a:lnSpc>
            </a:pPr>
            <a:r>
              <a:rPr lang="en-GB" sz="1100"/>
              <a:t>AI Search S1: $250/month</a:t>
            </a:r>
          </a:p>
          <a:p>
            <a:pPr>
              <a:lnSpc>
                <a:spcPct val="110000"/>
              </a:lnSpc>
            </a:pPr>
            <a:r>
              <a:rPr lang="en-GB" sz="1100"/>
              <a:t>Cosmos DB Serverless: $125/month</a:t>
            </a:r>
          </a:p>
          <a:p>
            <a:pPr>
              <a:lnSpc>
                <a:spcPct val="110000"/>
              </a:lnSpc>
            </a:pPr>
            <a:r>
              <a:rPr lang="en-GB" sz="1100"/>
              <a:t>Storage: $35/month</a:t>
            </a:r>
          </a:p>
          <a:p>
            <a:pPr>
              <a:lnSpc>
                <a:spcPct val="110000"/>
              </a:lnSpc>
            </a:pPr>
            <a:r>
              <a:rPr lang="en-GB" sz="1100"/>
              <a:t>Container Registry: $5/month</a:t>
            </a:r>
          </a:p>
          <a:p>
            <a:pPr>
              <a:lnSpc>
                <a:spcPct val="110000"/>
              </a:lnSpc>
            </a:pPr>
            <a:r>
              <a:rPr lang="en-GB" sz="1100" b="1"/>
              <a:t>Total: $1,890/month per app</a:t>
            </a:r>
            <a:endParaRPr lang="en-GB" sz="1100"/>
          </a:p>
          <a:p>
            <a:pPr>
              <a:lnSpc>
                <a:spcPct val="110000"/>
              </a:lnSpc>
            </a:pPr>
            <a:endParaRPr lang="en-GB" sz="1100"/>
          </a:p>
        </p:txBody>
      </p:sp>
      <p:sp>
        <p:nvSpPr>
          <p:cNvPr id="4" name="Date Placeholder 3">
            <a:extLst>
              <a:ext uri="{FF2B5EF4-FFF2-40B4-BE49-F238E27FC236}">
                <a16:creationId xmlns:a16="http://schemas.microsoft.com/office/drawing/2014/main" id="{CCB27297-FDB4-DE42-ED13-656692E3D1A4}"/>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518FB7C5-0608-0E24-C800-3685F2BEE54D}"/>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AB1D2880-2A4F-E804-DA4B-409CE988667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21</a:t>
            </a:fld>
            <a:endParaRPr lang="en-US"/>
          </a:p>
        </p:txBody>
      </p:sp>
    </p:spTree>
    <p:extLst>
      <p:ext uri="{BB962C8B-B14F-4D97-AF65-F5344CB8AC3E}">
        <p14:creationId xmlns:p14="http://schemas.microsoft.com/office/powerpoint/2010/main" val="112575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66D2421-3162-EFFA-CFB1-E791A4FB54E6}"/>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637DB0DD-F80D-BF07-B804-62990CB4B51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76EDE2A-09D1-2095-99F5-8D045F8922B1}"/>
              </a:ext>
            </a:extLst>
          </p:cNvPr>
          <p:cNvSpPr>
            <a:spLocks noGrp="1"/>
          </p:cNvSpPr>
          <p:nvPr>
            <p:ph type="sldNum" sz="quarter" idx="12"/>
          </p:nvPr>
        </p:nvSpPr>
        <p:spPr/>
        <p:txBody>
          <a:bodyPr/>
          <a:lstStyle/>
          <a:p>
            <a:fld id="{84C450F2-3BB4-4AE4-8A35-A9D7AEA4C850}" type="slidenum">
              <a:rPr lang="en-US" smtClean="0"/>
              <a:t>22</a:t>
            </a:fld>
            <a:endParaRPr lang="en-US" dirty="0"/>
          </a:p>
        </p:txBody>
      </p:sp>
      <p:pic>
        <p:nvPicPr>
          <p:cNvPr id="8" name="Graphic 7" descr="A detailed infographic illustrating the integration flow between Agent Framework, Semantic Kernel, and Foundry Agent Service. The diagram should show how an orchestrator agent in Foundry Agent Service communicates with specialized agents built using Agent Framework, which then leverage Semantic Kernel plugins for enterprise SaaS integration (e.g., SharePoint, Dynamics). The infographic should visually represent cloud infrastructure, agent orchestration, plugin connections, and API calls, with clear visual separation between each framework. No visible or implied text, letters, or words should appear anywhere in the image. The composition should convey a sense of modern enterprise architecture and seamless interoperability">
            <a:extLst>
              <a:ext uri="{FF2B5EF4-FFF2-40B4-BE49-F238E27FC236}">
                <a16:creationId xmlns:a16="http://schemas.microsoft.com/office/drawing/2014/main" id="{AC3CF688-F94A-4BB8-B09F-E3A430604D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16B9C478-3D56-40FA-A0B5-F1518661C432}"/>
              </a:ext>
            </a:extLst>
          </p:cNvPr>
          <p:cNvSpPr txBox="1"/>
          <p:nvPr/>
        </p:nvSpPr>
        <p:spPr>
          <a:xfrm>
            <a:off x="611746" y="405618"/>
            <a:ext cx="4391025" cy="1885950"/>
          </a:xfrm>
          <a:prstGeom prst="rect">
            <a:avLst/>
          </a:prstGeom>
          <a:noFill/>
        </p:spPr>
        <p:txBody>
          <a:bodyPr wrap="square" rtlCol="0">
            <a:normAutofit fontScale="92500" lnSpcReduction="10000"/>
          </a:bodyPr>
          <a:lstStyle/>
          <a:p>
            <a:pPr marL="0">
              <a:spcBef>
                <a:spcPct val="0"/>
              </a:spcBef>
            </a:pPr>
            <a:r>
              <a:rPr sz="4400" dirty="0">
                <a:solidFill>
                  <a:srgbClr val="F7CA66"/>
                </a:solidFill>
                <a:latin typeface="Lufga" panose="00000500000000000000" pitchFamily="50" charset="0"/>
                <a:ea typeface="+mj-ea"/>
                <a:cs typeface="+mj-cs"/>
              </a:rPr>
              <a:t>APPLICATION INTEGRATION FRAMEWORKS </a:t>
            </a:r>
            <a:endParaRPr lang="en-GB" sz="44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68D8511A-116B-4D8D-B745-057518020A6D}"/>
              </a:ext>
            </a:extLst>
          </p:cNvPr>
          <p:cNvSpPr txBox="1"/>
          <p:nvPr/>
        </p:nvSpPr>
        <p:spPr>
          <a:xfrm>
            <a:off x="619124" y="2531989"/>
            <a:ext cx="4391025" cy="274290"/>
          </a:xfrm>
          <a:prstGeom prst="rect">
            <a:avLst/>
          </a:prstGeom>
          <a:noFill/>
        </p:spPr>
        <p:txBody>
          <a:bodyPr wrap="square" rtlCol="0">
            <a:normAutofit fontScale="77500" lnSpcReduction="20000"/>
          </a:bodyPr>
          <a:lstStyle/>
          <a:p>
            <a:pPr marL="0" algn="l">
              <a:buNone/>
            </a:pPr>
            <a:r>
              <a:rPr sz="1800" b="1" dirty="0">
                <a:solidFill>
                  <a:srgbClr val="FFFFFF"/>
                </a:solidFill>
                <a:effectLst/>
                <a:latin typeface="Avenir Next LT Pro" panose="020B0504020202020204" pitchFamily="34" charset="0"/>
              </a:rPr>
              <a:t>When To Use Which</a:t>
            </a:r>
            <a:r>
              <a:rPr dirty="0">
                <a:effectLst/>
              </a:rPr>
              <a:t> </a:t>
            </a:r>
            <a:endParaRPr lang="en-GB" dirty="0"/>
          </a:p>
        </p:txBody>
      </p:sp>
      <p:sp>
        <p:nvSpPr>
          <p:cNvPr id="11" name="TextBox 10">
            <a:extLst>
              <a:ext uri="{FF2B5EF4-FFF2-40B4-BE49-F238E27FC236}">
                <a16:creationId xmlns:a16="http://schemas.microsoft.com/office/drawing/2014/main" id="{7CD22B3F-1A22-430B-A92E-5EFC386077D4}"/>
              </a:ext>
            </a:extLst>
          </p:cNvPr>
          <p:cNvSpPr txBox="1"/>
          <p:nvPr/>
        </p:nvSpPr>
        <p:spPr>
          <a:xfrm>
            <a:off x="619124" y="2855367"/>
            <a:ext cx="4391025" cy="426541"/>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Agent Framework: Build new multi‑agent systems; portable; code‑first.</a:t>
            </a:r>
            <a:r>
              <a:rPr sz="1200" dirty="0">
                <a:effectLst/>
              </a:rPr>
              <a:t> </a:t>
            </a:r>
            <a:endParaRPr lang="en-GB" sz="1200" dirty="0"/>
          </a:p>
        </p:txBody>
      </p:sp>
      <p:sp>
        <p:nvSpPr>
          <p:cNvPr id="12" name="TextBox 11">
            <a:extLst>
              <a:ext uri="{FF2B5EF4-FFF2-40B4-BE49-F238E27FC236}">
                <a16:creationId xmlns:a16="http://schemas.microsoft.com/office/drawing/2014/main" id="{08456968-5FBE-4958-86C3-D167CC8F929E}"/>
              </a:ext>
            </a:extLst>
          </p:cNvPr>
          <p:cNvSpPr txBox="1"/>
          <p:nvPr/>
        </p:nvSpPr>
        <p:spPr>
          <a:xfrm>
            <a:off x="636330" y="3438576"/>
            <a:ext cx="4391025" cy="426541"/>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Semantic Kernel: Existing SK; single‑agent chat; SaaS plugins.</a:t>
            </a:r>
            <a:r>
              <a:rPr sz="1200" dirty="0">
                <a:effectLst/>
              </a:rPr>
              <a:t> </a:t>
            </a:r>
            <a:endParaRPr lang="en-GB" sz="1200" dirty="0"/>
          </a:p>
        </p:txBody>
      </p:sp>
      <p:sp>
        <p:nvSpPr>
          <p:cNvPr id="13" name="TextBox 12">
            <a:extLst>
              <a:ext uri="{FF2B5EF4-FFF2-40B4-BE49-F238E27FC236}">
                <a16:creationId xmlns:a16="http://schemas.microsoft.com/office/drawing/2014/main" id="{E6FDDF86-DD82-4DD3-8513-3030AAA41A71}"/>
              </a:ext>
            </a:extLst>
          </p:cNvPr>
          <p:cNvSpPr txBox="1"/>
          <p:nvPr/>
        </p:nvSpPr>
        <p:spPr>
          <a:xfrm>
            <a:off x="619124" y="3969866"/>
            <a:ext cx="4391025" cy="426541"/>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Foundry Agent Service: Managed infra; workflows; evals; M365 publish.</a:t>
            </a:r>
            <a:r>
              <a:rPr sz="1200" dirty="0">
                <a:effectLst/>
              </a:rPr>
              <a:t> </a:t>
            </a:r>
            <a:endParaRPr lang="en-GB" sz="1200" dirty="0"/>
          </a:p>
        </p:txBody>
      </p:sp>
      <p:sp>
        <p:nvSpPr>
          <p:cNvPr id="14" name="TextBox 13">
            <a:extLst>
              <a:ext uri="{FF2B5EF4-FFF2-40B4-BE49-F238E27FC236}">
                <a16:creationId xmlns:a16="http://schemas.microsoft.com/office/drawing/2014/main" id="{16B57D52-E524-4CB3-9B8C-723B2375CF13}"/>
              </a:ext>
            </a:extLst>
          </p:cNvPr>
          <p:cNvSpPr txBox="1"/>
          <p:nvPr/>
        </p:nvSpPr>
        <p:spPr>
          <a:xfrm>
            <a:off x="619124" y="4526768"/>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Mixing Frameworks</a:t>
            </a:r>
            <a:r>
              <a:rPr dirty="0">
                <a:effectLst/>
              </a:rPr>
              <a:t> </a:t>
            </a:r>
            <a:endParaRPr lang="en-GB" dirty="0"/>
          </a:p>
        </p:txBody>
      </p:sp>
      <p:sp>
        <p:nvSpPr>
          <p:cNvPr id="15" name="TextBox 14">
            <a:extLst>
              <a:ext uri="{FF2B5EF4-FFF2-40B4-BE49-F238E27FC236}">
                <a16:creationId xmlns:a16="http://schemas.microsoft.com/office/drawing/2014/main" id="{0A241C6F-6938-4B72-9813-17089C5C655F}"/>
              </a:ext>
            </a:extLst>
          </p:cNvPr>
          <p:cNvSpPr txBox="1"/>
          <p:nvPr/>
        </p:nvSpPr>
        <p:spPr>
          <a:xfrm>
            <a:off x="619123" y="4896308"/>
            <a:ext cx="4391025" cy="21327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Foundry hosts the orchestrator entry point.</a:t>
            </a:r>
            <a:r>
              <a:rPr sz="1200" dirty="0">
                <a:effectLst/>
              </a:rPr>
              <a:t> </a:t>
            </a:r>
            <a:endParaRPr lang="en-GB" sz="1200" dirty="0"/>
          </a:p>
        </p:txBody>
      </p:sp>
      <p:sp>
        <p:nvSpPr>
          <p:cNvPr id="16" name="TextBox 15">
            <a:extLst>
              <a:ext uri="{FF2B5EF4-FFF2-40B4-BE49-F238E27FC236}">
                <a16:creationId xmlns:a16="http://schemas.microsoft.com/office/drawing/2014/main" id="{7F849316-FCAE-4AD6-9D96-C7CB652A0857}"/>
              </a:ext>
            </a:extLst>
          </p:cNvPr>
          <p:cNvSpPr txBox="1"/>
          <p:nvPr/>
        </p:nvSpPr>
        <p:spPr>
          <a:xfrm>
            <a:off x="619122" y="5212592"/>
            <a:ext cx="4391025" cy="21327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Orchestrator calls Agent Framework specialists via A2A.</a:t>
            </a:r>
            <a:r>
              <a:rPr sz="1200" dirty="0">
                <a:effectLst/>
              </a:rPr>
              <a:t> </a:t>
            </a:r>
            <a:endParaRPr lang="en-GB" sz="1200" dirty="0"/>
          </a:p>
        </p:txBody>
      </p:sp>
      <p:sp>
        <p:nvSpPr>
          <p:cNvPr id="17" name="TextBox 16">
            <a:extLst>
              <a:ext uri="{FF2B5EF4-FFF2-40B4-BE49-F238E27FC236}">
                <a16:creationId xmlns:a16="http://schemas.microsoft.com/office/drawing/2014/main" id="{9EC1E4AA-24E4-486F-A5A7-2952F9A2ADD8}"/>
              </a:ext>
            </a:extLst>
          </p:cNvPr>
          <p:cNvSpPr txBox="1"/>
          <p:nvPr/>
        </p:nvSpPr>
        <p:spPr>
          <a:xfrm>
            <a:off x="619121" y="5536270"/>
            <a:ext cx="4391025" cy="213270"/>
          </a:xfrm>
          <a:prstGeom prst="rect">
            <a:avLst/>
          </a:prstGeom>
          <a:noFill/>
        </p:spPr>
        <p:txBody>
          <a:bodyPr wrap="square" rtlCol="0">
            <a:noAutofit/>
          </a:bodyPr>
          <a:lstStyle/>
          <a:p>
            <a:pPr marL="0" marR="0" algn="l">
              <a:spcBef>
                <a:spcPts val="750"/>
              </a:spcBef>
              <a:buNone/>
            </a:pPr>
            <a:r>
              <a:rPr sz="1200" b="0" dirty="0">
                <a:solidFill>
                  <a:srgbClr val="FFFFFF"/>
                </a:solidFill>
                <a:effectLst/>
                <a:latin typeface="Avenir Next LT Pro" panose="020B0504020202020204" pitchFamily="34" charset="0"/>
              </a:rPr>
              <a:t>Specialists use SK plugins for SharePoint/Dynamics.</a:t>
            </a:r>
            <a:r>
              <a:rPr sz="1200" dirty="0">
                <a:effectLst/>
              </a:rPr>
              <a:t> </a:t>
            </a:r>
            <a:endParaRPr lang="en-GB" sz="1200" dirty="0"/>
          </a:p>
        </p:txBody>
      </p:sp>
      <p:sp>
        <p:nvSpPr>
          <p:cNvPr id="18" name="TextBox 17">
            <a:extLst>
              <a:ext uri="{FF2B5EF4-FFF2-40B4-BE49-F238E27FC236}">
                <a16:creationId xmlns:a16="http://schemas.microsoft.com/office/drawing/2014/main" id="{329AA64F-79ED-4FDA-A781-80E56AEBF5E5}"/>
              </a:ext>
            </a:extLst>
          </p:cNvPr>
          <p:cNvSpPr txBox="1"/>
          <p:nvPr/>
        </p:nvSpPr>
        <p:spPr>
          <a:xfrm>
            <a:off x="619120" y="5967757"/>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AKS + APIM Pattern</a:t>
            </a:r>
            <a:r>
              <a:rPr dirty="0">
                <a:effectLst/>
              </a:rPr>
              <a:t> </a:t>
            </a:r>
            <a:endParaRPr lang="en-GB" dirty="0"/>
          </a:p>
        </p:txBody>
      </p:sp>
      <p:sp>
        <p:nvSpPr>
          <p:cNvPr id="20" name="TextBox 19">
            <a:extLst>
              <a:ext uri="{FF2B5EF4-FFF2-40B4-BE49-F238E27FC236}">
                <a16:creationId xmlns:a16="http://schemas.microsoft.com/office/drawing/2014/main" id="{3153F93A-108A-4692-9D66-8EDA7BB32997}"/>
              </a:ext>
            </a:extLst>
          </p:cNvPr>
          <p:cNvSpPr txBox="1"/>
          <p:nvPr/>
        </p:nvSpPr>
        <p:spPr>
          <a:xfrm>
            <a:off x="619125" y="6832252"/>
            <a:ext cx="4391025" cy="213270"/>
          </a:xfrm>
          <a:prstGeom prst="rect">
            <a:avLst/>
          </a:prstGeom>
          <a:noFill/>
        </p:spPr>
        <p:txBody>
          <a:bodyPr wrap="square" rtlCol="0">
            <a:normAutofit fontScale="47500" lnSpcReduction="20000"/>
          </a:bodyPr>
          <a:lstStyle/>
          <a:p>
            <a:pPr marL="0" marR="0" algn="l">
              <a:spcBef>
                <a:spcPts val="750"/>
              </a:spcBef>
              <a:buNone/>
            </a:pPr>
            <a:r>
              <a:rPr sz="1200" b="0">
                <a:solidFill>
                  <a:srgbClr val="FFFFFF"/>
                </a:solidFill>
                <a:effectLst/>
                <a:latin typeface="Avenir Next LT Pro" panose="020B0504020202020204" pitchFamily="34" charset="0"/>
              </a:rPr>
              <a:t>Use Azure OpenAI chat client via APIM in AI Hub.</a:t>
            </a:r>
            <a:r>
              <a:rPr>
                <a:effectLst/>
              </a:rPr>
              <a:t> </a:t>
            </a:r>
            <a:endParaRPr lang="en-GB"/>
          </a:p>
        </p:txBody>
      </p:sp>
      <p:sp>
        <p:nvSpPr>
          <p:cNvPr id="21" name="TextBox 20">
            <a:extLst>
              <a:ext uri="{FF2B5EF4-FFF2-40B4-BE49-F238E27FC236}">
                <a16:creationId xmlns:a16="http://schemas.microsoft.com/office/drawing/2014/main" id="{ACEA5217-EE23-489E-B4CB-E0FC0F2F0394}"/>
              </a:ext>
            </a:extLst>
          </p:cNvPr>
          <p:cNvSpPr txBox="1"/>
          <p:nvPr/>
        </p:nvSpPr>
        <p:spPr>
          <a:xfrm>
            <a:off x="619125" y="7140773"/>
            <a:ext cx="4391025" cy="426541"/>
          </a:xfrm>
          <a:prstGeom prst="rect">
            <a:avLst/>
          </a:prstGeom>
          <a:noFill/>
        </p:spPr>
        <p:txBody>
          <a:bodyPr wrap="square" rtlCol="0">
            <a:normAutofit fontScale="85000" lnSpcReduction="10000"/>
          </a:bodyPr>
          <a:lstStyle/>
          <a:p>
            <a:pPr marL="0" marR="0" algn="l">
              <a:spcBef>
                <a:spcPts val="750"/>
              </a:spcBef>
              <a:buNone/>
            </a:pPr>
            <a:r>
              <a:rPr sz="1200" b="0">
                <a:solidFill>
                  <a:srgbClr val="FFFFFF"/>
                </a:solidFill>
                <a:effectLst/>
                <a:latin typeface="Avenir Next LT Pro" panose="020B0504020202020204" pitchFamily="34" charset="0"/>
              </a:rPr>
              <a:t>Compose workflows, evaluations, and Teams publishing in Foundry.</a:t>
            </a:r>
            <a:r>
              <a:rPr>
                <a:effectLst/>
              </a:rPr>
              <a:t> </a:t>
            </a:r>
            <a:endParaRPr lang="en-GB"/>
          </a:p>
        </p:txBody>
      </p:sp>
    </p:spTree>
    <p:extLst>
      <p:ext uri="{BB962C8B-B14F-4D97-AF65-F5344CB8AC3E}">
        <p14:creationId xmlns:p14="http://schemas.microsoft.com/office/powerpoint/2010/main" val="667515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3298-F694-FF81-5AB0-27547F9BEF5C}"/>
              </a:ext>
            </a:extLst>
          </p:cNvPr>
          <p:cNvSpPr>
            <a:spLocks noGrp="1"/>
          </p:cNvSpPr>
          <p:nvPr>
            <p:ph type="title"/>
          </p:nvPr>
        </p:nvSpPr>
        <p:spPr>
          <a:xfrm>
            <a:off x="838200" y="2342515"/>
            <a:ext cx="10515600" cy="1325563"/>
          </a:xfrm>
        </p:spPr>
        <p:txBody>
          <a:bodyPr/>
          <a:lstStyle/>
          <a:p>
            <a:r>
              <a:rPr lang="en-US" dirty="0"/>
              <a:t>COST MODELLING OPTIMISATION </a:t>
            </a:r>
          </a:p>
        </p:txBody>
      </p:sp>
    </p:spTree>
    <p:extLst>
      <p:ext uri="{BB962C8B-B14F-4D97-AF65-F5344CB8AC3E}">
        <p14:creationId xmlns:p14="http://schemas.microsoft.com/office/powerpoint/2010/main" val="1993187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B03F46-B14E-6E2E-84B3-D9AB71D1DC77}"/>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BF2EF076-C83F-6A58-DCD7-DA4445E4962B}"/>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589CF104-4D46-2C86-7C4A-E5904A14848D}"/>
              </a:ext>
            </a:extLst>
          </p:cNvPr>
          <p:cNvSpPr>
            <a:spLocks noGrp="1"/>
          </p:cNvSpPr>
          <p:nvPr>
            <p:ph type="sldNum" sz="quarter" idx="12"/>
          </p:nvPr>
        </p:nvSpPr>
        <p:spPr/>
        <p:txBody>
          <a:bodyPr/>
          <a:lstStyle/>
          <a:p>
            <a:fld id="{84C450F2-3BB4-4AE4-8A35-A9D7AEA4C850}" type="slidenum">
              <a:rPr lang="en-US" smtClean="0"/>
              <a:t>24</a:t>
            </a:fld>
            <a:endParaRPr lang="en-US" dirty="0"/>
          </a:p>
        </p:txBody>
      </p:sp>
      <p:pic>
        <p:nvPicPr>
          <p:cNvPr id="8" name="Graphic 7" descr="A clean infographic illustrating the cost structure and scaling of AI ALZ, with three distinct visual sections: one for Category A (Platform Landing Zones, depicted as abstracted shared cloud infrastructure), one for Category B (AI Hub Core Infrastructure, depicted as a scalable central hub with connected nodes), and one for scaling scenarios (10, 50, 100 applications, represented as increasing arrows or clusters and a decreasing cost visual such as a downward sloping curve or stacks of coins). Use abstract icons for shared infrastructure, AI hub, and cost savings, maintain a modern business aesthetic with monochrome tones and blue (#6D7BF7) accent. There must be no visible or implied text, letters, or words anywhere in the image">
            <a:extLst>
              <a:ext uri="{FF2B5EF4-FFF2-40B4-BE49-F238E27FC236}">
                <a16:creationId xmlns:a16="http://schemas.microsoft.com/office/drawing/2014/main" id="{E2083A83-4BE8-4A56-9CA4-F52F0FEEA8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522DB4B4-07E4-4AB6-A559-0BBB7E5DB2D5}"/>
              </a:ext>
            </a:extLst>
          </p:cNvPr>
          <p:cNvSpPr txBox="1"/>
          <p:nvPr/>
        </p:nvSpPr>
        <p:spPr>
          <a:xfrm>
            <a:off x="619125" y="581025"/>
            <a:ext cx="4391025" cy="1257300"/>
          </a:xfrm>
          <a:prstGeom prst="rect">
            <a:avLst/>
          </a:prstGeom>
          <a:noFill/>
        </p:spPr>
        <p:txBody>
          <a:bodyPr wrap="square" rtlCol="0">
            <a:normAutofit fontScale="92500" lnSpcReduction="10000"/>
          </a:bodyPr>
          <a:lstStyle/>
          <a:p>
            <a:pPr marL="0">
              <a:spcBef>
                <a:spcPct val="0"/>
              </a:spcBef>
            </a:pPr>
            <a:r>
              <a:rPr sz="4400" dirty="0">
                <a:solidFill>
                  <a:srgbClr val="F7CA66"/>
                </a:solidFill>
                <a:latin typeface="Lufga" panose="00000500000000000000" pitchFamily="50" charset="0"/>
                <a:ea typeface="+mj-ea"/>
                <a:cs typeface="+mj-cs"/>
              </a:rPr>
              <a:t>AI ALZ Cost Scaling </a:t>
            </a:r>
            <a:endParaRPr lang="en-GB" sz="44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12B3CE63-4C59-4C07-ACF0-4AD3708EA098}"/>
              </a:ext>
            </a:extLst>
          </p:cNvPr>
          <p:cNvSpPr txBox="1"/>
          <p:nvPr/>
        </p:nvSpPr>
        <p:spPr>
          <a:xfrm>
            <a:off x="520802" y="2415655"/>
            <a:ext cx="4391025" cy="274290"/>
          </a:xfrm>
          <a:prstGeom prst="rect">
            <a:avLst/>
          </a:prstGeom>
          <a:noFill/>
        </p:spPr>
        <p:txBody>
          <a:bodyPr wrap="square" rtlCol="0">
            <a:normAutofit fontScale="77500" lnSpcReduction="20000"/>
          </a:bodyPr>
          <a:lstStyle/>
          <a:p>
            <a:pPr marL="0" algn="l">
              <a:buNone/>
            </a:pPr>
            <a:r>
              <a:rPr sz="1800" b="1" dirty="0">
                <a:solidFill>
                  <a:srgbClr val="FFFFFF"/>
                </a:solidFill>
                <a:effectLst/>
                <a:latin typeface="Avenir Next LT Pro" panose="020B0504020202020204" pitchFamily="34" charset="0"/>
              </a:rPr>
              <a:t>Category A · Platform LZ</a:t>
            </a:r>
            <a:r>
              <a:rPr dirty="0">
                <a:effectLst/>
              </a:rPr>
              <a:t> </a:t>
            </a:r>
            <a:endParaRPr lang="en-GB" dirty="0"/>
          </a:p>
        </p:txBody>
      </p:sp>
      <p:sp>
        <p:nvSpPr>
          <p:cNvPr id="11" name="TextBox 10">
            <a:extLst>
              <a:ext uri="{FF2B5EF4-FFF2-40B4-BE49-F238E27FC236}">
                <a16:creationId xmlns:a16="http://schemas.microsoft.com/office/drawing/2014/main" id="{71DB9A29-DEDE-4C2F-B100-F9C01BB5B188}"/>
              </a:ext>
            </a:extLst>
          </p:cNvPr>
          <p:cNvSpPr txBox="1"/>
          <p:nvPr/>
        </p:nvSpPr>
        <p:spPr>
          <a:xfrm>
            <a:off x="520803" y="2902793"/>
            <a:ext cx="4391025" cy="426541"/>
          </a:xfrm>
          <a:prstGeom prst="rect">
            <a:avLst/>
          </a:prstGeom>
          <a:noFill/>
        </p:spPr>
        <p:txBody>
          <a:bodyPr wrap="square" rtlCol="0">
            <a:noAutofit/>
          </a:bodyPr>
          <a:lstStyle/>
          <a:p>
            <a:pPr marL="0" algn="l">
              <a:spcBef>
                <a:spcPts val="750"/>
              </a:spcBef>
              <a:buNone/>
            </a:pPr>
            <a:r>
              <a:rPr sz="1200" b="0" dirty="0">
                <a:solidFill>
                  <a:srgbClr val="FFFFFF"/>
                </a:solidFill>
                <a:effectLst/>
                <a:latin typeface="Avenir Next LT Pro" panose="020B0504020202020204" pitchFamily="34" charset="0"/>
              </a:rPr>
              <a:t>Shared across all AI workloads; typically allocated as overhead or spread across apps.</a:t>
            </a:r>
            <a:r>
              <a:rPr sz="1200" dirty="0">
                <a:effectLst/>
              </a:rPr>
              <a:t> </a:t>
            </a:r>
            <a:endParaRPr lang="en-GB" sz="1200" dirty="0"/>
          </a:p>
        </p:txBody>
      </p:sp>
      <p:sp>
        <p:nvSpPr>
          <p:cNvPr id="12" name="TextBox 11">
            <a:extLst>
              <a:ext uri="{FF2B5EF4-FFF2-40B4-BE49-F238E27FC236}">
                <a16:creationId xmlns:a16="http://schemas.microsoft.com/office/drawing/2014/main" id="{11FB4944-A674-43F7-9AF8-B655A2C81EB9}"/>
              </a:ext>
            </a:extLst>
          </p:cNvPr>
          <p:cNvSpPr txBox="1"/>
          <p:nvPr/>
        </p:nvSpPr>
        <p:spPr>
          <a:xfrm>
            <a:off x="520803" y="3528666"/>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Category B · AI Hub Core</a:t>
            </a:r>
            <a:r>
              <a:rPr dirty="0">
                <a:effectLst/>
              </a:rPr>
              <a:t> </a:t>
            </a:r>
            <a:endParaRPr lang="en-GB" dirty="0"/>
          </a:p>
        </p:txBody>
      </p:sp>
      <p:sp>
        <p:nvSpPr>
          <p:cNvPr id="13" name="TextBox 12">
            <a:extLst>
              <a:ext uri="{FF2B5EF4-FFF2-40B4-BE49-F238E27FC236}">
                <a16:creationId xmlns:a16="http://schemas.microsoft.com/office/drawing/2014/main" id="{8ADC38DD-4C92-44F0-A521-BAFDEA9F00FC}"/>
              </a:ext>
            </a:extLst>
          </p:cNvPr>
          <p:cNvSpPr txBox="1"/>
          <p:nvPr/>
        </p:nvSpPr>
        <p:spPr>
          <a:xfrm>
            <a:off x="520803" y="3954362"/>
            <a:ext cx="4391025" cy="426541"/>
          </a:xfrm>
          <a:prstGeom prst="rect">
            <a:avLst/>
          </a:prstGeom>
          <a:noFill/>
        </p:spPr>
        <p:txBody>
          <a:bodyPr wrap="square" rtlCol="0">
            <a:noAutofit/>
          </a:bodyPr>
          <a:lstStyle/>
          <a:p>
            <a:pPr marL="0" algn="l">
              <a:spcBef>
                <a:spcPts val="750"/>
              </a:spcBef>
              <a:buNone/>
            </a:pPr>
            <a:r>
              <a:rPr sz="1200" b="0" dirty="0">
                <a:solidFill>
                  <a:srgbClr val="FFFFFF"/>
                </a:solidFill>
                <a:effectLst/>
                <a:latin typeface="Avenir Next LT Pro" panose="020B0504020202020204" pitchFamily="34" charset="0"/>
              </a:rPr>
              <a:t>Per hub, shared by applications; scales with workload volume and represents ~60–75% of AI-specific costs.</a:t>
            </a:r>
            <a:r>
              <a:rPr sz="1200" dirty="0">
                <a:effectLst/>
              </a:rPr>
              <a:t> </a:t>
            </a:r>
            <a:endParaRPr lang="en-GB" sz="1200" dirty="0"/>
          </a:p>
        </p:txBody>
      </p:sp>
      <p:sp>
        <p:nvSpPr>
          <p:cNvPr id="14" name="TextBox 13">
            <a:extLst>
              <a:ext uri="{FF2B5EF4-FFF2-40B4-BE49-F238E27FC236}">
                <a16:creationId xmlns:a16="http://schemas.microsoft.com/office/drawing/2014/main" id="{2A8C4FB6-E999-487F-ABF4-D8C05B25A485}"/>
              </a:ext>
            </a:extLst>
          </p:cNvPr>
          <p:cNvSpPr txBox="1"/>
          <p:nvPr/>
        </p:nvSpPr>
        <p:spPr>
          <a:xfrm>
            <a:off x="520803" y="4653534"/>
            <a:ext cx="4391025" cy="274290"/>
          </a:xfrm>
          <a:prstGeom prst="rect">
            <a:avLst/>
          </a:prstGeom>
          <a:noFill/>
        </p:spPr>
        <p:txBody>
          <a:bodyPr wrap="square" rtlCol="0">
            <a:normAutofit fontScale="77500" lnSpcReduction="20000"/>
          </a:bodyPr>
          <a:lstStyle/>
          <a:p>
            <a:pPr marL="0" algn="l">
              <a:spcBef>
                <a:spcPts val="1200"/>
              </a:spcBef>
              <a:buNone/>
            </a:pPr>
            <a:r>
              <a:rPr sz="1800" b="1" dirty="0">
                <a:solidFill>
                  <a:srgbClr val="FFFFFF"/>
                </a:solidFill>
                <a:effectLst/>
                <a:latin typeface="Avenir Next LT Pro" panose="020B0504020202020204" pitchFamily="34" charset="0"/>
              </a:rPr>
              <a:t>Scaling &amp; Economies of Scale</a:t>
            </a:r>
            <a:r>
              <a:rPr dirty="0">
                <a:effectLst/>
              </a:rPr>
              <a:t> </a:t>
            </a:r>
            <a:endParaRPr lang="en-GB" dirty="0"/>
          </a:p>
        </p:txBody>
      </p:sp>
      <p:sp>
        <p:nvSpPr>
          <p:cNvPr id="15" name="TextBox 14">
            <a:extLst>
              <a:ext uri="{FF2B5EF4-FFF2-40B4-BE49-F238E27FC236}">
                <a16:creationId xmlns:a16="http://schemas.microsoft.com/office/drawing/2014/main" id="{EE50EAB7-B255-4E5B-94E1-032FD1506D77}"/>
              </a:ext>
            </a:extLst>
          </p:cNvPr>
          <p:cNvSpPr txBox="1"/>
          <p:nvPr/>
        </p:nvSpPr>
        <p:spPr>
          <a:xfrm>
            <a:off x="520803" y="5034508"/>
            <a:ext cx="4391025" cy="639812"/>
          </a:xfrm>
          <a:prstGeom prst="rect">
            <a:avLst/>
          </a:prstGeom>
          <a:noFill/>
        </p:spPr>
        <p:txBody>
          <a:bodyPr wrap="square" rtlCol="0">
            <a:noAutofit/>
          </a:bodyPr>
          <a:lstStyle/>
          <a:p>
            <a:pPr marL="0" algn="l">
              <a:spcBef>
                <a:spcPts val="750"/>
              </a:spcBef>
              <a:buNone/>
            </a:pPr>
            <a:r>
              <a:rPr sz="1200" b="0" dirty="0">
                <a:solidFill>
                  <a:srgbClr val="FFFFFF"/>
                </a:solidFill>
                <a:effectLst/>
                <a:latin typeface="Avenir Next LT Pro" panose="020B0504020202020204" pitchFamily="34" charset="0"/>
              </a:rPr>
              <a:t>Hub core monthly: 10 apps ≈ $7k; 50 ≈ $18.3k; 100 ≈ $33.8k. Per‑app cost drops: $700 → $366 → $338, demonstrating shared‑infra amortization.</a:t>
            </a:r>
            <a:r>
              <a:rPr sz="1200" dirty="0">
                <a:effectLst/>
              </a:rPr>
              <a:t> </a:t>
            </a:r>
            <a:endParaRPr lang="en-GB" sz="1200" dirty="0"/>
          </a:p>
        </p:txBody>
      </p:sp>
    </p:spTree>
    <p:extLst>
      <p:ext uri="{BB962C8B-B14F-4D97-AF65-F5344CB8AC3E}">
        <p14:creationId xmlns:p14="http://schemas.microsoft.com/office/powerpoint/2010/main" val="1631379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BF29-B682-8141-B6FA-B0C650B2B9C3}"/>
              </a:ext>
            </a:extLst>
          </p:cNvPr>
          <p:cNvSpPr>
            <a:spLocks noGrp="1"/>
          </p:cNvSpPr>
          <p:nvPr>
            <p:ph type="title"/>
          </p:nvPr>
        </p:nvSpPr>
        <p:spPr/>
        <p:txBody>
          <a:bodyPr/>
          <a:lstStyle/>
          <a:p>
            <a:r>
              <a:rPr lang="en-GB" sz="4100" dirty="0"/>
              <a:t>Capacity Estimates</a:t>
            </a:r>
            <a:endParaRPr lang="en-US" sz="4100" dirty="0"/>
          </a:p>
          <a:p>
            <a:endParaRPr lang="en-GB" dirty="0">
              <a:solidFill>
                <a:schemeClr val="bg1"/>
              </a:solidFill>
            </a:endParaRPr>
          </a:p>
        </p:txBody>
      </p:sp>
      <p:sp>
        <p:nvSpPr>
          <p:cNvPr id="3" name="Content Placeholder 2">
            <a:extLst>
              <a:ext uri="{FF2B5EF4-FFF2-40B4-BE49-F238E27FC236}">
                <a16:creationId xmlns:a16="http://schemas.microsoft.com/office/drawing/2014/main" id="{5906F4CB-C4CD-E4EC-D21D-CA6BC4CFBDB2}"/>
              </a:ext>
            </a:extLst>
          </p:cNvPr>
          <p:cNvSpPr>
            <a:spLocks noGrp="1"/>
          </p:cNvSpPr>
          <p:nvPr>
            <p:ph idx="1"/>
          </p:nvPr>
        </p:nvSpPr>
        <p:spPr>
          <a:xfrm>
            <a:off x="529590" y="1253331"/>
            <a:ext cx="10515600" cy="4351338"/>
          </a:xfrm>
        </p:spPr>
        <p:txBody>
          <a:bodyPr vert="horz" lIns="91440" tIns="45720" rIns="91440" bIns="45720" rtlCol="0" anchor="t">
            <a:normAutofit/>
          </a:bodyPr>
          <a:lstStyle/>
          <a:p>
            <a:r>
              <a:rPr lang="en-GB" dirty="0">
                <a:ea typeface="+mn-lt"/>
                <a:cs typeface="+mn-lt"/>
              </a:rPr>
              <a:t>Based on estimate patterns: 1k active users = 15M tokens/day (4% of 50 PTU capacity ~342M tokens/day)</a:t>
            </a:r>
            <a:endParaRPr lang="en-GB" dirty="0"/>
          </a:p>
          <a:p>
            <a:endParaRPr lang="en-GB" dirty="0"/>
          </a:p>
        </p:txBody>
      </p:sp>
      <p:sp>
        <p:nvSpPr>
          <p:cNvPr id="4" name="Date Placeholder 3">
            <a:extLst>
              <a:ext uri="{FF2B5EF4-FFF2-40B4-BE49-F238E27FC236}">
                <a16:creationId xmlns:a16="http://schemas.microsoft.com/office/drawing/2014/main" id="{8A58B8E1-01E5-A04F-5742-5BDFD9C7CC2B}"/>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F172230A-28D0-EB25-DF2D-190D1E2F9B8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E754A551-B757-5C67-3F40-2050D677982D}"/>
              </a:ext>
            </a:extLst>
          </p:cNvPr>
          <p:cNvSpPr>
            <a:spLocks noGrp="1"/>
          </p:cNvSpPr>
          <p:nvPr>
            <p:ph type="sldNum" sz="quarter" idx="12"/>
          </p:nvPr>
        </p:nvSpPr>
        <p:spPr/>
        <p:txBody>
          <a:bodyPr/>
          <a:lstStyle/>
          <a:p>
            <a:fld id="{84C450F2-3BB4-4AE4-8A35-A9D7AEA4C850}" type="slidenum">
              <a:rPr lang="en-US" smtClean="0"/>
              <a:t>25</a:t>
            </a:fld>
            <a:endParaRPr lang="en-US" dirty="0"/>
          </a:p>
        </p:txBody>
      </p:sp>
      <p:pic>
        <p:nvPicPr>
          <p:cNvPr id="9" name="Picture 8" descr="A table with numbers and text&#10;&#10;AI-generated content may be incorrect.">
            <a:extLst>
              <a:ext uri="{FF2B5EF4-FFF2-40B4-BE49-F238E27FC236}">
                <a16:creationId xmlns:a16="http://schemas.microsoft.com/office/drawing/2014/main" id="{2C3A3ACD-9165-548B-2EEC-6D6B2F067C2E}"/>
              </a:ext>
            </a:extLst>
          </p:cNvPr>
          <p:cNvPicPr>
            <a:picLocks noChangeAspect="1"/>
          </p:cNvPicPr>
          <p:nvPr/>
        </p:nvPicPr>
        <p:blipFill>
          <a:blip r:embed="rId3"/>
          <a:stretch>
            <a:fillRect/>
          </a:stretch>
        </p:blipFill>
        <p:spPr>
          <a:xfrm>
            <a:off x="2073592" y="2296160"/>
            <a:ext cx="7427595" cy="4196715"/>
          </a:xfrm>
          <a:prstGeom prst="rect">
            <a:avLst/>
          </a:prstGeom>
        </p:spPr>
      </p:pic>
    </p:spTree>
    <p:extLst>
      <p:ext uri="{BB962C8B-B14F-4D97-AF65-F5344CB8AC3E}">
        <p14:creationId xmlns:p14="http://schemas.microsoft.com/office/powerpoint/2010/main" val="3700776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DF8106B-61E6-2AD5-4E5A-35ECAC10D8F5}"/>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BC325923-9383-E8B5-E9D5-73A19FA706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2B3326-E956-E66D-4BF0-0B54EDECA982}"/>
              </a:ext>
            </a:extLst>
          </p:cNvPr>
          <p:cNvSpPr>
            <a:spLocks noGrp="1"/>
          </p:cNvSpPr>
          <p:nvPr>
            <p:ph type="sldNum" sz="quarter" idx="12"/>
          </p:nvPr>
        </p:nvSpPr>
        <p:spPr/>
        <p:txBody>
          <a:bodyPr/>
          <a:lstStyle/>
          <a:p>
            <a:fld id="{84C450F2-3BB4-4AE4-8A35-A9D7AEA4C850}" type="slidenum">
              <a:rPr lang="en-US" smtClean="0"/>
              <a:t>26</a:t>
            </a:fld>
            <a:endParaRPr lang="en-US" dirty="0"/>
          </a:p>
        </p:txBody>
      </p:sp>
      <p:pic>
        <p:nvPicPr>
          <p:cNvPr id="8" name="Graphic 7" descr="A detailed infographic illustrating the PTU vs Pay-As-You-Go decision framework. The infographic should visually represent the formula for break-even utilization, show a comparison between PTU and PAYG costs, highlight the break-even percentage, and include a visual cue for the annual PTU reservation discount. The design should be clean and professional, with clear icons for PTU, PAYG, and discount, and no visible or implied text, letters, or words anywhere in the image">
            <a:extLst>
              <a:ext uri="{FF2B5EF4-FFF2-40B4-BE49-F238E27FC236}">
                <a16:creationId xmlns:a16="http://schemas.microsoft.com/office/drawing/2014/main" id="{458C0650-5885-43A2-959E-082097C077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6858000" cy="6858000"/>
          </a:xfrm>
          <a:prstGeom prst="rect">
            <a:avLst/>
          </a:prstGeom>
        </p:spPr>
      </p:pic>
      <p:sp>
        <p:nvSpPr>
          <p:cNvPr id="9" name="TextBox 8">
            <a:extLst>
              <a:ext uri="{FF2B5EF4-FFF2-40B4-BE49-F238E27FC236}">
                <a16:creationId xmlns:a16="http://schemas.microsoft.com/office/drawing/2014/main" id="{3D68011B-E8C8-4C44-8093-032D7667EA22}"/>
              </a:ext>
            </a:extLst>
          </p:cNvPr>
          <p:cNvSpPr txBox="1"/>
          <p:nvPr/>
        </p:nvSpPr>
        <p:spPr>
          <a:xfrm>
            <a:off x="7122242" y="689544"/>
            <a:ext cx="4391025" cy="1257300"/>
          </a:xfrm>
          <a:prstGeom prst="rect">
            <a:avLst/>
          </a:prstGeom>
          <a:noFill/>
        </p:spPr>
        <p:txBody>
          <a:bodyPr wrap="square" rtlCol="0">
            <a:normAutofit lnSpcReduction="10000"/>
          </a:bodyPr>
          <a:lstStyle/>
          <a:p>
            <a:pPr>
              <a:spcBef>
                <a:spcPct val="0"/>
              </a:spcBef>
              <a:buNone/>
            </a:pPr>
            <a:r>
              <a:rPr sz="4100" dirty="0">
                <a:solidFill>
                  <a:srgbClr val="F7CA66"/>
                </a:solidFill>
                <a:latin typeface="Lufga" panose="00000500000000000000" pitchFamily="50" charset="0"/>
                <a:ea typeface="+mj-ea"/>
                <a:cs typeface="+mj-cs"/>
              </a:rPr>
              <a:t>PTU VS PAYG FRAMEWORK </a:t>
            </a:r>
            <a:endParaRPr lang="en-GB" sz="41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39EB7BD4-25D2-4203-90AD-523C0891DB2B}"/>
              </a:ext>
            </a:extLst>
          </p:cNvPr>
          <p:cNvSpPr txBox="1"/>
          <p:nvPr/>
        </p:nvSpPr>
        <p:spPr>
          <a:xfrm>
            <a:off x="7200900" y="1912564"/>
            <a:ext cx="4391025" cy="274290"/>
          </a:xfrm>
          <a:prstGeom prst="rect">
            <a:avLst/>
          </a:prstGeom>
          <a:noFill/>
        </p:spPr>
        <p:txBody>
          <a:bodyPr wrap="square" rtlCol="0">
            <a:noAutofit/>
          </a:bodyPr>
          <a:lstStyle/>
          <a:p>
            <a:pPr marL="0" algn="l">
              <a:buNone/>
            </a:pPr>
            <a:r>
              <a:rPr sz="1600" b="1" dirty="0">
                <a:solidFill>
                  <a:srgbClr val="FFFFFF"/>
                </a:solidFill>
                <a:effectLst/>
                <a:latin typeface="Avenir Next LT Pro Bold" panose="020B0804020202020204" pitchFamily="34" charset="0"/>
              </a:rPr>
              <a:t>Formula</a:t>
            </a:r>
            <a:r>
              <a:rPr sz="1600" dirty="0">
                <a:effectLst/>
              </a:rPr>
              <a:t> </a:t>
            </a:r>
            <a:endParaRPr lang="en-GB" sz="1600" dirty="0"/>
          </a:p>
        </p:txBody>
      </p:sp>
      <p:sp>
        <p:nvSpPr>
          <p:cNvPr id="11" name="TextBox 10">
            <a:extLst>
              <a:ext uri="{FF2B5EF4-FFF2-40B4-BE49-F238E27FC236}">
                <a16:creationId xmlns:a16="http://schemas.microsoft.com/office/drawing/2014/main" id="{F76507C2-59FE-402F-82DA-CE110F6BE017}"/>
              </a:ext>
            </a:extLst>
          </p:cNvPr>
          <p:cNvSpPr txBox="1"/>
          <p:nvPr/>
        </p:nvSpPr>
        <p:spPr>
          <a:xfrm>
            <a:off x="7200900" y="2346425"/>
            <a:ext cx="4391025" cy="213270"/>
          </a:xfrm>
          <a:prstGeom prst="rect">
            <a:avLst/>
          </a:prstGeom>
          <a:noFill/>
        </p:spPr>
        <p:txBody>
          <a:bodyPr wrap="square" rtlCol="0">
            <a:noAutofit/>
          </a:bodyPr>
          <a:lstStyle/>
          <a:p>
            <a:pPr marL="0" marR="0" algn="l">
              <a:spcBef>
                <a:spcPts val="750"/>
              </a:spcBef>
              <a:buNone/>
            </a:pPr>
            <a:r>
              <a:rPr sz="1400" dirty="0">
                <a:solidFill>
                  <a:srgbClr val="FFFFFF"/>
                </a:solidFill>
                <a:effectLst/>
                <a:latin typeface="Avenir Next LT Pro Regular"/>
              </a:rPr>
              <a:t>Monthly PTU ÷ PAYG at 100% PTU = Break-even %</a:t>
            </a:r>
            <a:r>
              <a:rPr sz="1400" dirty="0">
                <a:effectLst/>
              </a:rPr>
              <a:t> </a:t>
            </a:r>
            <a:endParaRPr lang="en-GB" sz="1400" dirty="0"/>
          </a:p>
        </p:txBody>
      </p:sp>
      <p:sp>
        <p:nvSpPr>
          <p:cNvPr id="12" name="TextBox 11">
            <a:extLst>
              <a:ext uri="{FF2B5EF4-FFF2-40B4-BE49-F238E27FC236}">
                <a16:creationId xmlns:a16="http://schemas.microsoft.com/office/drawing/2014/main" id="{7E88FBAE-7D39-42A4-AFBD-4148731DD49A}"/>
              </a:ext>
            </a:extLst>
          </p:cNvPr>
          <p:cNvSpPr txBox="1"/>
          <p:nvPr/>
        </p:nvSpPr>
        <p:spPr>
          <a:xfrm>
            <a:off x="7200900" y="2767631"/>
            <a:ext cx="4391025" cy="274290"/>
          </a:xfrm>
          <a:prstGeom prst="rect">
            <a:avLst/>
          </a:prstGeom>
          <a:noFill/>
        </p:spPr>
        <p:txBody>
          <a:bodyPr wrap="square" rtlCol="0">
            <a:normAutofit fontScale="77500" lnSpcReduction="20000"/>
          </a:bodyPr>
          <a:lstStyle/>
          <a:p>
            <a:pPr marL="0" marR="0" algn="l">
              <a:spcBef>
                <a:spcPts val="750"/>
              </a:spcBef>
              <a:buNone/>
            </a:pPr>
            <a:r>
              <a:rPr sz="1800" b="1" dirty="0">
                <a:solidFill>
                  <a:srgbClr val="FFFFFF"/>
                </a:solidFill>
                <a:effectLst/>
                <a:latin typeface="Avenir Next LT Pro Bold" panose="020B0804020202020204" pitchFamily="34" charset="0"/>
              </a:rPr>
              <a:t>Example</a:t>
            </a:r>
            <a:r>
              <a:rPr dirty="0">
                <a:effectLst/>
              </a:rPr>
              <a:t> </a:t>
            </a:r>
            <a:endParaRPr lang="en-GB" dirty="0"/>
          </a:p>
        </p:txBody>
      </p:sp>
      <p:sp>
        <p:nvSpPr>
          <p:cNvPr id="13" name="TextBox 12">
            <a:extLst>
              <a:ext uri="{FF2B5EF4-FFF2-40B4-BE49-F238E27FC236}">
                <a16:creationId xmlns:a16="http://schemas.microsoft.com/office/drawing/2014/main" id="{6FB3E741-23F1-484D-B4B4-AE25A80400F6}"/>
              </a:ext>
            </a:extLst>
          </p:cNvPr>
          <p:cNvSpPr txBox="1"/>
          <p:nvPr/>
        </p:nvSpPr>
        <p:spPr>
          <a:xfrm>
            <a:off x="7200900" y="3169815"/>
            <a:ext cx="4789170" cy="287661"/>
          </a:xfrm>
          <a:prstGeom prst="rect">
            <a:avLst/>
          </a:prstGeom>
          <a:noFill/>
        </p:spPr>
        <p:txBody>
          <a:bodyPr wrap="square" rtlCol="0">
            <a:noAutofit/>
          </a:bodyPr>
          <a:lstStyle/>
          <a:p>
            <a:pPr marL="0" marR="0" algn="l">
              <a:spcBef>
                <a:spcPts val="750"/>
              </a:spcBef>
              <a:buNone/>
            </a:pPr>
            <a:r>
              <a:rPr sz="1600" dirty="0">
                <a:solidFill>
                  <a:srgbClr val="FFFFFF"/>
                </a:solidFill>
                <a:effectLst/>
                <a:latin typeface="Avenir Next LT Pro Regular"/>
              </a:rPr>
              <a:t>50 PTUs = $3,600/</a:t>
            </a:r>
            <a:r>
              <a:rPr sz="1600" dirty="0" err="1">
                <a:solidFill>
                  <a:srgbClr val="FFFFFF"/>
                </a:solidFill>
                <a:effectLst/>
                <a:latin typeface="Avenir Next LT Pro Regular"/>
              </a:rPr>
              <a:t>mo</a:t>
            </a:r>
            <a:r>
              <a:rPr sz="1600" dirty="0">
                <a:solidFill>
                  <a:srgbClr val="FFFFFF"/>
                </a:solidFill>
                <a:effectLst/>
                <a:latin typeface="Avenir Next LT Pro Regular"/>
              </a:rPr>
              <a:t>; capacity ≈ 1.5B tokens/</a:t>
            </a:r>
            <a:r>
              <a:rPr sz="1600" dirty="0" err="1">
                <a:solidFill>
                  <a:srgbClr val="FFFFFF"/>
                </a:solidFill>
                <a:effectLst/>
                <a:latin typeface="Avenir Next LT Pro Regular"/>
              </a:rPr>
              <a:t>mo</a:t>
            </a:r>
            <a:r>
              <a:rPr sz="1600" dirty="0">
                <a:effectLst/>
              </a:rPr>
              <a:t> </a:t>
            </a:r>
            <a:endParaRPr lang="en-GB" sz="1600" dirty="0"/>
          </a:p>
        </p:txBody>
      </p:sp>
      <p:sp>
        <p:nvSpPr>
          <p:cNvPr id="14" name="TextBox 13">
            <a:extLst>
              <a:ext uri="{FF2B5EF4-FFF2-40B4-BE49-F238E27FC236}">
                <a16:creationId xmlns:a16="http://schemas.microsoft.com/office/drawing/2014/main" id="{0880B785-27E6-4CF8-AA0C-67D80ABC23FF}"/>
              </a:ext>
            </a:extLst>
          </p:cNvPr>
          <p:cNvSpPr txBox="1"/>
          <p:nvPr/>
        </p:nvSpPr>
        <p:spPr>
          <a:xfrm>
            <a:off x="7200900" y="3567211"/>
            <a:ext cx="4391025" cy="213270"/>
          </a:xfrm>
          <a:prstGeom prst="rect">
            <a:avLst/>
          </a:prstGeom>
          <a:noFill/>
        </p:spPr>
        <p:txBody>
          <a:bodyPr wrap="square" rtlCol="0">
            <a:noAutofit/>
          </a:bodyPr>
          <a:lstStyle/>
          <a:p>
            <a:pPr marL="0" marR="0" algn="l">
              <a:spcBef>
                <a:spcPts val="750"/>
              </a:spcBef>
              <a:buNone/>
            </a:pPr>
            <a:r>
              <a:rPr sz="1600" dirty="0">
                <a:solidFill>
                  <a:srgbClr val="FFFFFF"/>
                </a:solidFill>
                <a:effectLst/>
                <a:latin typeface="Avenir Next LT Pro Regular"/>
              </a:rPr>
              <a:t>PAYG for 1.5B tokens ≈ $7,500</a:t>
            </a:r>
            <a:r>
              <a:rPr sz="1600" dirty="0">
                <a:effectLst/>
              </a:rPr>
              <a:t> </a:t>
            </a:r>
            <a:endParaRPr lang="en-GB" sz="1600" dirty="0"/>
          </a:p>
        </p:txBody>
      </p:sp>
      <p:sp>
        <p:nvSpPr>
          <p:cNvPr id="15" name="TextBox 14">
            <a:extLst>
              <a:ext uri="{FF2B5EF4-FFF2-40B4-BE49-F238E27FC236}">
                <a16:creationId xmlns:a16="http://schemas.microsoft.com/office/drawing/2014/main" id="{42434ED7-6AA2-4350-9401-209E9AC3298A}"/>
              </a:ext>
            </a:extLst>
          </p:cNvPr>
          <p:cNvSpPr txBox="1"/>
          <p:nvPr/>
        </p:nvSpPr>
        <p:spPr>
          <a:xfrm>
            <a:off x="7200900" y="3941117"/>
            <a:ext cx="4391025" cy="274290"/>
          </a:xfrm>
          <a:prstGeom prst="rect">
            <a:avLst/>
          </a:prstGeom>
          <a:noFill/>
        </p:spPr>
        <p:txBody>
          <a:bodyPr wrap="square" rtlCol="0">
            <a:normAutofit fontScale="77500" lnSpcReduction="20000"/>
          </a:bodyPr>
          <a:lstStyle/>
          <a:p>
            <a:pPr marL="0" marR="0" algn="l">
              <a:spcBef>
                <a:spcPts val="750"/>
              </a:spcBef>
              <a:buNone/>
            </a:pPr>
            <a:r>
              <a:rPr sz="1800" b="1" dirty="0">
                <a:solidFill>
                  <a:srgbClr val="FFFFFF"/>
                </a:solidFill>
                <a:effectLst/>
                <a:latin typeface="Avenir Next LT Pro Bold" panose="020B0804020202020204" pitchFamily="34" charset="0"/>
              </a:rPr>
              <a:t>Break-even</a:t>
            </a:r>
            <a:r>
              <a:rPr dirty="0">
                <a:effectLst/>
              </a:rPr>
              <a:t> </a:t>
            </a:r>
            <a:endParaRPr lang="en-GB" dirty="0"/>
          </a:p>
        </p:txBody>
      </p:sp>
      <p:sp>
        <p:nvSpPr>
          <p:cNvPr id="16" name="TextBox 15">
            <a:extLst>
              <a:ext uri="{FF2B5EF4-FFF2-40B4-BE49-F238E27FC236}">
                <a16:creationId xmlns:a16="http://schemas.microsoft.com/office/drawing/2014/main" id="{2E3BA3AC-027E-49C5-B902-5CB9ECFE3ACC}"/>
              </a:ext>
            </a:extLst>
          </p:cNvPr>
          <p:cNvSpPr txBox="1"/>
          <p:nvPr/>
        </p:nvSpPr>
        <p:spPr>
          <a:xfrm>
            <a:off x="7200900" y="4215407"/>
            <a:ext cx="4391025" cy="213270"/>
          </a:xfrm>
          <a:prstGeom prst="rect">
            <a:avLst/>
          </a:prstGeom>
          <a:noFill/>
        </p:spPr>
        <p:txBody>
          <a:bodyPr wrap="square" rtlCol="0">
            <a:noAutofit/>
          </a:bodyPr>
          <a:lstStyle/>
          <a:p>
            <a:pPr marL="0" marR="0" algn="l">
              <a:spcBef>
                <a:spcPts val="750"/>
              </a:spcBef>
              <a:buNone/>
            </a:pPr>
            <a:r>
              <a:rPr sz="1600" dirty="0">
                <a:solidFill>
                  <a:srgbClr val="FFFFFF"/>
                </a:solidFill>
                <a:effectLst/>
                <a:latin typeface="Avenir Next LT Pro Regular"/>
              </a:rPr>
              <a:t>$3,600 ÷ $7,500 = 48% utilization</a:t>
            </a:r>
            <a:r>
              <a:rPr sz="1600" dirty="0">
                <a:effectLst/>
              </a:rPr>
              <a:t> </a:t>
            </a:r>
            <a:endParaRPr lang="en-GB" sz="1600" dirty="0"/>
          </a:p>
        </p:txBody>
      </p:sp>
      <p:sp>
        <p:nvSpPr>
          <p:cNvPr id="17" name="TextBox 16">
            <a:extLst>
              <a:ext uri="{FF2B5EF4-FFF2-40B4-BE49-F238E27FC236}">
                <a16:creationId xmlns:a16="http://schemas.microsoft.com/office/drawing/2014/main" id="{98B74848-E0C4-40F8-90F2-9F52E5611F39}"/>
              </a:ext>
            </a:extLst>
          </p:cNvPr>
          <p:cNvSpPr txBox="1"/>
          <p:nvPr/>
        </p:nvSpPr>
        <p:spPr>
          <a:xfrm>
            <a:off x="7200900" y="4523928"/>
            <a:ext cx="4391025" cy="213270"/>
          </a:xfrm>
          <a:prstGeom prst="rect">
            <a:avLst/>
          </a:prstGeom>
          <a:noFill/>
        </p:spPr>
        <p:txBody>
          <a:bodyPr wrap="square" rtlCol="0">
            <a:noAutofit/>
          </a:bodyPr>
          <a:lstStyle/>
          <a:p>
            <a:pPr marL="0" marR="0" algn="l">
              <a:spcBef>
                <a:spcPts val="750"/>
              </a:spcBef>
              <a:buNone/>
            </a:pPr>
            <a:r>
              <a:rPr sz="1600" dirty="0">
                <a:solidFill>
                  <a:srgbClr val="FFFFFF"/>
                </a:solidFill>
                <a:effectLst/>
                <a:latin typeface="Avenir Next LT Pro Regular"/>
              </a:rPr>
              <a:t>Use &gt;48% (&gt;720M tokens/</a:t>
            </a:r>
            <a:r>
              <a:rPr sz="1600" dirty="0" err="1">
                <a:solidFill>
                  <a:srgbClr val="FFFFFF"/>
                </a:solidFill>
                <a:effectLst/>
                <a:latin typeface="Avenir Next LT Pro Regular"/>
              </a:rPr>
              <a:t>mo</a:t>
            </a:r>
            <a:r>
              <a:rPr sz="1600" dirty="0">
                <a:solidFill>
                  <a:srgbClr val="FFFFFF"/>
                </a:solidFill>
                <a:effectLst/>
                <a:latin typeface="Avenir Next LT Pro Regular"/>
              </a:rPr>
              <a:t>) → PTU cheaper</a:t>
            </a:r>
            <a:r>
              <a:rPr sz="1600" dirty="0">
                <a:effectLst/>
              </a:rPr>
              <a:t> </a:t>
            </a:r>
            <a:endParaRPr lang="en-GB" sz="1600" dirty="0"/>
          </a:p>
        </p:txBody>
      </p:sp>
      <p:sp>
        <p:nvSpPr>
          <p:cNvPr id="18" name="TextBox 17">
            <a:extLst>
              <a:ext uri="{FF2B5EF4-FFF2-40B4-BE49-F238E27FC236}">
                <a16:creationId xmlns:a16="http://schemas.microsoft.com/office/drawing/2014/main" id="{459ED8CA-A6B4-48F6-A81E-FAF318C28322}"/>
              </a:ext>
            </a:extLst>
          </p:cNvPr>
          <p:cNvSpPr txBox="1"/>
          <p:nvPr/>
        </p:nvSpPr>
        <p:spPr>
          <a:xfrm>
            <a:off x="7200899" y="5176526"/>
            <a:ext cx="4391025" cy="274290"/>
          </a:xfrm>
          <a:prstGeom prst="rect">
            <a:avLst/>
          </a:prstGeom>
          <a:noFill/>
        </p:spPr>
        <p:txBody>
          <a:bodyPr wrap="square" rtlCol="0">
            <a:normAutofit fontScale="77500" lnSpcReduction="20000"/>
          </a:bodyPr>
          <a:lstStyle/>
          <a:p>
            <a:pPr marL="0" marR="0" algn="l">
              <a:spcBef>
                <a:spcPts val="750"/>
              </a:spcBef>
              <a:buNone/>
            </a:pPr>
            <a:r>
              <a:rPr sz="1800" b="1" dirty="0">
                <a:solidFill>
                  <a:srgbClr val="FFFFFF"/>
                </a:solidFill>
                <a:effectLst/>
                <a:latin typeface="Avenir Next LT Pro Bold" panose="020B0804020202020204" pitchFamily="34" charset="0"/>
              </a:rPr>
              <a:t>Annual Discount</a:t>
            </a:r>
            <a:r>
              <a:rPr dirty="0">
                <a:effectLst/>
              </a:rPr>
              <a:t> </a:t>
            </a:r>
            <a:endParaRPr lang="en-GB" dirty="0"/>
          </a:p>
        </p:txBody>
      </p:sp>
      <p:sp>
        <p:nvSpPr>
          <p:cNvPr id="19" name="TextBox 18">
            <a:extLst>
              <a:ext uri="{FF2B5EF4-FFF2-40B4-BE49-F238E27FC236}">
                <a16:creationId xmlns:a16="http://schemas.microsoft.com/office/drawing/2014/main" id="{409F7C34-4924-4AE4-9B4B-1CCC10337233}"/>
              </a:ext>
            </a:extLst>
          </p:cNvPr>
          <p:cNvSpPr txBox="1"/>
          <p:nvPr/>
        </p:nvSpPr>
        <p:spPr>
          <a:xfrm>
            <a:off x="7200900" y="5491784"/>
            <a:ext cx="4391025" cy="213270"/>
          </a:xfrm>
          <a:prstGeom prst="rect">
            <a:avLst/>
          </a:prstGeom>
          <a:noFill/>
        </p:spPr>
        <p:txBody>
          <a:bodyPr wrap="square" rtlCol="0">
            <a:noAutofit/>
          </a:bodyPr>
          <a:lstStyle/>
          <a:p>
            <a:pPr marL="0" marR="0" algn="l">
              <a:spcBef>
                <a:spcPts val="750"/>
              </a:spcBef>
              <a:buNone/>
            </a:pPr>
            <a:r>
              <a:rPr sz="1600" dirty="0">
                <a:solidFill>
                  <a:srgbClr val="FFFFFF"/>
                </a:solidFill>
                <a:effectLst/>
                <a:latin typeface="Avenir Next LT Pro Regular"/>
              </a:rPr>
              <a:t>Monthly: $72/PTU; Annual: $47/PTU (35% off)</a:t>
            </a:r>
            <a:r>
              <a:rPr sz="1600" dirty="0">
                <a:effectLst/>
              </a:rPr>
              <a:t> </a:t>
            </a:r>
            <a:endParaRPr lang="en-GB" sz="1600" dirty="0"/>
          </a:p>
        </p:txBody>
      </p:sp>
    </p:spTree>
    <p:extLst>
      <p:ext uri="{BB962C8B-B14F-4D97-AF65-F5344CB8AC3E}">
        <p14:creationId xmlns:p14="http://schemas.microsoft.com/office/powerpoint/2010/main" val="3682351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0F072-646A-2C4C-5164-3B1AADC29A75}"/>
              </a:ext>
            </a:extLst>
          </p:cNvPr>
          <p:cNvSpPr>
            <a:spLocks noGrp="1"/>
          </p:cNvSpPr>
          <p:nvPr>
            <p:ph type="title"/>
          </p:nvPr>
        </p:nvSpPr>
        <p:spPr/>
        <p:txBody>
          <a:bodyPr/>
          <a:lstStyle/>
          <a:p>
            <a:r>
              <a:rPr lang="en-US" dirty="0"/>
              <a:t>Azure OpenAI PTU Calculator</a:t>
            </a:r>
          </a:p>
        </p:txBody>
      </p:sp>
      <p:sp>
        <p:nvSpPr>
          <p:cNvPr id="9" name="Content Placeholder 8">
            <a:extLst>
              <a:ext uri="{FF2B5EF4-FFF2-40B4-BE49-F238E27FC236}">
                <a16:creationId xmlns:a16="http://schemas.microsoft.com/office/drawing/2014/main" id="{00FDF6CF-8B77-7BA9-A6DB-75FDC2B9D1B0}"/>
              </a:ext>
            </a:extLst>
          </p:cNvPr>
          <p:cNvSpPr txBox="1">
            <a:spLocks noGrp="1"/>
          </p:cNvSpPr>
          <p:nvPr>
            <p:ph idx="1"/>
          </p:nvPr>
        </p:nvSpPr>
        <p:spPr>
          <a:xfrm>
            <a:off x="838200" y="1825625"/>
            <a:ext cx="10515600" cy="4351338"/>
          </a:xfrm>
          <a:prstGeom prst="rect">
            <a:avLst/>
          </a:prstGeom>
          <a:noFill/>
        </p:spPr>
        <p:txBody>
          <a:bodyPr wrap="square">
            <a:spAutoFit/>
          </a:bodyPr>
          <a:lstStyle/>
          <a:p>
            <a:r>
              <a:rPr lang="en-US" sz="2000" dirty="0">
                <a:solidFill>
                  <a:schemeClr val="bg1"/>
                </a:solidFill>
              </a:rPr>
              <a:t>https://www.ptucalc.com/</a:t>
            </a:r>
          </a:p>
        </p:txBody>
      </p:sp>
      <p:pic>
        <p:nvPicPr>
          <p:cNvPr id="5" name="Picture 4">
            <a:extLst>
              <a:ext uri="{FF2B5EF4-FFF2-40B4-BE49-F238E27FC236}">
                <a16:creationId xmlns:a16="http://schemas.microsoft.com/office/drawing/2014/main" id="{E15F2F9F-0D0A-C034-4A61-C72E61013434}"/>
              </a:ext>
            </a:extLst>
          </p:cNvPr>
          <p:cNvPicPr>
            <a:picLocks noChangeAspect="1"/>
          </p:cNvPicPr>
          <p:nvPr/>
        </p:nvPicPr>
        <p:blipFill>
          <a:blip r:embed="rId3"/>
          <a:stretch>
            <a:fillRect/>
          </a:stretch>
        </p:blipFill>
        <p:spPr>
          <a:xfrm>
            <a:off x="838200" y="2773180"/>
            <a:ext cx="10703690" cy="1627938"/>
          </a:xfrm>
          <a:prstGeom prst="rect">
            <a:avLst/>
          </a:prstGeom>
        </p:spPr>
      </p:pic>
    </p:spTree>
    <p:extLst>
      <p:ext uri="{BB962C8B-B14F-4D97-AF65-F5344CB8AC3E}">
        <p14:creationId xmlns:p14="http://schemas.microsoft.com/office/powerpoint/2010/main" val="3628689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7F035-BE08-F5D8-73D8-E61AD07CEDB4}"/>
              </a:ext>
            </a:extLst>
          </p:cNvPr>
          <p:cNvSpPr>
            <a:spLocks noGrp="1"/>
          </p:cNvSpPr>
          <p:nvPr>
            <p:ph type="title"/>
          </p:nvPr>
        </p:nvSpPr>
        <p:spPr>
          <a:xfrm>
            <a:off x="8046720" y="1220724"/>
            <a:ext cx="3401568" cy="1527048"/>
          </a:xfrm>
        </p:spPr>
        <p:txBody>
          <a:bodyPr anchor="b">
            <a:normAutofit fontScale="90000"/>
          </a:bodyPr>
          <a:lstStyle/>
          <a:p>
            <a:r>
              <a:rPr lang="en-GB" b="1" dirty="0"/>
              <a:t>Hybrid Model: PTU + PAYG</a:t>
            </a:r>
            <a:endParaRPr lang="en-US" dirty="0"/>
          </a:p>
          <a:p>
            <a:endParaRPr lang="en-GB" dirty="0"/>
          </a:p>
        </p:txBody>
      </p:sp>
      <p:pic>
        <p:nvPicPr>
          <p:cNvPr id="8" name="Picture 7" descr="Blurred micro image of a street traffic">
            <a:extLst>
              <a:ext uri="{FF2B5EF4-FFF2-40B4-BE49-F238E27FC236}">
                <a16:creationId xmlns:a16="http://schemas.microsoft.com/office/drawing/2014/main" id="{9E623CC3-7EAC-1426-85B7-B0A682A6A7FB}"/>
              </a:ext>
            </a:extLst>
          </p:cNvPr>
          <p:cNvPicPr>
            <a:picLocks noChangeAspect="1"/>
          </p:cNvPicPr>
          <p:nvPr/>
        </p:nvPicPr>
        <p:blipFill>
          <a:blip r:embed="rId3"/>
          <a:srcRect l="3626" r="15817"/>
          <a:stretch>
            <a:fillRect/>
          </a:stretch>
        </p:blipFill>
        <p:spPr>
          <a:xfrm>
            <a:off x="20" y="10"/>
            <a:ext cx="7734280" cy="639914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noFill/>
        </p:spPr>
      </p:pic>
      <p:sp>
        <p:nvSpPr>
          <p:cNvPr id="3" name="Content Placeholder 2">
            <a:extLst>
              <a:ext uri="{FF2B5EF4-FFF2-40B4-BE49-F238E27FC236}">
                <a16:creationId xmlns:a16="http://schemas.microsoft.com/office/drawing/2014/main" id="{82A87BE3-DCD3-4EDE-81FB-26BAD82D7029}"/>
              </a:ext>
            </a:extLst>
          </p:cNvPr>
          <p:cNvSpPr>
            <a:spLocks noGrp="1"/>
          </p:cNvSpPr>
          <p:nvPr>
            <p:ph sz="quarter" idx="14"/>
          </p:nvPr>
        </p:nvSpPr>
        <p:spPr>
          <a:xfrm>
            <a:off x="8046720" y="2357504"/>
            <a:ext cx="3401568" cy="4041648"/>
          </a:xfrm>
        </p:spPr>
        <p:txBody>
          <a:bodyPr vert="horz" lIns="91440" tIns="45720" rIns="91440" bIns="45720" rtlCol="0">
            <a:normAutofit/>
          </a:bodyPr>
          <a:lstStyle/>
          <a:p>
            <a:r>
              <a:rPr lang="en-GB" sz="2000" dirty="0"/>
              <a:t>PTU for baseline capacity (p50-p75 traffic)</a:t>
            </a:r>
          </a:p>
          <a:p>
            <a:r>
              <a:rPr lang="en-GB" sz="2000" dirty="0"/>
              <a:t>PAYG for burst traffic (p95-p99 spikes)</a:t>
            </a:r>
          </a:p>
          <a:p>
            <a:r>
              <a:rPr lang="en-GB" sz="2000" dirty="0"/>
              <a:t>APIM routes to PTU first, failover to PAYG</a:t>
            </a:r>
          </a:p>
          <a:p>
            <a:r>
              <a:rPr lang="en-GB" sz="2000" dirty="0"/>
              <a:t>Result: 50-60% cost savings vs pure PAYG</a:t>
            </a:r>
          </a:p>
          <a:p>
            <a:endParaRPr lang="en-GB" sz="2000" dirty="0"/>
          </a:p>
        </p:txBody>
      </p:sp>
      <p:sp>
        <p:nvSpPr>
          <p:cNvPr id="4" name="Date Placeholder 3">
            <a:extLst>
              <a:ext uri="{FF2B5EF4-FFF2-40B4-BE49-F238E27FC236}">
                <a16:creationId xmlns:a16="http://schemas.microsoft.com/office/drawing/2014/main" id="{E93895BB-2E3F-933A-30EF-654BE5E4A1F5}"/>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7471BF33-F4BF-7617-1311-61798FADF9F7}"/>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113A299B-AE0C-F1AF-F668-FFCD2559B86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28</a:t>
            </a:fld>
            <a:endParaRPr lang="en-US"/>
          </a:p>
        </p:txBody>
      </p:sp>
    </p:spTree>
    <p:extLst>
      <p:ext uri="{BB962C8B-B14F-4D97-AF65-F5344CB8AC3E}">
        <p14:creationId xmlns:p14="http://schemas.microsoft.com/office/powerpoint/2010/main" val="1082335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703F-338B-FB63-1340-8EDC82BDE452}"/>
              </a:ext>
            </a:extLst>
          </p:cNvPr>
          <p:cNvSpPr>
            <a:spLocks noGrp="1"/>
          </p:cNvSpPr>
          <p:nvPr>
            <p:ph type="title"/>
          </p:nvPr>
        </p:nvSpPr>
        <p:spPr>
          <a:xfrm>
            <a:off x="237744" y="845820"/>
            <a:ext cx="4187952" cy="1684020"/>
          </a:xfrm>
        </p:spPr>
        <p:txBody>
          <a:bodyPr anchor="t">
            <a:normAutofit/>
          </a:bodyPr>
          <a:lstStyle/>
          <a:p>
            <a:r>
              <a:rPr lang="en-GB" b="1" dirty="0"/>
              <a:t>Zero Trust Security Principles</a:t>
            </a:r>
            <a:endParaRPr lang="en-US" dirty="0"/>
          </a:p>
          <a:p>
            <a:endParaRPr lang="en-GB" dirty="0"/>
          </a:p>
        </p:txBody>
      </p:sp>
      <p:sp>
        <p:nvSpPr>
          <p:cNvPr id="5" name="Date Placeholder 4">
            <a:extLst>
              <a:ext uri="{FF2B5EF4-FFF2-40B4-BE49-F238E27FC236}">
                <a16:creationId xmlns:a16="http://schemas.microsoft.com/office/drawing/2014/main" id="{D3AE49D8-DD3B-276E-8548-0FA5986959E2}"/>
              </a:ext>
            </a:extLst>
          </p:cNvPr>
          <p:cNvSpPr>
            <a:spLocks noGrp="1"/>
          </p:cNvSpPr>
          <p:nvPr>
            <p:ph type="dt" sz="half" idx="10"/>
          </p:nvPr>
        </p:nvSpPr>
        <p:spPr>
          <a:xfrm>
            <a:off x="431172" y="6490524"/>
            <a:ext cx="2841959" cy="336141"/>
          </a:xfrm>
        </p:spPr>
        <p:txBody>
          <a:bodyPr anchor="ctr">
            <a:normAutofit/>
          </a:bodyPr>
          <a:lstStyle/>
          <a:p>
            <a:pPr>
              <a:spcAft>
                <a:spcPts val="600"/>
              </a:spcAft>
            </a:pPr>
            <a:fld id="{A0FCFF8D-E3E3-4D6C-85D1-1D24204FD961}" type="datetime1">
              <a:rPr lang="en-US" smtClean="0"/>
              <a:pPr>
                <a:spcAft>
                  <a:spcPts val="600"/>
                </a:spcAft>
              </a:pPr>
              <a:t>3/14/2026</a:t>
            </a:fld>
            <a:endParaRPr lang="en-US"/>
          </a:p>
        </p:txBody>
      </p:sp>
      <p:sp>
        <p:nvSpPr>
          <p:cNvPr id="6" name="Footer Placeholder 5">
            <a:extLst>
              <a:ext uri="{FF2B5EF4-FFF2-40B4-BE49-F238E27FC236}">
                <a16:creationId xmlns:a16="http://schemas.microsoft.com/office/drawing/2014/main" id="{BF29DF8F-E2C6-C1DD-621D-ACD01F26C443}"/>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4607CE32-CD3B-2205-0D50-334987AEE909}"/>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29</a:t>
            </a:fld>
            <a:endParaRPr lang="en-US"/>
          </a:p>
        </p:txBody>
      </p:sp>
      <p:graphicFrame>
        <p:nvGraphicFramePr>
          <p:cNvPr id="9" name="Content Placeholder 3">
            <a:extLst>
              <a:ext uri="{FF2B5EF4-FFF2-40B4-BE49-F238E27FC236}">
                <a16:creationId xmlns:a16="http://schemas.microsoft.com/office/drawing/2014/main" id="{DE22BBA3-DE13-E70C-75F7-8E77E2417681}"/>
              </a:ext>
            </a:extLst>
          </p:cNvPr>
          <p:cNvGraphicFramePr>
            <a:graphicFrameLocks noGrp="1"/>
          </p:cNvGraphicFramePr>
          <p:nvPr>
            <p:ph sz="quarter" idx="13"/>
          </p:nvPr>
        </p:nvGraphicFramePr>
        <p:xfrm>
          <a:off x="4425696" y="640080"/>
          <a:ext cx="7159752" cy="5724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2667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048E-2DB6-A0E6-5787-55B2993876A9}"/>
              </a:ext>
            </a:extLst>
          </p:cNvPr>
          <p:cNvSpPr>
            <a:spLocks noGrp="1"/>
          </p:cNvSpPr>
          <p:nvPr>
            <p:ph type="title"/>
          </p:nvPr>
        </p:nvSpPr>
        <p:spPr>
          <a:xfrm>
            <a:off x="431172" y="701735"/>
            <a:ext cx="11125032" cy="965101"/>
          </a:xfrm>
        </p:spPr>
        <p:txBody>
          <a:bodyPr anchor="b">
            <a:normAutofit/>
          </a:bodyPr>
          <a:lstStyle/>
          <a:p>
            <a:r>
              <a:rPr lang="en-GB" b="1" dirty="0"/>
              <a:t>Managed Identity Auth Flow</a:t>
            </a:r>
            <a:endParaRPr lang="en-US" dirty="0"/>
          </a:p>
          <a:p>
            <a:endParaRPr lang="en-GB" dirty="0"/>
          </a:p>
        </p:txBody>
      </p:sp>
      <p:sp>
        <p:nvSpPr>
          <p:cNvPr id="4" name="Date Placeholder 3">
            <a:extLst>
              <a:ext uri="{FF2B5EF4-FFF2-40B4-BE49-F238E27FC236}">
                <a16:creationId xmlns:a16="http://schemas.microsoft.com/office/drawing/2014/main" id="{0A1C9FBB-AD38-AEA1-FD46-9C7052AC54A4}"/>
              </a:ext>
            </a:extLst>
          </p:cNvPr>
          <p:cNvSpPr>
            <a:spLocks noGrp="1"/>
          </p:cNvSpPr>
          <p:nvPr>
            <p:ph type="dt" sz="half" idx="10"/>
          </p:nvPr>
        </p:nvSpPr>
        <p:spPr>
          <a:xfrm>
            <a:off x="431172" y="6490524"/>
            <a:ext cx="2841959" cy="336141"/>
          </a:xfrm>
        </p:spPr>
        <p:txBody>
          <a:bodyPr anchor="ctr">
            <a:normAutofit/>
          </a:bodyPr>
          <a:lstStyle/>
          <a:p>
            <a:pPr>
              <a:spcAft>
                <a:spcPts val="600"/>
              </a:spcAft>
            </a:pPr>
            <a:fld id="{1FD3FCD9-BE24-4676-9D2E-63D9ED82EDA2}"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A650344F-DB2C-582F-7605-E405EEB4F658}"/>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6B4A66D6-3747-2854-8608-CF92D63A4646}"/>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30</a:t>
            </a:fld>
            <a:endParaRPr lang="en-US"/>
          </a:p>
        </p:txBody>
      </p:sp>
      <p:graphicFrame>
        <p:nvGraphicFramePr>
          <p:cNvPr id="8" name="Content Placeholder 2">
            <a:extLst>
              <a:ext uri="{FF2B5EF4-FFF2-40B4-BE49-F238E27FC236}">
                <a16:creationId xmlns:a16="http://schemas.microsoft.com/office/drawing/2014/main" id="{E3CE6AC2-11D0-342C-E5BA-3291C9D1C88F}"/>
              </a:ext>
            </a:extLst>
          </p:cNvPr>
          <p:cNvGraphicFramePr>
            <a:graphicFrameLocks noGrp="1"/>
          </p:cNvGraphicFramePr>
          <p:nvPr>
            <p:ph idx="1"/>
          </p:nvPr>
        </p:nvGraphicFramePr>
        <p:xfrm>
          <a:off x="431172" y="1384847"/>
          <a:ext cx="11125032" cy="490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9529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79E6-C740-4DC3-3016-1072CE5E5149}"/>
              </a:ext>
            </a:extLst>
          </p:cNvPr>
          <p:cNvSpPr>
            <a:spLocks noGrp="1"/>
          </p:cNvSpPr>
          <p:nvPr>
            <p:ph type="title"/>
          </p:nvPr>
        </p:nvSpPr>
        <p:spPr>
          <a:xfrm>
            <a:off x="429768" y="550218"/>
            <a:ext cx="3827439" cy="1453896"/>
          </a:xfrm>
        </p:spPr>
        <p:txBody>
          <a:bodyPr anchor="t">
            <a:normAutofit/>
          </a:bodyPr>
          <a:lstStyle/>
          <a:p>
            <a:r>
              <a:rPr lang="en-GB" b="1"/>
              <a:t>APIM Security Policies</a:t>
            </a:r>
            <a:endParaRPr lang="en-US"/>
          </a:p>
          <a:p>
            <a:endParaRPr lang="en-GB" dirty="0"/>
          </a:p>
        </p:txBody>
      </p:sp>
      <p:sp>
        <p:nvSpPr>
          <p:cNvPr id="12" name="Picture Placeholder 2">
            <a:extLst>
              <a:ext uri="{FF2B5EF4-FFF2-40B4-BE49-F238E27FC236}">
                <a16:creationId xmlns:a16="http://schemas.microsoft.com/office/drawing/2014/main" id="{2099C472-4E76-04C2-6CC2-E2D3B285155E}"/>
              </a:ext>
            </a:extLst>
          </p:cNvPr>
          <p:cNvSpPr>
            <a:spLocks noGrp="1"/>
          </p:cNvSpPr>
          <p:nvPr>
            <p:ph type="pic" sz="quarter" idx="15"/>
          </p:nvPr>
        </p:nvSpPr>
        <p:spPr>
          <a:xfrm>
            <a:off x="0" y="2293494"/>
            <a:ext cx="4176819" cy="4564506"/>
          </a:xfrm>
        </p:spPr>
        <p:txBody>
          <a:bodyPr/>
          <a:lstStyle/>
          <a:p>
            <a:endParaRPr lang="en-GB"/>
          </a:p>
        </p:txBody>
      </p:sp>
      <p:sp>
        <p:nvSpPr>
          <p:cNvPr id="4" name="Date Placeholder 3">
            <a:extLst>
              <a:ext uri="{FF2B5EF4-FFF2-40B4-BE49-F238E27FC236}">
                <a16:creationId xmlns:a16="http://schemas.microsoft.com/office/drawing/2014/main" id="{B441BCB4-0E5F-F2BD-09B3-2662B0821C6D}"/>
              </a:ext>
            </a:extLst>
          </p:cNvPr>
          <p:cNvSpPr>
            <a:spLocks noGrp="1"/>
          </p:cNvSpPr>
          <p:nvPr>
            <p:ph type="dt" sz="half" idx="10"/>
          </p:nvPr>
        </p:nvSpPr>
        <p:spPr>
          <a:xfrm>
            <a:off x="5115073" y="6492240"/>
            <a:ext cx="2843784" cy="338328"/>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1011E665-A321-9E33-D6A8-89D857018DEE}"/>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DB1DD7E4-DDE0-8A51-F5BB-5D4473EEBD5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31</a:t>
            </a:fld>
            <a:endParaRPr lang="en-US"/>
          </a:p>
        </p:txBody>
      </p:sp>
      <p:graphicFrame>
        <p:nvGraphicFramePr>
          <p:cNvPr id="8" name="Content Placeholder 2">
            <a:extLst>
              <a:ext uri="{FF2B5EF4-FFF2-40B4-BE49-F238E27FC236}">
                <a16:creationId xmlns:a16="http://schemas.microsoft.com/office/drawing/2014/main" id="{AB399EE5-C59E-910E-F3FC-CD4312C9C80D}"/>
              </a:ext>
            </a:extLst>
          </p:cNvPr>
          <p:cNvGraphicFramePr>
            <a:graphicFrameLocks noGrp="1"/>
          </p:cNvGraphicFramePr>
          <p:nvPr>
            <p:ph sz="quarter" idx="14"/>
          </p:nvPr>
        </p:nvGraphicFramePr>
        <p:xfrm>
          <a:off x="5120787" y="549275"/>
          <a:ext cx="6561138" cy="57881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18655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204F6-6402-4007-79EE-662483D9EFD2}"/>
              </a:ext>
            </a:extLst>
          </p:cNvPr>
          <p:cNvSpPr>
            <a:spLocks noGrp="1"/>
          </p:cNvSpPr>
          <p:nvPr>
            <p:ph type="title"/>
          </p:nvPr>
        </p:nvSpPr>
        <p:spPr>
          <a:xfrm>
            <a:off x="7485266" y="1251909"/>
            <a:ext cx="3951469" cy="1947672"/>
          </a:xfrm>
        </p:spPr>
        <p:txBody>
          <a:bodyPr anchor="b">
            <a:normAutofit/>
          </a:bodyPr>
          <a:lstStyle/>
          <a:p>
            <a:r>
              <a:rPr lang="en-GB" sz="4100" b="1" dirty="0"/>
              <a:t>Application Framework Support</a:t>
            </a:r>
            <a:endParaRPr lang="en-US" sz="4100" dirty="0"/>
          </a:p>
          <a:p>
            <a:endParaRPr lang="en-GB" sz="4100" dirty="0"/>
          </a:p>
        </p:txBody>
      </p:sp>
      <p:pic>
        <p:nvPicPr>
          <p:cNvPr id="9" name="Picture 8" descr="Audio sound board">
            <a:extLst>
              <a:ext uri="{FF2B5EF4-FFF2-40B4-BE49-F238E27FC236}">
                <a16:creationId xmlns:a16="http://schemas.microsoft.com/office/drawing/2014/main" id="{0CF4FA30-918E-8262-8FC0-14F0DD8DA610}"/>
              </a:ext>
            </a:extLst>
          </p:cNvPr>
          <p:cNvPicPr>
            <a:picLocks noChangeAspect="1"/>
          </p:cNvPicPr>
          <p:nvPr/>
        </p:nvPicPr>
        <p:blipFill>
          <a:blip r:embed="rId3"/>
          <a:srcRect l="18412" r="8653"/>
          <a:stretch>
            <a:fillRect/>
          </a:stretch>
        </p:blipFill>
        <p:spPr>
          <a:xfrm>
            <a:off x="20" y="10"/>
            <a:ext cx="7002444" cy="639914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noFill/>
        </p:spPr>
      </p:pic>
      <p:sp>
        <p:nvSpPr>
          <p:cNvPr id="4" name="Content Placeholder 3">
            <a:extLst>
              <a:ext uri="{FF2B5EF4-FFF2-40B4-BE49-F238E27FC236}">
                <a16:creationId xmlns:a16="http://schemas.microsoft.com/office/drawing/2014/main" id="{C1CE39F6-B9BB-1159-1924-2441849D7B92}"/>
              </a:ext>
            </a:extLst>
          </p:cNvPr>
          <p:cNvSpPr>
            <a:spLocks noGrp="1"/>
          </p:cNvSpPr>
          <p:nvPr>
            <p:ph sz="quarter" idx="14"/>
          </p:nvPr>
        </p:nvSpPr>
        <p:spPr>
          <a:xfrm>
            <a:off x="7691007" y="3099815"/>
            <a:ext cx="3951469" cy="3084599"/>
          </a:xfrm>
        </p:spPr>
        <p:txBody>
          <a:bodyPr vert="horz" lIns="91440" tIns="45720" rIns="91440" bIns="45720" rtlCol="0">
            <a:normAutofit/>
          </a:bodyPr>
          <a:lstStyle/>
          <a:p>
            <a:pPr>
              <a:lnSpc>
                <a:spcPct val="110000"/>
              </a:lnSpc>
            </a:pPr>
            <a:r>
              <a:rPr lang="en-GB"/>
              <a:t>Microsoft Agent Framework (multi-agent)</a:t>
            </a:r>
          </a:p>
          <a:p>
            <a:pPr>
              <a:lnSpc>
                <a:spcPct val="110000"/>
              </a:lnSpc>
            </a:pPr>
            <a:r>
              <a:rPr lang="en-GB"/>
              <a:t>Semantic Kernel (single-agent, plugins)</a:t>
            </a:r>
          </a:p>
          <a:p>
            <a:pPr>
              <a:lnSpc>
                <a:spcPct val="110000"/>
              </a:lnSpc>
            </a:pPr>
            <a:r>
              <a:rPr lang="en-GB"/>
              <a:t>Foundry Agent Service (fully managed)</a:t>
            </a:r>
          </a:p>
          <a:p>
            <a:pPr>
              <a:lnSpc>
                <a:spcPct val="110000"/>
              </a:lnSpc>
            </a:pPr>
            <a:r>
              <a:rPr lang="en-GB"/>
              <a:t>All connect to unified APIM gateway</a:t>
            </a:r>
          </a:p>
          <a:p>
            <a:pPr>
              <a:lnSpc>
                <a:spcPct val="110000"/>
              </a:lnSpc>
            </a:pPr>
            <a:endParaRPr lang="en-GB"/>
          </a:p>
        </p:txBody>
      </p:sp>
      <p:sp>
        <p:nvSpPr>
          <p:cNvPr id="5" name="Date Placeholder 4">
            <a:extLst>
              <a:ext uri="{FF2B5EF4-FFF2-40B4-BE49-F238E27FC236}">
                <a16:creationId xmlns:a16="http://schemas.microsoft.com/office/drawing/2014/main" id="{D39A352D-B2C6-FBA2-E636-6A1C84709D6D}"/>
              </a:ext>
            </a:extLst>
          </p:cNvPr>
          <p:cNvSpPr>
            <a:spLocks noGrp="1"/>
          </p:cNvSpPr>
          <p:nvPr>
            <p:ph type="dt" sz="half" idx="10"/>
          </p:nvPr>
        </p:nvSpPr>
        <p:spPr>
          <a:xfrm>
            <a:off x="431172" y="6490524"/>
            <a:ext cx="2841959" cy="336141"/>
          </a:xfrm>
        </p:spPr>
        <p:txBody>
          <a:bodyPr anchor="ctr">
            <a:normAutofit/>
          </a:bodyPr>
          <a:lstStyle/>
          <a:p>
            <a:pPr>
              <a:spcAft>
                <a:spcPts val="600"/>
              </a:spcAft>
            </a:pPr>
            <a:fld id="{51CF56A9-FD41-47F4-80A0-DA74EEEC2541}" type="datetime1">
              <a:rPr lang="en-US" smtClean="0"/>
              <a:pPr>
                <a:spcAft>
                  <a:spcPts val="600"/>
                </a:spcAft>
              </a:pPr>
              <a:t>3/14/2026</a:t>
            </a:fld>
            <a:endParaRPr lang="en-US"/>
          </a:p>
        </p:txBody>
      </p:sp>
      <p:sp>
        <p:nvSpPr>
          <p:cNvPr id="6" name="Footer Placeholder 5">
            <a:extLst>
              <a:ext uri="{FF2B5EF4-FFF2-40B4-BE49-F238E27FC236}">
                <a16:creationId xmlns:a16="http://schemas.microsoft.com/office/drawing/2014/main" id="{5DAC42E7-66AA-FE8F-EB43-775C13187077}"/>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934C99B1-A12F-5AEF-549A-9283602FC277}"/>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32</a:t>
            </a:fld>
            <a:endParaRPr lang="en-US"/>
          </a:p>
        </p:txBody>
      </p:sp>
    </p:spTree>
    <p:extLst>
      <p:ext uri="{BB962C8B-B14F-4D97-AF65-F5344CB8AC3E}">
        <p14:creationId xmlns:p14="http://schemas.microsoft.com/office/powerpoint/2010/main" val="2934651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3D1AD-DCF5-5906-0491-B3F0B2B82B57}"/>
              </a:ext>
            </a:extLst>
          </p:cNvPr>
          <p:cNvSpPr>
            <a:spLocks noGrp="1"/>
          </p:cNvSpPr>
          <p:nvPr>
            <p:ph type="title"/>
          </p:nvPr>
        </p:nvSpPr>
        <p:spPr>
          <a:xfrm>
            <a:off x="7691006" y="998230"/>
            <a:ext cx="3951469" cy="1947672"/>
          </a:xfrm>
        </p:spPr>
        <p:txBody>
          <a:bodyPr anchor="b">
            <a:normAutofit/>
          </a:bodyPr>
          <a:lstStyle/>
          <a:p>
            <a:r>
              <a:rPr lang="en-GB" sz="3400" b="1"/>
              <a:t>Chargeback Architecture</a:t>
            </a:r>
            <a:endParaRPr lang="en-US" sz="3400"/>
          </a:p>
          <a:p>
            <a:endParaRPr lang="en-GB" sz="3400"/>
          </a:p>
        </p:txBody>
      </p:sp>
      <p:pic>
        <p:nvPicPr>
          <p:cNvPr id="9" name="Picture 8" descr="Computer Servers">
            <a:extLst>
              <a:ext uri="{FF2B5EF4-FFF2-40B4-BE49-F238E27FC236}">
                <a16:creationId xmlns:a16="http://schemas.microsoft.com/office/drawing/2014/main" id="{69E268DC-AE65-3478-18F1-64DC41907DF7}"/>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r="42293" b="6248"/>
          <a:stretch>
            <a:fillRect/>
          </a:stretch>
        </p:blipFill>
        <p:spPr>
          <a:xfrm>
            <a:off x="20" y="10"/>
            <a:ext cx="7002444" cy="639914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noFill/>
        </p:spPr>
      </p:pic>
      <p:sp>
        <p:nvSpPr>
          <p:cNvPr id="4" name="Content Placeholder 3">
            <a:extLst>
              <a:ext uri="{FF2B5EF4-FFF2-40B4-BE49-F238E27FC236}">
                <a16:creationId xmlns:a16="http://schemas.microsoft.com/office/drawing/2014/main" id="{000C9994-473C-4BF7-B38C-8CCD92D9E8C7}"/>
              </a:ext>
            </a:extLst>
          </p:cNvPr>
          <p:cNvSpPr>
            <a:spLocks noGrp="1"/>
          </p:cNvSpPr>
          <p:nvPr>
            <p:ph sz="quarter" idx="14"/>
          </p:nvPr>
        </p:nvSpPr>
        <p:spPr>
          <a:xfrm>
            <a:off x="7691007" y="3099815"/>
            <a:ext cx="3951469" cy="3084599"/>
          </a:xfrm>
        </p:spPr>
        <p:txBody>
          <a:bodyPr vert="horz" lIns="91440" tIns="45720" rIns="91440" bIns="45720" rtlCol="0">
            <a:normAutofit/>
          </a:bodyPr>
          <a:lstStyle/>
          <a:p>
            <a:pPr>
              <a:lnSpc>
                <a:spcPct val="110000"/>
              </a:lnSpc>
            </a:pPr>
            <a:r>
              <a:rPr lang="en-GB" sz="1700"/>
              <a:t>Event-driven cost allocation</a:t>
            </a:r>
          </a:p>
          <a:p>
            <a:pPr>
              <a:lnSpc>
                <a:spcPct val="110000"/>
              </a:lnSpc>
            </a:pPr>
            <a:r>
              <a:rPr lang="en-GB" sz="1700"/>
              <a:t>APIM logs requests to Event Hub</a:t>
            </a:r>
          </a:p>
          <a:p>
            <a:pPr>
              <a:lnSpc>
                <a:spcPct val="110000"/>
              </a:lnSpc>
            </a:pPr>
            <a:r>
              <a:rPr lang="en-GB" sz="1700"/>
              <a:t>Azure Function enriches with cost data</a:t>
            </a:r>
          </a:p>
          <a:p>
            <a:pPr>
              <a:lnSpc>
                <a:spcPct val="110000"/>
              </a:lnSpc>
            </a:pPr>
            <a:r>
              <a:rPr lang="en-GB" sz="1700"/>
              <a:t>Writes to Cosmos DB by business unit</a:t>
            </a:r>
          </a:p>
          <a:p>
            <a:pPr>
              <a:lnSpc>
                <a:spcPct val="110000"/>
              </a:lnSpc>
            </a:pPr>
            <a:r>
              <a:rPr lang="en-GB" sz="1700"/>
              <a:t>Power BI dashboard for real-time visibility</a:t>
            </a:r>
          </a:p>
          <a:p>
            <a:pPr>
              <a:lnSpc>
                <a:spcPct val="110000"/>
              </a:lnSpc>
            </a:pPr>
            <a:endParaRPr lang="en-GB" sz="1700"/>
          </a:p>
        </p:txBody>
      </p:sp>
      <p:sp>
        <p:nvSpPr>
          <p:cNvPr id="5" name="Date Placeholder 4">
            <a:extLst>
              <a:ext uri="{FF2B5EF4-FFF2-40B4-BE49-F238E27FC236}">
                <a16:creationId xmlns:a16="http://schemas.microsoft.com/office/drawing/2014/main" id="{3A8DBC6B-5F95-394F-1704-10F73518F133}"/>
              </a:ext>
            </a:extLst>
          </p:cNvPr>
          <p:cNvSpPr>
            <a:spLocks noGrp="1"/>
          </p:cNvSpPr>
          <p:nvPr>
            <p:ph type="dt" sz="half" idx="10"/>
          </p:nvPr>
        </p:nvSpPr>
        <p:spPr>
          <a:xfrm>
            <a:off x="431172" y="6490524"/>
            <a:ext cx="2841959" cy="336141"/>
          </a:xfrm>
        </p:spPr>
        <p:txBody>
          <a:bodyPr anchor="ctr">
            <a:normAutofit/>
          </a:bodyPr>
          <a:lstStyle/>
          <a:p>
            <a:pPr>
              <a:spcAft>
                <a:spcPts val="600"/>
              </a:spcAft>
            </a:pPr>
            <a:fld id="{C747D10D-DAA6-49BD-BCDC-42DE71F72A89}" type="datetime1">
              <a:rPr lang="en-US" smtClean="0"/>
              <a:pPr>
                <a:spcAft>
                  <a:spcPts val="600"/>
                </a:spcAft>
              </a:pPr>
              <a:t>3/14/2026</a:t>
            </a:fld>
            <a:endParaRPr lang="en-US"/>
          </a:p>
        </p:txBody>
      </p:sp>
      <p:sp>
        <p:nvSpPr>
          <p:cNvPr id="6" name="Footer Placeholder 5">
            <a:extLst>
              <a:ext uri="{FF2B5EF4-FFF2-40B4-BE49-F238E27FC236}">
                <a16:creationId xmlns:a16="http://schemas.microsoft.com/office/drawing/2014/main" id="{52AC0EFC-6ECF-072F-3CAC-1348651BD252}"/>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4B2EEC13-C890-9629-B768-D05656CB5380}"/>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33</a:t>
            </a:fld>
            <a:endParaRPr lang="en-US"/>
          </a:p>
        </p:txBody>
      </p:sp>
    </p:spTree>
    <p:extLst>
      <p:ext uri="{BB962C8B-B14F-4D97-AF65-F5344CB8AC3E}">
        <p14:creationId xmlns:p14="http://schemas.microsoft.com/office/powerpoint/2010/main" val="3099983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9B1F2-4873-4317-F473-CDF01113D33B}"/>
              </a:ext>
            </a:extLst>
          </p:cNvPr>
          <p:cNvSpPr>
            <a:spLocks noGrp="1"/>
          </p:cNvSpPr>
          <p:nvPr>
            <p:ph type="title"/>
          </p:nvPr>
        </p:nvSpPr>
        <p:spPr>
          <a:xfrm>
            <a:off x="7691006" y="998230"/>
            <a:ext cx="3951469" cy="1947672"/>
          </a:xfrm>
        </p:spPr>
        <p:txBody>
          <a:bodyPr anchor="b">
            <a:normAutofit/>
          </a:bodyPr>
          <a:lstStyle/>
          <a:p>
            <a:r>
              <a:rPr lang="en-GB" sz="3700" b="1"/>
              <a:t>Azure Policy Enforcement</a:t>
            </a:r>
            <a:endParaRPr lang="en-US" sz="3700"/>
          </a:p>
          <a:p>
            <a:endParaRPr lang="en-GB" sz="3700"/>
          </a:p>
        </p:txBody>
      </p:sp>
      <p:pic>
        <p:nvPicPr>
          <p:cNvPr id="9" name="Picture 8" descr="Illuminated server room panel">
            <a:extLst>
              <a:ext uri="{FF2B5EF4-FFF2-40B4-BE49-F238E27FC236}">
                <a16:creationId xmlns:a16="http://schemas.microsoft.com/office/drawing/2014/main" id="{6A23E2D1-CEEA-DD99-ADA2-A64C5CF63395}"/>
              </a:ext>
            </a:extLst>
          </p:cNvPr>
          <p:cNvPicPr>
            <a:picLocks noChangeAspect="1"/>
          </p:cNvPicPr>
          <p:nvPr/>
        </p:nvPicPr>
        <p:blipFill>
          <a:blip r:embed="rId3"/>
          <a:srcRect l="4399" r="22666"/>
          <a:stretch>
            <a:fillRect/>
          </a:stretch>
        </p:blipFill>
        <p:spPr>
          <a:xfrm>
            <a:off x="20" y="10"/>
            <a:ext cx="7002444" cy="639914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noFill/>
        </p:spPr>
      </p:pic>
      <p:sp>
        <p:nvSpPr>
          <p:cNvPr id="4" name="Content Placeholder 3">
            <a:extLst>
              <a:ext uri="{FF2B5EF4-FFF2-40B4-BE49-F238E27FC236}">
                <a16:creationId xmlns:a16="http://schemas.microsoft.com/office/drawing/2014/main" id="{9C62B7CE-9A86-43B8-2CE3-E6737058A844}"/>
              </a:ext>
            </a:extLst>
          </p:cNvPr>
          <p:cNvSpPr>
            <a:spLocks noGrp="1"/>
          </p:cNvSpPr>
          <p:nvPr>
            <p:ph sz="quarter" idx="14"/>
          </p:nvPr>
        </p:nvSpPr>
        <p:spPr>
          <a:xfrm>
            <a:off x="7691007" y="3099815"/>
            <a:ext cx="3951469" cy="3084599"/>
          </a:xfrm>
        </p:spPr>
        <p:txBody>
          <a:bodyPr vert="horz" lIns="91440" tIns="45720" rIns="91440" bIns="45720" rtlCol="0">
            <a:normAutofit/>
          </a:bodyPr>
          <a:lstStyle/>
          <a:p>
            <a:pPr>
              <a:lnSpc>
                <a:spcPct val="110000"/>
              </a:lnSpc>
            </a:pPr>
            <a:r>
              <a:rPr lang="en-GB"/>
              <a:t>Require private endpoints for all AI services</a:t>
            </a:r>
          </a:p>
          <a:p>
            <a:pPr>
              <a:lnSpc>
                <a:spcPct val="110000"/>
              </a:lnSpc>
            </a:pPr>
            <a:r>
              <a:rPr lang="en-GB"/>
              <a:t>Mandate managed identities (no API keys)</a:t>
            </a:r>
          </a:p>
          <a:p>
            <a:pPr>
              <a:lnSpc>
                <a:spcPct val="110000"/>
              </a:lnSpc>
            </a:pPr>
            <a:r>
              <a:rPr lang="en-GB"/>
              <a:t>Enforce content filters on deployments</a:t>
            </a:r>
          </a:p>
          <a:p>
            <a:pPr>
              <a:lnSpc>
                <a:spcPct val="110000"/>
              </a:lnSpc>
            </a:pPr>
            <a:r>
              <a:rPr lang="en-GB"/>
              <a:t>Data residency constraints by region</a:t>
            </a:r>
          </a:p>
          <a:p>
            <a:pPr>
              <a:lnSpc>
                <a:spcPct val="110000"/>
              </a:lnSpc>
            </a:pPr>
            <a:endParaRPr lang="en-GB"/>
          </a:p>
        </p:txBody>
      </p:sp>
      <p:sp>
        <p:nvSpPr>
          <p:cNvPr id="5" name="Date Placeholder 4">
            <a:extLst>
              <a:ext uri="{FF2B5EF4-FFF2-40B4-BE49-F238E27FC236}">
                <a16:creationId xmlns:a16="http://schemas.microsoft.com/office/drawing/2014/main" id="{CF59ABCD-8C9A-89D6-DC98-9F6AAD7B82EE}"/>
              </a:ext>
            </a:extLst>
          </p:cNvPr>
          <p:cNvSpPr>
            <a:spLocks noGrp="1"/>
          </p:cNvSpPr>
          <p:nvPr>
            <p:ph type="dt" sz="half" idx="10"/>
          </p:nvPr>
        </p:nvSpPr>
        <p:spPr>
          <a:xfrm>
            <a:off x="431172" y="6490524"/>
            <a:ext cx="2841959" cy="336141"/>
          </a:xfrm>
        </p:spPr>
        <p:txBody>
          <a:bodyPr anchor="ctr">
            <a:normAutofit/>
          </a:bodyPr>
          <a:lstStyle/>
          <a:p>
            <a:pPr>
              <a:spcAft>
                <a:spcPts val="600"/>
              </a:spcAft>
            </a:pPr>
            <a:fld id="{C747D10D-DAA6-49BD-BCDC-42DE71F72A89}" type="datetime1">
              <a:rPr lang="en-US" smtClean="0"/>
              <a:pPr>
                <a:spcAft>
                  <a:spcPts val="600"/>
                </a:spcAft>
              </a:pPr>
              <a:t>3/14/2026</a:t>
            </a:fld>
            <a:endParaRPr lang="en-US"/>
          </a:p>
        </p:txBody>
      </p:sp>
      <p:sp>
        <p:nvSpPr>
          <p:cNvPr id="6" name="Footer Placeholder 5">
            <a:extLst>
              <a:ext uri="{FF2B5EF4-FFF2-40B4-BE49-F238E27FC236}">
                <a16:creationId xmlns:a16="http://schemas.microsoft.com/office/drawing/2014/main" id="{BF059E64-A315-8FCD-0E5D-2AAB29D37A79}"/>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BE3F836A-8EEE-6122-CDFA-25005AA803B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34</a:t>
            </a:fld>
            <a:endParaRPr lang="en-US"/>
          </a:p>
        </p:txBody>
      </p:sp>
    </p:spTree>
    <p:extLst>
      <p:ext uri="{BB962C8B-B14F-4D97-AF65-F5344CB8AC3E}">
        <p14:creationId xmlns:p14="http://schemas.microsoft.com/office/powerpoint/2010/main" val="1208930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C7F72-F5F1-2B21-6766-D62F99BD28C7}"/>
              </a:ext>
            </a:extLst>
          </p:cNvPr>
          <p:cNvSpPr>
            <a:spLocks noGrp="1"/>
          </p:cNvSpPr>
          <p:nvPr>
            <p:ph type="title"/>
          </p:nvPr>
        </p:nvSpPr>
        <p:spPr>
          <a:xfrm>
            <a:off x="875538" y="2125980"/>
            <a:ext cx="9994392" cy="3621024"/>
          </a:xfrm>
        </p:spPr>
        <p:txBody>
          <a:bodyPr anchor="t">
            <a:normAutofit/>
          </a:bodyPr>
          <a:lstStyle/>
          <a:p>
            <a:pPr algn="ctr"/>
            <a:r>
              <a:rPr lang="en-US" dirty="0"/>
              <a:t>MONITORING OPERATIONS MIGRATION </a:t>
            </a:r>
          </a:p>
        </p:txBody>
      </p:sp>
    </p:spTree>
    <p:extLst>
      <p:ext uri="{BB962C8B-B14F-4D97-AF65-F5344CB8AC3E}">
        <p14:creationId xmlns:p14="http://schemas.microsoft.com/office/powerpoint/2010/main" val="2466559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E617A48-1C2F-6578-461B-0D81C06D6B08}"/>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F1F74372-7FFC-BF07-8F6A-F0F382193B3C}"/>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04C4AF3-3599-5DE1-30E1-FE666EF91F5D}"/>
              </a:ext>
            </a:extLst>
          </p:cNvPr>
          <p:cNvSpPr>
            <a:spLocks noGrp="1"/>
          </p:cNvSpPr>
          <p:nvPr>
            <p:ph type="sldNum" sz="quarter" idx="12"/>
          </p:nvPr>
        </p:nvSpPr>
        <p:spPr/>
        <p:txBody>
          <a:bodyPr/>
          <a:lstStyle/>
          <a:p>
            <a:fld id="{84C450F2-3BB4-4AE4-8A35-A9D7AEA4C850}" type="slidenum">
              <a:rPr lang="en-US" smtClean="0"/>
              <a:t>36</a:t>
            </a:fld>
            <a:endParaRPr lang="en-US" dirty="0"/>
          </a:p>
        </p:txBody>
      </p:sp>
      <p:pic>
        <p:nvPicPr>
          <p:cNvPr id="8" name="Graphic 7" descr="A detailed infographic illustrating the centralized monitoring architecture in Azure, showing multiple resource types (APIM, Azure OpenAI, Application Insights, NSG Flow Logs, Azure Firewall) sending diagnostics to a single Log Analytics workspace. The infographic should visually represent unified query capabilities, distributed tracing with correlation IDs, and highlight the flow of data for cost allocation analysis. No visible or implied text, letters, or words should appear anywhere in the image">
            <a:extLst>
              <a:ext uri="{FF2B5EF4-FFF2-40B4-BE49-F238E27FC236}">
                <a16:creationId xmlns:a16="http://schemas.microsoft.com/office/drawing/2014/main" id="{C63E17ED-AF4B-4D6B-B79F-5F17245236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46FDAB61-8656-48ED-BED1-1EADE43D66F7}"/>
              </a:ext>
            </a:extLst>
          </p:cNvPr>
          <p:cNvSpPr txBox="1"/>
          <p:nvPr/>
        </p:nvSpPr>
        <p:spPr>
          <a:xfrm>
            <a:off x="619125" y="581025"/>
            <a:ext cx="4391025" cy="2514600"/>
          </a:xfrm>
          <a:prstGeom prst="rect">
            <a:avLst/>
          </a:prstGeom>
          <a:noFill/>
        </p:spPr>
        <p:txBody>
          <a:bodyPr wrap="square" rtlCol="0">
            <a:normAutofit/>
          </a:bodyPr>
          <a:lstStyle/>
          <a:p>
            <a:pPr marL="0" algn="l">
              <a:buNone/>
            </a:pPr>
            <a:r>
              <a:rPr sz="3200" dirty="0">
                <a:solidFill>
                  <a:srgbClr val="F7CA66"/>
                </a:solidFill>
                <a:latin typeface="Lufga" panose="00000500000000000000" pitchFamily="50" charset="0"/>
                <a:ea typeface="+mj-ea"/>
                <a:cs typeface="+mj-cs"/>
              </a:rPr>
              <a:t>CENTRALISED MONITORING AND COST ALLOCATION </a:t>
            </a:r>
            <a:endParaRPr lang="en-GB" sz="32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6707752A-DC2A-4A1E-A565-865AE1C8F953}"/>
              </a:ext>
            </a:extLst>
          </p:cNvPr>
          <p:cNvSpPr txBox="1"/>
          <p:nvPr/>
        </p:nvSpPr>
        <p:spPr>
          <a:xfrm>
            <a:off x="619124" y="2484735"/>
            <a:ext cx="4391025" cy="274290"/>
          </a:xfrm>
          <a:prstGeom prst="rect">
            <a:avLst/>
          </a:prstGeom>
          <a:noFill/>
        </p:spPr>
        <p:txBody>
          <a:bodyPr wrap="square" rtlCol="0">
            <a:normAutofit fontScale="77500" lnSpcReduction="20000"/>
          </a:bodyPr>
          <a:lstStyle/>
          <a:p>
            <a:pPr marL="0" algn="l">
              <a:buNone/>
            </a:pPr>
            <a:r>
              <a:rPr sz="1800" b="1">
                <a:solidFill>
                  <a:srgbClr val="FFFFFF"/>
                </a:solidFill>
                <a:effectLst/>
                <a:latin typeface="Avenir Next LT Pro" panose="020B0504020202020204" pitchFamily="34" charset="0"/>
              </a:rPr>
              <a:t>Unified Telemetry Architecture</a:t>
            </a:r>
            <a:r>
              <a:rPr>
                <a:effectLst/>
              </a:rPr>
              <a:t> </a:t>
            </a:r>
            <a:endParaRPr lang="en-GB"/>
          </a:p>
        </p:txBody>
      </p:sp>
      <p:sp>
        <p:nvSpPr>
          <p:cNvPr id="11" name="TextBox 10">
            <a:extLst>
              <a:ext uri="{FF2B5EF4-FFF2-40B4-BE49-F238E27FC236}">
                <a16:creationId xmlns:a16="http://schemas.microsoft.com/office/drawing/2014/main" id="{3BC21515-21D1-4668-9546-28FCC3840522}"/>
              </a:ext>
            </a:extLst>
          </p:cNvPr>
          <p:cNvSpPr txBox="1"/>
          <p:nvPr/>
        </p:nvSpPr>
        <p:spPr>
          <a:xfrm>
            <a:off x="606834" y="3018508"/>
            <a:ext cx="4391025" cy="853082"/>
          </a:xfrm>
          <a:prstGeom prst="rect">
            <a:avLst/>
          </a:prstGeom>
          <a:noFill/>
        </p:spPr>
        <p:txBody>
          <a:bodyPr wrap="square" rtlCol="0">
            <a:normAutofit lnSpcReduction="10000"/>
          </a:bodyPr>
          <a:lstStyle/>
          <a:p>
            <a:pPr marL="0" algn="l">
              <a:spcBef>
                <a:spcPts val="750"/>
              </a:spcBef>
              <a:buNone/>
            </a:pPr>
            <a:r>
              <a:rPr sz="1200" b="0" dirty="0">
                <a:solidFill>
                  <a:srgbClr val="FFFFFF"/>
                </a:solidFill>
                <a:effectLst/>
                <a:latin typeface="Avenir Next LT Pro" panose="020B0504020202020204" pitchFamily="34" charset="0"/>
              </a:rPr>
              <a:t>All resources send diagnostics to a central Log Analytics workspace. Application Insights in spokes link to the same workspace for unified queries. Distributed tracing propagates correlation IDs across services.</a:t>
            </a:r>
            <a:r>
              <a:rPr dirty="0">
                <a:effectLst/>
              </a:rPr>
              <a:t> </a:t>
            </a:r>
            <a:endParaRPr lang="en-GB" dirty="0"/>
          </a:p>
        </p:txBody>
      </p:sp>
      <p:sp>
        <p:nvSpPr>
          <p:cNvPr id="12" name="TextBox 11">
            <a:extLst>
              <a:ext uri="{FF2B5EF4-FFF2-40B4-BE49-F238E27FC236}">
                <a16:creationId xmlns:a16="http://schemas.microsoft.com/office/drawing/2014/main" id="{6357442A-52FF-46B7-A52F-78B7F8379C40}"/>
              </a:ext>
            </a:extLst>
          </p:cNvPr>
          <p:cNvSpPr txBox="1"/>
          <p:nvPr/>
        </p:nvSpPr>
        <p:spPr>
          <a:xfrm>
            <a:off x="606833" y="4016450"/>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FFFFFF"/>
                </a:solidFill>
                <a:effectLst/>
                <a:latin typeface="Avenir Next LT Pro" panose="020B0504020202020204" pitchFamily="34" charset="0"/>
              </a:rPr>
              <a:t>Key Log Sources</a:t>
            </a:r>
            <a:r>
              <a:rPr>
                <a:effectLst/>
              </a:rPr>
              <a:t> </a:t>
            </a:r>
            <a:endParaRPr lang="en-GB"/>
          </a:p>
        </p:txBody>
      </p:sp>
      <p:sp>
        <p:nvSpPr>
          <p:cNvPr id="13" name="TextBox 12">
            <a:extLst>
              <a:ext uri="{FF2B5EF4-FFF2-40B4-BE49-F238E27FC236}">
                <a16:creationId xmlns:a16="http://schemas.microsoft.com/office/drawing/2014/main" id="{C5CF529D-4B3A-44E9-8A65-C743CB77E8E3}"/>
              </a:ext>
            </a:extLst>
          </p:cNvPr>
          <p:cNvSpPr txBox="1"/>
          <p:nvPr/>
        </p:nvSpPr>
        <p:spPr>
          <a:xfrm>
            <a:off x="606832" y="4385990"/>
            <a:ext cx="4391025" cy="639812"/>
          </a:xfrm>
          <a:prstGeom prst="rect">
            <a:avLst/>
          </a:prstGeom>
          <a:noFill/>
        </p:spPr>
        <p:txBody>
          <a:bodyPr wrap="square" rtlCol="0">
            <a:normAutofit fontScale="92500"/>
          </a:bodyPr>
          <a:lstStyle/>
          <a:p>
            <a:pPr marL="0" algn="l">
              <a:spcBef>
                <a:spcPts val="750"/>
              </a:spcBef>
              <a:buNone/>
            </a:pPr>
            <a:r>
              <a:rPr sz="1200" b="0">
                <a:solidFill>
                  <a:srgbClr val="FFFFFF"/>
                </a:solidFill>
                <a:effectLst/>
                <a:latin typeface="Avenir Next LT Pro" panose="020B0504020202020204" pitchFamily="34" charset="0"/>
              </a:rPr>
              <a:t>APIM requests; Azure OpenAI inference; App Insights telemetry; NSG Flow logs; Azure Firewall outbound and threat intel.</a:t>
            </a:r>
            <a:r>
              <a:rPr>
                <a:effectLst/>
              </a:rPr>
              <a:t> </a:t>
            </a:r>
            <a:endParaRPr lang="en-GB"/>
          </a:p>
        </p:txBody>
      </p:sp>
      <p:sp>
        <p:nvSpPr>
          <p:cNvPr id="14" name="TextBox 13">
            <a:extLst>
              <a:ext uri="{FF2B5EF4-FFF2-40B4-BE49-F238E27FC236}">
                <a16:creationId xmlns:a16="http://schemas.microsoft.com/office/drawing/2014/main" id="{BAA239A5-F6E9-4AE8-9A61-68A6A38B0EC9}"/>
              </a:ext>
            </a:extLst>
          </p:cNvPr>
          <p:cNvSpPr txBox="1"/>
          <p:nvPr/>
        </p:nvSpPr>
        <p:spPr>
          <a:xfrm>
            <a:off x="606831" y="5146005"/>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FFFFFF"/>
                </a:solidFill>
                <a:effectLst/>
                <a:latin typeface="Avenir Next LT Pro" panose="020B0504020202020204" pitchFamily="34" charset="0"/>
              </a:rPr>
              <a:t>Sample KQL Insight</a:t>
            </a:r>
            <a:r>
              <a:rPr>
                <a:effectLst/>
              </a:rPr>
              <a:t> </a:t>
            </a:r>
            <a:endParaRPr lang="en-GB"/>
          </a:p>
        </p:txBody>
      </p:sp>
      <p:sp>
        <p:nvSpPr>
          <p:cNvPr id="15" name="TextBox 14">
            <a:extLst>
              <a:ext uri="{FF2B5EF4-FFF2-40B4-BE49-F238E27FC236}">
                <a16:creationId xmlns:a16="http://schemas.microsoft.com/office/drawing/2014/main" id="{26F6C042-D2FB-41CD-893B-1819FEC4E0E6}"/>
              </a:ext>
            </a:extLst>
          </p:cNvPr>
          <p:cNvSpPr txBox="1"/>
          <p:nvPr/>
        </p:nvSpPr>
        <p:spPr>
          <a:xfrm>
            <a:off x="606830" y="5569524"/>
            <a:ext cx="4391025" cy="426541"/>
          </a:xfrm>
          <a:prstGeom prst="rect">
            <a:avLst/>
          </a:prstGeom>
          <a:noFill/>
        </p:spPr>
        <p:txBody>
          <a:bodyPr wrap="square" rtlCol="0">
            <a:normAutofit fontScale="85000" lnSpcReduction="20000"/>
          </a:bodyPr>
          <a:lstStyle/>
          <a:p>
            <a:pPr marL="0" algn="l">
              <a:spcBef>
                <a:spcPts val="750"/>
              </a:spcBef>
              <a:buNone/>
            </a:pPr>
            <a:r>
              <a:rPr sz="1200" b="0">
                <a:solidFill>
                  <a:srgbClr val="FFFFFF"/>
                </a:solidFill>
                <a:effectLst/>
                <a:latin typeface="Avenir Next LT Pro" panose="020B0504020202020204" pitchFamily="34" charset="0"/>
              </a:rPr>
              <a:t>Token usage by user and backend from ApiManagementGatewayLogs over the last 30 days.</a:t>
            </a:r>
            <a:r>
              <a:rPr>
                <a:effectLst/>
              </a:rPr>
              <a:t> </a:t>
            </a:r>
            <a:endParaRPr lang="en-GB"/>
          </a:p>
        </p:txBody>
      </p:sp>
      <p:sp>
        <p:nvSpPr>
          <p:cNvPr id="16" name="TextBox 15">
            <a:extLst>
              <a:ext uri="{FF2B5EF4-FFF2-40B4-BE49-F238E27FC236}">
                <a16:creationId xmlns:a16="http://schemas.microsoft.com/office/drawing/2014/main" id="{EFBEAAA5-D13B-499F-BBB3-56F8FC24AE29}"/>
              </a:ext>
            </a:extLst>
          </p:cNvPr>
          <p:cNvSpPr txBox="1"/>
          <p:nvPr/>
        </p:nvSpPr>
        <p:spPr>
          <a:xfrm>
            <a:off x="619125" y="6866632"/>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FFFFFF"/>
                </a:solidFill>
                <a:effectLst/>
                <a:latin typeface="Avenir Next LT Pro" panose="020B0504020202020204" pitchFamily="34" charset="0"/>
              </a:rPr>
              <a:t>Billing Challenge</a:t>
            </a:r>
            <a:r>
              <a:rPr>
                <a:effectLst/>
              </a:rPr>
              <a:t> </a:t>
            </a:r>
            <a:endParaRPr lang="en-GB"/>
          </a:p>
        </p:txBody>
      </p:sp>
      <p:sp>
        <p:nvSpPr>
          <p:cNvPr id="17" name="TextBox 16">
            <a:extLst>
              <a:ext uri="{FF2B5EF4-FFF2-40B4-BE49-F238E27FC236}">
                <a16:creationId xmlns:a16="http://schemas.microsoft.com/office/drawing/2014/main" id="{E71C7811-7398-45A0-B03A-542FDC3669C4}"/>
              </a:ext>
            </a:extLst>
          </p:cNvPr>
          <p:cNvSpPr txBox="1"/>
          <p:nvPr/>
        </p:nvSpPr>
        <p:spPr>
          <a:xfrm>
            <a:off x="619125" y="7236172"/>
            <a:ext cx="4391025" cy="426541"/>
          </a:xfrm>
          <a:prstGeom prst="rect">
            <a:avLst/>
          </a:prstGeom>
          <a:noFill/>
        </p:spPr>
        <p:txBody>
          <a:bodyPr wrap="square" rtlCol="0">
            <a:normAutofit fontScale="85000" lnSpcReduction="20000"/>
          </a:bodyPr>
          <a:lstStyle/>
          <a:p>
            <a:pPr marL="0" algn="l">
              <a:spcBef>
                <a:spcPts val="750"/>
              </a:spcBef>
              <a:buNone/>
            </a:pPr>
            <a:r>
              <a:rPr sz="1200" b="0">
                <a:solidFill>
                  <a:srgbClr val="FFFFFF"/>
                </a:solidFill>
                <a:effectLst/>
                <a:latin typeface="Avenir Next LT Pro" panose="020B0504020202020204" pitchFamily="34" charset="0"/>
              </a:rPr>
              <a:t>How to attribute AI infrastructure costs to business units and applications for internal chargeback.</a:t>
            </a:r>
            <a:r>
              <a:rPr>
                <a:effectLst/>
              </a:rPr>
              <a:t> </a:t>
            </a:r>
            <a:endParaRPr lang="en-GB"/>
          </a:p>
        </p:txBody>
      </p:sp>
    </p:spTree>
    <p:extLst>
      <p:ext uri="{BB962C8B-B14F-4D97-AF65-F5344CB8AC3E}">
        <p14:creationId xmlns:p14="http://schemas.microsoft.com/office/powerpoint/2010/main" val="3171273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CE681-F9BB-05BB-EDE5-25E22352BCD8}"/>
              </a:ext>
            </a:extLst>
          </p:cNvPr>
          <p:cNvSpPr>
            <a:spLocks noGrp="1"/>
          </p:cNvSpPr>
          <p:nvPr>
            <p:ph type="title"/>
          </p:nvPr>
        </p:nvSpPr>
        <p:spPr>
          <a:xfrm>
            <a:off x="533484" y="31335"/>
            <a:ext cx="11125032" cy="965101"/>
          </a:xfrm>
        </p:spPr>
        <p:txBody>
          <a:bodyPr anchor="b">
            <a:normAutofit/>
          </a:bodyPr>
          <a:lstStyle/>
          <a:p>
            <a:r>
              <a:rPr lang="en-GB" dirty="0"/>
              <a:t>APIM DASHBOARD </a:t>
            </a:r>
          </a:p>
        </p:txBody>
      </p:sp>
      <p:pic>
        <p:nvPicPr>
          <p:cNvPr id="7" name="Content Placeholder 6" descr="A screenshot of a web page&#10;&#10;AI-generated content may be incorrect.">
            <a:extLst>
              <a:ext uri="{FF2B5EF4-FFF2-40B4-BE49-F238E27FC236}">
                <a16:creationId xmlns:a16="http://schemas.microsoft.com/office/drawing/2014/main" id="{5B7FEDCB-31AE-5F08-AB76-8AAE0409CB59}"/>
              </a:ext>
            </a:extLst>
          </p:cNvPr>
          <p:cNvPicPr>
            <a:picLocks noGrp="1" noChangeAspect="1"/>
          </p:cNvPicPr>
          <p:nvPr>
            <p:ph idx="1"/>
          </p:nvPr>
        </p:nvPicPr>
        <p:blipFill>
          <a:blip r:embed="rId3"/>
          <a:srcRect t="11356" r="2" b="3445"/>
          <a:stretch>
            <a:fillRect/>
          </a:stretch>
        </p:blipFill>
        <p:spPr>
          <a:xfrm>
            <a:off x="431172" y="1384847"/>
            <a:ext cx="11125032" cy="4905116"/>
          </a:xfrm>
          <a:prstGeom prst="rect">
            <a:avLst/>
          </a:prstGeom>
          <a:noFill/>
        </p:spPr>
      </p:pic>
      <p:sp>
        <p:nvSpPr>
          <p:cNvPr id="4" name="Date Placeholder 3">
            <a:extLst>
              <a:ext uri="{FF2B5EF4-FFF2-40B4-BE49-F238E27FC236}">
                <a16:creationId xmlns:a16="http://schemas.microsoft.com/office/drawing/2014/main" id="{FE225939-44B3-C4C2-6936-47DF0343C357}"/>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5A858A0D-B70C-3A7F-90C5-37B759E2D745}"/>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B8BA9E75-184E-E8BD-DBD6-2F0DBFA0A0FE}"/>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37</a:t>
            </a:fld>
            <a:endParaRPr lang="en-US"/>
          </a:p>
        </p:txBody>
      </p:sp>
    </p:spTree>
    <p:extLst>
      <p:ext uri="{BB962C8B-B14F-4D97-AF65-F5344CB8AC3E}">
        <p14:creationId xmlns:p14="http://schemas.microsoft.com/office/powerpoint/2010/main" val="4181875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05B718-C609-1D9A-CCC5-C5D2B84236F5}"/>
              </a:ext>
            </a:extLst>
          </p:cNvPr>
          <p:cNvSpPr>
            <a:spLocks noGrp="1"/>
          </p:cNvSpPr>
          <p:nvPr>
            <p:ph type="dt" sz="half" idx="10"/>
          </p:nvPr>
        </p:nvSpPr>
        <p:spPr/>
        <p:txBody>
          <a:bodyPr/>
          <a:lstStyle/>
          <a:p>
            <a:fld id="{FE21D4C7-8630-4B98-978C-30388BBD4EE8}" type="datetime1">
              <a:rPr lang="en-US" smtClean="0"/>
              <a:t>3/14/2026</a:t>
            </a:fld>
            <a:endParaRPr lang="en-US" dirty="0"/>
          </a:p>
        </p:txBody>
      </p:sp>
      <p:sp>
        <p:nvSpPr>
          <p:cNvPr id="6" name="Slide Number Placeholder 5">
            <a:extLst>
              <a:ext uri="{FF2B5EF4-FFF2-40B4-BE49-F238E27FC236}">
                <a16:creationId xmlns:a16="http://schemas.microsoft.com/office/drawing/2014/main" id="{DE076071-8B46-17A0-33F2-4F6099BFB7F7}"/>
              </a:ext>
            </a:extLst>
          </p:cNvPr>
          <p:cNvSpPr>
            <a:spLocks noGrp="1"/>
          </p:cNvSpPr>
          <p:nvPr>
            <p:ph type="sldNum" sz="quarter" idx="12"/>
          </p:nvPr>
        </p:nvSpPr>
        <p:spPr/>
        <p:txBody>
          <a:bodyPr/>
          <a:lstStyle/>
          <a:p>
            <a:fld id="{84C450F2-3BB4-4AE4-8A35-A9D7AEA4C850}" type="slidenum">
              <a:rPr lang="en-US" smtClean="0"/>
              <a:t>38</a:t>
            </a:fld>
            <a:endParaRPr lang="en-US" dirty="0"/>
          </a:p>
        </p:txBody>
      </p:sp>
      <p:pic>
        <p:nvPicPr>
          <p:cNvPr id="8" name="Graphic 7" descr="A detailed infographic illustrating the Azure AI Landing Zone deployment workflow, showing the integration of Bicep and Terraform modules, the vending machine pattern for CI/CD automation, and the step-by-step process from request submission (via ServiceNow/Jira/custom portal) to approval, pipeline execution, and notification of deployed resources. The infographic should visually represent platform and application teams, approval workflow, and automated deployment steps, with icons for Azure, GitHub Actions, Azure Pipelines, and APIM endpoints. No visible or implied text, letters, or words should appear anywhere in the image">
            <a:extLst>
              <a:ext uri="{FF2B5EF4-FFF2-40B4-BE49-F238E27FC236}">
                <a16:creationId xmlns:a16="http://schemas.microsoft.com/office/drawing/2014/main" id="{05A596D2-C28E-420E-9E2F-207E35C40A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5306" y="9525"/>
            <a:ext cx="4017019" cy="6858000"/>
          </a:xfrm>
          <a:prstGeom prst="rect">
            <a:avLst/>
          </a:prstGeom>
        </p:spPr>
      </p:pic>
      <p:sp>
        <p:nvSpPr>
          <p:cNvPr id="9" name="TextBox 8">
            <a:extLst>
              <a:ext uri="{FF2B5EF4-FFF2-40B4-BE49-F238E27FC236}">
                <a16:creationId xmlns:a16="http://schemas.microsoft.com/office/drawing/2014/main" id="{FE537E8A-839B-4DC6-B942-5F9856672B38}"/>
              </a:ext>
            </a:extLst>
          </p:cNvPr>
          <p:cNvSpPr txBox="1"/>
          <p:nvPr/>
        </p:nvSpPr>
        <p:spPr>
          <a:xfrm>
            <a:off x="619125" y="1038225"/>
            <a:ext cx="6936581" cy="1257300"/>
          </a:xfrm>
          <a:prstGeom prst="rect">
            <a:avLst/>
          </a:prstGeom>
          <a:noFill/>
        </p:spPr>
        <p:txBody>
          <a:bodyPr wrap="square" rtlCol="0">
            <a:normAutofit fontScale="92500" lnSpcReduction="10000"/>
          </a:bodyPr>
          <a:lstStyle/>
          <a:p>
            <a:pPr marL="0" marR="0">
              <a:spcBef>
                <a:spcPct val="0"/>
              </a:spcBef>
            </a:pPr>
            <a:r>
              <a:rPr sz="4400" dirty="0">
                <a:solidFill>
                  <a:srgbClr val="F7CA66"/>
                </a:solidFill>
                <a:latin typeface="Lufga" panose="00000500000000000000" pitchFamily="50" charset="0"/>
                <a:ea typeface="+mj-ea"/>
                <a:cs typeface="+mj-cs"/>
              </a:rPr>
              <a:t>AI LANDING ZONE AUTOMATION </a:t>
            </a:r>
            <a:endParaRPr lang="en-GB" sz="4400"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0D6D827A-8DF5-423F-984B-B47AA012F4C0}"/>
              </a:ext>
            </a:extLst>
          </p:cNvPr>
          <p:cNvSpPr txBox="1"/>
          <p:nvPr/>
        </p:nvSpPr>
        <p:spPr>
          <a:xfrm>
            <a:off x="619125" y="2638425"/>
            <a:ext cx="6936581" cy="811410"/>
          </a:xfrm>
          <a:prstGeom prst="rect">
            <a:avLst/>
          </a:prstGeom>
          <a:noFill/>
        </p:spPr>
        <p:txBody>
          <a:bodyPr wrap="square" rtlCol="0">
            <a:normAutofit fontScale="92500" lnSpcReduction="10000"/>
          </a:bodyPr>
          <a:lstStyle/>
          <a:p>
            <a:pPr marL="0" marR="0" algn="l">
              <a:spcBef>
                <a:spcPts val="2700"/>
              </a:spcBef>
              <a:buNone/>
            </a:pPr>
            <a:r>
              <a:rPr sz="1800" b="1">
                <a:solidFill>
                  <a:srgbClr val="FFFFFF"/>
                </a:solidFill>
                <a:effectLst/>
                <a:latin typeface="Avenir Next LT Pro Bold" panose="020B0804020202020204" pitchFamily="34" charset="0"/>
              </a:rPr>
              <a:t>Accelerators (Official Repos)</a:t>
            </a:r>
            <a:r>
              <a:rPr>
                <a:effectLst/>
              </a:rPr>
              <a:t> </a:t>
            </a:r>
          </a:p>
          <a:p>
            <a:pPr marL="0" marR="0" algn="l">
              <a:spcBef>
                <a:spcPts val="450"/>
              </a:spcBef>
              <a:buNone/>
            </a:pPr>
            <a:r>
              <a:rPr sz="1200" b="0">
                <a:solidFill>
                  <a:srgbClr val="FFFFFF"/>
                </a:solidFill>
                <a:effectLst/>
                <a:latin typeface="Avenir Next LT Pro Regular"/>
              </a:rPr>
              <a:t>Bicep and Terraform modules in Azure AI Landing Zones; Portal offers guided, slower, less-repeatable deployments.</a:t>
            </a:r>
            <a:r>
              <a:rPr>
                <a:effectLst/>
              </a:rPr>
              <a:t> </a:t>
            </a:r>
            <a:endParaRPr lang="en-GB"/>
          </a:p>
        </p:txBody>
      </p:sp>
      <p:sp>
        <p:nvSpPr>
          <p:cNvPr id="11" name="TextBox 10">
            <a:extLst>
              <a:ext uri="{FF2B5EF4-FFF2-40B4-BE49-F238E27FC236}">
                <a16:creationId xmlns:a16="http://schemas.microsoft.com/office/drawing/2014/main" id="{28E6D6F1-B6DE-4A8B-A008-7C19480F0173}"/>
              </a:ext>
            </a:extLst>
          </p:cNvPr>
          <p:cNvSpPr txBox="1"/>
          <p:nvPr/>
        </p:nvSpPr>
        <p:spPr>
          <a:xfrm>
            <a:off x="619125" y="3640335"/>
            <a:ext cx="6936581" cy="1611510"/>
          </a:xfrm>
          <a:prstGeom prst="rect">
            <a:avLst/>
          </a:prstGeom>
          <a:noFill/>
        </p:spPr>
        <p:txBody>
          <a:bodyPr wrap="square" rtlCol="0">
            <a:normAutofit lnSpcReduction="10000"/>
          </a:bodyPr>
          <a:lstStyle/>
          <a:p>
            <a:pPr marL="0" marR="0" algn="l">
              <a:spcBef>
                <a:spcPts val="1500"/>
              </a:spcBef>
              <a:buNone/>
            </a:pPr>
            <a:r>
              <a:rPr sz="1800" b="1">
                <a:solidFill>
                  <a:srgbClr val="FFFFFF"/>
                </a:solidFill>
                <a:effectLst/>
                <a:latin typeface="Avenir Next LT Pro Bold" panose="020B0804020202020204" pitchFamily="34" charset="0"/>
              </a:rPr>
              <a:t>Vending Machine Pattern (CI/CD)</a:t>
            </a:r>
            <a:r>
              <a:rPr>
                <a:effectLst/>
              </a:rPr>
              <a:t> </a:t>
            </a:r>
          </a:p>
          <a:p>
            <a:pPr marL="0" marR="0" algn="l">
              <a:spcBef>
                <a:spcPts val="450"/>
              </a:spcBef>
              <a:buNone/>
            </a:pPr>
            <a:r>
              <a:rPr sz="1200" b="0">
                <a:solidFill>
                  <a:srgbClr val="FFFFFF"/>
                </a:solidFill>
                <a:effectLst/>
                <a:latin typeface="Avenir Next LT Pro Regular"/>
              </a:rPr>
              <a:t>Platform team curates IaC in Git; app teams submit requests with BU, env, models, quota, regions; approvals by manager and architect.</a:t>
            </a:r>
            <a:r>
              <a:rPr>
                <a:effectLst/>
              </a:rPr>
              <a:t> </a:t>
            </a:r>
          </a:p>
          <a:p>
            <a:pPr marL="0" marR="0" algn="l">
              <a:spcBef>
                <a:spcPts val="450"/>
              </a:spcBef>
              <a:buNone/>
            </a:pPr>
            <a:r>
              <a:rPr sz="1200" b="0">
                <a:solidFill>
                  <a:srgbClr val="FFFFFF"/>
                </a:solidFill>
                <a:effectLst/>
                <a:latin typeface="Avenir Next LT Pro Regular"/>
              </a:rPr>
              <a:t>Pipelines (GitHub Actions/Azure Pipelines) generate parameters, run Bicep/Terraform with SPN, deploy in 20–40 minutes.</a:t>
            </a:r>
            <a:r>
              <a:rPr>
                <a:effectLst/>
              </a:rPr>
              <a:t> </a:t>
            </a:r>
          </a:p>
          <a:p>
            <a:pPr marL="0" marR="0" algn="l">
              <a:spcBef>
                <a:spcPts val="450"/>
              </a:spcBef>
              <a:buNone/>
            </a:pPr>
            <a:r>
              <a:rPr sz="1200" b="0">
                <a:solidFill>
                  <a:srgbClr val="FFFFFF"/>
                </a:solidFill>
                <a:effectLst/>
                <a:latin typeface="Avenir Next LT Pro Regular"/>
              </a:rPr>
              <a:t>Teams receive APIM endpoint, managed identity GUID, and documentation upon completion.</a:t>
            </a:r>
            <a:r>
              <a:rPr>
                <a:effectLst/>
              </a:rPr>
              <a:t> </a:t>
            </a:r>
            <a:endParaRPr lang="en-GB"/>
          </a:p>
        </p:txBody>
      </p:sp>
    </p:spTree>
    <p:extLst>
      <p:ext uri="{BB962C8B-B14F-4D97-AF65-F5344CB8AC3E}">
        <p14:creationId xmlns:p14="http://schemas.microsoft.com/office/powerpoint/2010/main" val="2485503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93C1-D6C1-1DDF-32C8-4FB779A0C8AD}"/>
              </a:ext>
            </a:extLst>
          </p:cNvPr>
          <p:cNvSpPr>
            <a:spLocks noGrp="1"/>
          </p:cNvSpPr>
          <p:nvPr>
            <p:ph type="title"/>
          </p:nvPr>
        </p:nvSpPr>
        <p:spPr>
          <a:xfrm>
            <a:off x="431172" y="1070050"/>
            <a:ext cx="11125032" cy="965101"/>
          </a:xfrm>
        </p:spPr>
        <p:txBody>
          <a:bodyPr anchor="b">
            <a:normAutofit/>
          </a:bodyPr>
          <a:lstStyle/>
          <a:p>
            <a:r>
              <a:rPr lang="en-GB" b="1" dirty="0"/>
              <a:t>Migration Phases</a:t>
            </a:r>
            <a:endParaRPr lang="en-US" dirty="0"/>
          </a:p>
          <a:p>
            <a:endParaRPr lang="en-GB" dirty="0"/>
          </a:p>
        </p:txBody>
      </p:sp>
      <p:sp>
        <p:nvSpPr>
          <p:cNvPr id="5" name="Date Placeholder 4">
            <a:extLst>
              <a:ext uri="{FF2B5EF4-FFF2-40B4-BE49-F238E27FC236}">
                <a16:creationId xmlns:a16="http://schemas.microsoft.com/office/drawing/2014/main" id="{E1112081-4BC8-9183-6638-9CB3F6F0A85A}"/>
              </a:ext>
            </a:extLst>
          </p:cNvPr>
          <p:cNvSpPr>
            <a:spLocks noGrp="1"/>
          </p:cNvSpPr>
          <p:nvPr>
            <p:ph type="dt" sz="half" idx="10"/>
          </p:nvPr>
        </p:nvSpPr>
        <p:spPr>
          <a:xfrm>
            <a:off x="431172" y="6490524"/>
            <a:ext cx="2841959" cy="336141"/>
          </a:xfrm>
        </p:spPr>
        <p:txBody>
          <a:bodyPr anchor="ctr">
            <a:normAutofit/>
          </a:bodyPr>
          <a:lstStyle/>
          <a:p>
            <a:pPr>
              <a:spcAft>
                <a:spcPts val="600"/>
              </a:spcAft>
            </a:pPr>
            <a:fld id="{C747D10D-DAA6-49BD-BCDC-42DE71F72A89}" type="datetime1">
              <a:rPr lang="en-US" smtClean="0"/>
              <a:pPr>
                <a:spcAft>
                  <a:spcPts val="600"/>
                </a:spcAft>
              </a:pPr>
              <a:t>3/14/2026</a:t>
            </a:fld>
            <a:endParaRPr lang="en-US"/>
          </a:p>
        </p:txBody>
      </p:sp>
      <p:sp>
        <p:nvSpPr>
          <p:cNvPr id="6" name="Footer Placeholder 5">
            <a:extLst>
              <a:ext uri="{FF2B5EF4-FFF2-40B4-BE49-F238E27FC236}">
                <a16:creationId xmlns:a16="http://schemas.microsoft.com/office/drawing/2014/main" id="{9559724C-5F08-B29C-5A40-78CFC76CF656}"/>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776151A5-8F2B-3122-6E8B-66CC6E414A5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CC057153-B650-4DEB-B370-79DDCFDCE934}" type="slidenum">
              <a:rPr lang="en-US" smtClean="0"/>
              <a:pPr>
                <a:spcAft>
                  <a:spcPts val="600"/>
                </a:spcAft>
              </a:pPr>
              <a:t>39</a:t>
            </a:fld>
            <a:endParaRPr lang="en-US"/>
          </a:p>
        </p:txBody>
      </p:sp>
      <p:graphicFrame>
        <p:nvGraphicFramePr>
          <p:cNvPr id="11" name="Content Placeholder 3">
            <a:extLst>
              <a:ext uri="{FF2B5EF4-FFF2-40B4-BE49-F238E27FC236}">
                <a16:creationId xmlns:a16="http://schemas.microsoft.com/office/drawing/2014/main" id="{9B437E5A-E1C1-22B3-C216-F48FBE0DB953}"/>
              </a:ext>
            </a:extLst>
          </p:cNvPr>
          <p:cNvGraphicFramePr>
            <a:graphicFrameLocks noGrp="1"/>
          </p:cNvGraphicFramePr>
          <p:nvPr>
            <p:ph idx="1"/>
          </p:nvPr>
        </p:nvGraphicFramePr>
        <p:xfrm>
          <a:off x="431172" y="1384847"/>
          <a:ext cx="11125032" cy="490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4762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DE81EC-6291-59BA-35E6-FA9C5EA2FBAF}"/>
              </a:ext>
            </a:extLst>
          </p:cNvPr>
          <p:cNvSpPr>
            <a:spLocks noGrp="1"/>
          </p:cNvSpPr>
          <p:nvPr>
            <p:ph type="dt" sz="half" idx="10"/>
          </p:nvPr>
        </p:nvSpPr>
        <p:spPr>
          <a:xfrm>
            <a:off x="431172" y="6420259"/>
            <a:ext cx="2841959" cy="336141"/>
          </a:xfrm>
        </p:spPr>
        <p:txBody>
          <a:bodyPr/>
          <a:lstStyle/>
          <a:p>
            <a:fld id="{FE21D4C7-8630-4B98-978C-30388BBD4EE8}" type="datetime1">
              <a:rPr lang="en-US" smtClean="0"/>
              <a:t>3/14/2026</a:t>
            </a:fld>
            <a:endParaRPr lang="en-US" dirty="0"/>
          </a:p>
        </p:txBody>
      </p:sp>
      <p:sp>
        <p:nvSpPr>
          <p:cNvPr id="5" name="Footer Placeholder 4">
            <a:extLst>
              <a:ext uri="{FF2B5EF4-FFF2-40B4-BE49-F238E27FC236}">
                <a16:creationId xmlns:a16="http://schemas.microsoft.com/office/drawing/2014/main" id="{4BE89AF5-DF52-8C1B-C371-88213418167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A1A9140-7F74-36C4-E8C1-B19E1093E603}"/>
              </a:ext>
            </a:extLst>
          </p:cNvPr>
          <p:cNvSpPr>
            <a:spLocks noGrp="1"/>
          </p:cNvSpPr>
          <p:nvPr>
            <p:ph type="sldNum" sz="quarter" idx="12"/>
          </p:nvPr>
        </p:nvSpPr>
        <p:spPr/>
        <p:txBody>
          <a:bodyPr/>
          <a:lstStyle/>
          <a:p>
            <a:fld id="{84C450F2-3BB4-4AE4-8A35-A9D7AEA4C850}" type="slidenum">
              <a:rPr lang="en-US" smtClean="0"/>
              <a:t>40</a:t>
            </a:fld>
            <a:endParaRPr lang="en-US" dirty="0"/>
          </a:p>
        </p:txBody>
      </p:sp>
      <p:pic>
        <p:nvPicPr>
          <p:cNvPr id="8" name="Graphic 7" descr="An infographic illustrating the migration roadmap from decentralized Azure OpenAI accounts to a centralized AI Landing Zone. The visual should show two columns: Current State with scattered application teams, public endpoints, and fragmented monitoring; and Target State with a centralized hub, private endpoints, unified governance, and monitoring. Include a timeline at the bottom for Phase 1: Assessment and Planning with steps like inventory, mapping, and cost estimation. The design should be clean and professional, with clear visual separation between the two states. No visible or implied text, letters, or words should appear anywhere in the image">
            <a:extLst>
              <a:ext uri="{FF2B5EF4-FFF2-40B4-BE49-F238E27FC236}">
                <a16:creationId xmlns:a16="http://schemas.microsoft.com/office/drawing/2014/main" id="{4467ADAD-BA17-41BB-A6D2-76ADAE0BA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9" name="TextBox 8">
            <a:extLst>
              <a:ext uri="{FF2B5EF4-FFF2-40B4-BE49-F238E27FC236}">
                <a16:creationId xmlns:a16="http://schemas.microsoft.com/office/drawing/2014/main" id="{0CB8A193-77CF-46B3-80CE-386CEE8FAC0B}"/>
              </a:ext>
            </a:extLst>
          </p:cNvPr>
          <p:cNvSpPr txBox="1"/>
          <p:nvPr/>
        </p:nvSpPr>
        <p:spPr>
          <a:xfrm>
            <a:off x="619125" y="581025"/>
            <a:ext cx="4391025" cy="1257300"/>
          </a:xfrm>
          <a:prstGeom prst="rect">
            <a:avLst/>
          </a:prstGeom>
          <a:noFill/>
        </p:spPr>
        <p:txBody>
          <a:bodyPr wrap="square" rtlCol="0">
            <a:normAutofit fontScale="92500" lnSpcReduction="10000"/>
          </a:bodyPr>
          <a:lstStyle/>
          <a:p>
            <a:pPr marL="0" algn="l">
              <a:buNone/>
            </a:pPr>
            <a:r>
              <a:rPr sz="4400" b="1" dirty="0">
                <a:solidFill>
                  <a:srgbClr val="F7CA66"/>
                </a:solidFill>
                <a:latin typeface="Lufga" panose="00000500000000000000" pitchFamily="50" charset="0"/>
                <a:ea typeface="+mj-ea"/>
                <a:cs typeface="+mj-cs"/>
              </a:rPr>
              <a:t>AI Landing Zone Roadmap </a:t>
            </a:r>
            <a:endParaRPr lang="en-GB" sz="4400" b="1" dirty="0">
              <a:solidFill>
                <a:srgbClr val="F7CA66"/>
              </a:solidFill>
              <a:latin typeface="Lufga" panose="00000500000000000000" pitchFamily="50" charset="0"/>
              <a:ea typeface="+mj-ea"/>
              <a:cs typeface="+mj-cs"/>
            </a:endParaRPr>
          </a:p>
        </p:txBody>
      </p:sp>
      <p:sp>
        <p:nvSpPr>
          <p:cNvPr id="10" name="TextBox 9">
            <a:extLst>
              <a:ext uri="{FF2B5EF4-FFF2-40B4-BE49-F238E27FC236}">
                <a16:creationId xmlns:a16="http://schemas.microsoft.com/office/drawing/2014/main" id="{315961DC-73A7-45F6-986A-E231FBFC3398}"/>
              </a:ext>
            </a:extLst>
          </p:cNvPr>
          <p:cNvSpPr txBox="1"/>
          <p:nvPr/>
        </p:nvSpPr>
        <p:spPr>
          <a:xfrm>
            <a:off x="619125" y="2181225"/>
            <a:ext cx="4391025" cy="274290"/>
          </a:xfrm>
          <a:prstGeom prst="rect">
            <a:avLst/>
          </a:prstGeom>
          <a:noFill/>
        </p:spPr>
        <p:txBody>
          <a:bodyPr wrap="square" rtlCol="0">
            <a:normAutofit fontScale="77500" lnSpcReduction="20000"/>
          </a:bodyPr>
          <a:lstStyle/>
          <a:p>
            <a:pPr marL="0" algn="l">
              <a:buNone/>
            </a:pPr>
            <a:r>
              <a:rPr sz="1800">
                <a:solidFill>
                  <a:srgbClr val="FFFFFF"/>
                </a:solidFill>
                <a:effectLst/>
                <a:latin typeface="Avenir Next LT Pro" panose="020B0504020202020204" pitchFamily="34" charset="0"/>
              </a:rPr>
              <a:t>Current State</a:t>
            </a:r>
            <a:r>
              <a:rPr>
                <a:effectLst/>
              </a:rPr>
              <a:t> </a:t>
            </a:r>
            <a:endParaRPr lang="en-GB"/>
          </a:p>
        </p:txBody>
      </p:sp>
      <p:sp>
        <p:nvSpPr>
          <p:cNvPr id="11" name="TextBox 10">
            <a:extLst>
              <a:ext uri="{FF2B5EF4-FFF2-40B4-BE49-F238E27FC236}">
                <a16:creationId xmlns:a16="http://schemas.microsoft.com/office/drawing/2014/main" id="{221F671E-CD07-4714-AE83-F50617BED3DD}"/>
              </a:ext>
            </a:extLst>
          </p:cNvPr>
          <p:cNvSpPr txBox="1"/>
          <p:nvPr/>
        </p:nvSpPr>
        <p:spPr>
          <a:xfrm>
            <a:off x="619125" y="2531715"/>
            <a:ext cx="4391025" cy="1222771"/>
          </a:xfrm>
          <a:prstGeom prst="rect">
            <a:avLst/>
          </a:prstGeom>
          <a:noFill/>
        </p:spPr>
        <p:txBody>
          <a:bodyPr wrap="square" rtlCol="0">
            <a:normAutofit lnSpcReduction="10000"/>
          </a:bodyPr>
          <a:lstStyle/>
          <a:p>
            <a:pPr marL="0" algn="l">
              <a:spcBef>
                <a:spcPts val="600"/>
              </a:spcBef>
              <a:buNone/>
            </a:pPr>
            <a:r>
              <a:rPr lang="en-US" sz="1200">
                <a:solidFill>
                  <a:srgbClr val="FFFFFF"/>
                </a:solidFill>
                <a:effectLst/>
                <a:latin typeface="Avenir Next LT Pro" panose="020B0504020202020204" pitchFamily="34" charset="0"/>
              </a:rPr>
              <a:t>5–10 app teams with separate Azure OpenAI accounts.</a:t>
            </a:r>
          </a:p>
          <a:p>
            <a:pPr marL="0" algn="l">
              <a:spcBef>
                <a:spcPts val="600"/>
              </a:spcBef>
              <a:buNone/>
            </a:pPr>
            <a:r>
              <a:rPr lang="en-US" sz="1200">
                <a:solidFill>
                  <a:srgbClr val="FFFFFF"/>
                </a:solidFill>
                <a:effectLst/>
                <a:latin typeface="Avenir Next LT Pro" panose="020B0504020202020204" pitchFamily="34" charset="0"/>
              </a:rPr>
              <a:t>• Public endpoints and API key exposure</a:t>
            </a:r>
          </a:p>
          <a:p>
            <a:pPr marL="0" algn="l">
              <a:spcBef>
                <a:spcPts val="600"/>
              </a:spcBef>
              <a:buNone/>
            </a:pPr>
            <a:r>
              <a:rPr lang="en-US" sz="1200">
                <a:solidFill>
                  <a:srgbClr val="FFFFFF"/>
                </a:solidFill>
                <a:effectLst/>
                <a:latin typeface="Avenir Next LT Pro" panose="020B0504020202020204" pitchFamily="34" charset="0"/>
              </a:rPr>
              <a:t>• Uncontrolled token consumption (3–10× budget overages)</a:t>
            </a:r>
          </a:p>
          <a:p>
            <a:pPr marL="0" algn="l">
              <a:spcBef>
                <a:spcPts val="600"/>
              </a:spcBef>
              <a:buNone/>
            </a:pPr>
            <a:r>
              <a:rPr lang="en-US" sz="1200">
                <a:solidFill>
                  <a:srgbClr val="FFFFFF"/>
                </a:solidFill>
                <a:effectLst/>
                <a:latin typeface="Avenir Next LT Pro" panose="020B0504020202020204" pitchFamily="34" charset="0"/>
              </a:rPr>
              <a:t>• Infrastructure sprawl across teams</a:t>
            </a:r>
          </a:p>
          <a:p>
            <a:pPr marL="0" algn="l">
              <a:spcBef>
                <a:spcPts val="600"/>
              </a:spcBef>
              <a:buNone/>
            </a:pPr>
            <a:r>
              <a:rPr lang="en-US" sz="1200">
                <a:solidFill>
                  <a:srgbClr val="FFFFFF"/>
                </a:solidFill>
                <a:effectLst/>
                <a:latin typeface="Avenir Next LT Pro" panose="020B0504020202020204" pitchFamily="34" charset="0"/>
              </a:rPr>
              <a:t>• Integration complexity with multiple frameworks</a:t>
            </a:r>
            <a:endParaRPr lang="en-GB"/>
          </a:p>
        </p:txBody>
      </p:sp>
      <p:sp>
        <p:nvSpPr>
          <p:cNvPr id="12" name="TextBox 11">
            <a:extLst>
              <a:ext uri="{FF2B5EF4-FFF2-40B4-BE49-F238E27FC236}">
                <a16:creationId xmlns:a16="http://schemas.microsoft.com/office/drawing/2014/main" id="{AFF90732-E99A-4E49-B432-E8E10209EBD4}"/>
              </a:ext>
            </a:extLst>
          </p:cNvPr>
          <p:cNvSpPr txBox="1"/>
          <p:nvPr/>
        </p:nvSpPr>
        <p:spPr>
          <a:xfrm>
            <a:off x="619125" y="3887836"/>
            <a:ext cx="4391025" cy="274290"/>
          </a:xfrm>
          <a:prstGeom prst="rect">
            <a:avLst/>
          </a:prstGeom>
          <a:noFill/>
        </p:spPr>
        <p:txBody>
          <a:bodyPr wrap="square" rtlCol="0">
            <a:normAutofit fontScale="77500" lnSpcReduction="20000"/>
          </a:bodyPr>
          <a:lstStyle/>
          <a:p>
            <a:pPr marL="0" algn="l">
              <a:spcBef>
                <a:spcPts val="1050"/>
              </a:spcBef>
              <a:buNone/>
            </a:pPr>
            <a:r>
              <a:rPr sz="1800">
                <a:solidFill>
                  <a:srgbClr val="FFFFFF"/>
                </a:solidFill>
                <a:effectLst/>
                <a:latin typeface="Avenir Next LT Pro" panose="020B0504020202020204" pitchFamily="34" charset="0"/>
              </a:rPr>
              <a:t>Target State</a:t>
            </a:r>
            <a:r>
              <a:rPr>
                <a:effectLst/>
              </a:rPr>
              <a:t> </a:t>
            </a:r>
            <a:endParaRPr lang="en-GB"/>
          </a:p>
        </p:txBody>
      </p:sp>
      <p:sp>
        <p:nvSpPr>
          <p:cNvPr id="13" name="TextBox 12">
            <a:extLst>
              <a:ext uri="{FF2B5EF4-FFF2-40B4-BE49-F238E27FC236}">
                <a16:creationId xmlns:a16="http://schemas.microsoft.com/office/drawing/2014/main" id="{19158287-64B3-4092-9A25-11E5F3E3BA28}"/>
              </a:ext>
            </a:extLst>
          </p:cNvPr>
          <p:cNvSpPr txBox="1"/>
          <p:nvPr/>
        </p:nvSpPr>
        <p:spPr>
          <a:xfrm>
            <a:off x="619125" y="4238327"/>
            <a:ext cx="4391025" cy="731341"/>
          </a:xfrm>
          <a:prstGeom prst="rect">
            <a:avLst/>
          </a:prstGeom>
          <a:noFill/>
        </p:spPr>
        <p:txBody>
          <a:bodyPr wrap="square" rtlCol="0">
            <a:noAutofit/>
          </a:bodyPr>
          <a:lstStyle/>
          <a:p>
            <a:pPr marL="0" algn="l">
              <a:spcBef>
                <a:spcPts val="600"/>
              </a:spcBef>
              <a:buNone/>
            </a:pPr>
            <a:r>
              <a:rPr sz="1200" dirty="0">
                <a:solidFill>
                  <a:srgbClr val="FFFFFF"/>
                </a:solidFill>
                <a:effectLst/>
                <a:latin typeface="Avenir Next LT Pro" panose="020B0504020202020204" pitchFamily="34" charset="0"/>
              </a:rPr>
              <a:t>Centralized AI Hub landing zone.</a:t>
            </a:r>
            <a:r>
              <a:rPr sz="1200" dirty="0">
                <a:effectLst/>
              </a:rPr>
              <a:t> </a:t>
            </a:r>
          </a:p>
          <a:p>
            <a:pPr marL="0" algn="l">
              <a:spcBef>
                <a:spcPts val="450"/>
              </a:spcBef>
              <a:buNone/>
            </a:pPr>
            <a:r>
              <a:rPr sz="1200" dirty="0">
                <a:solidFill>
                  <a:srgbClr val="FFFFFF"/>
                </a:solidFill>
                <a:effectLst/>
                <a:latin typeface="Avenir Next LT Pro" panose="020B0504020202020204" pitchFamily="34" charset="0"/>
              </a:rPr>
              <a:t>Private endpoints, managed identities, APIM gateway.</a:t>
            </a:r>
            <a:r>
              <a:rPr sz="1200" dirty="0">
                <a:effectLst/>
              </a:rPr>
              <a:t> </a:t>
            </a:r>
          </a:p>
          <a:p>
            <a:pPr marL="0" algn="l">
              <a:spcBef>
                <a:spcPts val="450"/>
              </a:spcBef>
              <a:buNone/>
            </a:pPr>
            <a:r>
              <a:rPr sz="1200" dirty="0">
                <a:solidFill>
                  <a:srgbClr val="FFFFFF"/>
                </a:solidFill>
                <a:effectLst/>
                <a:latin typeface="Avenir Next LT Pro" panose="020B0504020202020204" pitchFamily="34" charset="0"/>
              </a:rPr>
              <a:t>Unified monitoring, chargeback, governance.</a:t>
            </a:r>
            <a:r>
              <a:rPr sz="1200" dirty="0">
                <a:effectLst/>
              </a:rPr>
              <a:t> </a:t>
            </a:r>
            <a:endParaRPr lang="en-GB" sz="1200" dirty="0"/>
          </a:p>
        </p:txBody>
      </p:sp>
      <p:sp>
        <p:nvSpPr>
          <p:cNvPr id="14" name="TextBox 13">
            <a:extLst>
              <a:ext uri="{FF2B5EF4-FFF2-40B4-BE49-F238E27FC236}">
                <a16:creationId xmlns:a16="http://schemas.microsoft.com/office/drawing/2014/main" id="{1818EE8C-1E2C-4150-8F5F-2831EA917ECD}"/>
              </a:ext>
            </a:extLst>
          </p:cNvPr>
          <p:cNvSpPr txBox="1"/>
          <p:nvPr/>
        </p:nvSpPr>
        <p:spPr>
          <a:xfrm>
            <a:off x="619125" y="5103018"/>
            <a:ext cx="4391025" cy="274290"/>
          </a:xfrm>
          <a:prstGeom prst="rect">
            <a:avLst/>
          </a:prstGeom>
          <a:noFill/>
        </p:spPr>
        <p:txBody>
          <a:bodyPr wrap="square" rtlCol="0">
            <a:normAutofit fontScale="77500" lnSpcReduction="20000"/>
          </a:bodyPr>
          <a:lstStyle/>
          <a:p>
            <a:pPr marL="0" algn="l">
              <a:spcBef>
                <a:spcPts val="1050"/>
              </a:spcBef>
              <a:buNone/>
            </a:pPr>
            <a:r>
              <a:rPr sz="1800">
                <a:solidFill>
                  <a:srgbClr val="FFFFFF"/>
                </a:solidFill>
                <a:effectLst/>
                <a:latin typeface="Avenir Next LT Pro" panose="020B0504020202020204" pitchFamily="34" charset="0"/>
              </a:rPr>
              <a:t>Phase 1: 2–4 Weeks</a:t>
            </a:r>
            <a:r>
              <a:rPr>
                <a:effectLst/>
              </a:rPr>
              <a:t> </a:t>
            </a:r>
            <a:endParaRPr lang="en-GB"/>
          </a:p>
        </p:txBody>
      </p:sp>
      <p:sp>
        <p:nvSpPr>
          <p:cNvPr id="15" name="TextBox 14">
            <a:extLst>
              <a:ext uri="{FF2B5EF4-FFF2-40B4-BE49-F238E27FC236}">
                <a16:creationId xmlns:a16="http://schemas.microsoft.com/office/drawing/2014/main" id="{2343BFBA-4A17-4E4A-9CB4-1DD20FCF3DBB}"/>
              </a:ext>
            </a:extLst>
          </p:cNvPr>
          <p:cNvSpPr txBox="1"/>
          <p:nvPr/>
        </p:nvSpPr>
        <p:spPr>
          <a:xfrm>
            <a:off x="619125" y="5453507"/>
            <a:ext cx="4391025" cy="731341"/>
          </a:xfrm>
          <a:prstGeom prst="rect">
            <a:avLst/>
          </a:prstGeom>
          <a:noFill/>
        </p:spPr>
        <p:txBody>
          <a:bodyPr wrap="square" rtlCol="0">
            <a:noAutofit/>
          </a:bodyPr>
          <a:lstStyle/>
          <a:p>
            <a:pPr marL="0" algn="l">
              <a:spcBef>
                <a:spcPts val="600"/>
              </a:spcBef>
              <a:buNone/>
            </a:pPr>
            <a:r>
              <a:rPr sz="1200" dirty="0">
                <a:solidFill>
                  <a:srgbClr val="FFFFFF"/>
                </a:solidFill>
                <a:effectLst/>
                <a:latin typeface="Avenir Next LT Pro" panose="020B0504020202020204" pitchFamily="34" charset="0"/>
              </a:rPr>
              <a:t>Inventory AOAI accounts, deployments, quotas.</a:t>
            </a:r>
            <a:r>
              <a:rPr sz="1200" dirty="0">
                <a:effectLst/>
              </a:rPr>
              <a:t> </a:t>
            </a:r>
          </a:p>
          <a:p>
            <a:pPr marL="0" algn="l">
              <a:spcBef>
                <a:spcPts val="450"/>
              </a:spcBef>
              <a:buNone/>
            </a:pPr>
            <a:r>
              <a:rPr sz="1200" dirty="0">
                <a:solidFill>
                  <a:srgbClr val="FFFFFF"/>
                </a:solidFill>
                <a:effectLst/>
                <a:latin typeface="Avenir Next LT Pro" panose="020B0504020202020204" pitchFamily="34" charset="0"/>
              </a:rPr>
              <a:t>Map apps to business units and owners.</a:t>
            </a:r>
            <a:r>
              <a:rPr sz="1200" dirty="0">
                <a:effectLst/>
              </a:rPr>
              <a:t> </a:t>
            </a:r>
          </a:p>
          <a:p>
            <a:pPr marL="0" algn="l">
              <a:spcBef>
                <a:spcPts val="450"/>
              </a:spcBef>
              <a:buNone/>
            </a:pPr>
            <a:r>
              <a:rPr sz="1200" dirty="0">
                <a:solidFill>
                  <a:srgbClr val="FFFFFF"/>
                </a:solidFill>
                <a:effectLst/>
                <a:latin typeface="Avenir Next LT Pro" panose="020B0504020202020204" pitchFamily="34" charset="0"/>
              </a:rPr>
              <a:t>Estimate token usage and costs per app.</a:t>
            </a:r>
            <a:r>
              <a:rPr sz="1200" dirty="0">
                <a:effectLst/>
              </a:rPr>
              <a:t> </a:t>
            </a:r>
            <a:endParaRPr lang="en-GB" sz="1200" dirty="0"/>
          </a:p>
        </p:txBody>
      </p:sp>
    </p:spTree>
    <p:extLst>
      <p:ext uri="{BB962C8B-B14F-4D97-AF65-F5344CB8AC3E}">
        <p14:creationId xmlns:p14="http://schemas.microsoft.com/office/powerpoint/2010/main" val="2857083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ADAAC-EF02-7CC8-7070-481EDE6C55AD}"/>
              </a:ext>
            </a:extLst>
          </p:cNvPr>
          <p:cNvSpPr>
            <a:spLocks noGrp="1"/>
          </p:cNvSpPr>
          <p:nvPr>
            <p:ph type="title"/>
          </p:nvPr>
        </p:nvSpPr>
        <p:spPr>
          <a:xfrm>
            <a:off x="523399" y="902296"/>
            <a:ext cx="11125032" cy="965101"/>
          </a:xfrm>
        </p:spPr>
        <p:txBody>
          <a:bodyPr anchor="b">
            <a:normAutofit/>
          </a:bodyPr>
          <a:lstStyle/>
          <a:p>
            <a:r>
              <a:rPr lang="en-GB" b="1" dirty="0"/>
              <a:t>Key Recommendations</a:t>
            </a:r>
            <a:endParaRPr lang="en-US" dirty="0"/>
          </a:p>
          <a:p>
            <a:endParaRPr lang="en-GB" dirty="0"/>
          </a:p>
        </p:txBody>
      </p:sp>
      <p:sp>
        <p:nvSpPr>
          <p:cNvPr id="4" name="Date Placeholder 3">
            <a:extLst>
              <a:ext uri="{FF2B5EF4-FFF2-40B4-BE49-F238E27FC236}">
                <a16:creationId xmlns:a16="http://schemas.microsoft.com/office/drawing/2014/main" id="{3E8A42DF-2265-8DC1-58C1-F6D72EA06EC0}"/>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3/14/2026</a:t>
            </a:fld>
            <a:endParaRPr lang="en-US"/>
          </a:p>
        </p:txBody>
      </p:sp>
      <p:sp>
        <p:nvSpPr>
          <p:cNvPr id="5" name="Footer Placeholder 4">
            <a:extLst>
              <a:ext uri="{FF2B5EF4-FFF2-40B4-BE49-F238E27FC236}">
                <a16:creationId xmlns:a16="http://schemas.microsoft.com/office/drawing/2014/main" id="{3E990921-6F4D-0A1E-CB1B-9BD0436DDF6E}"/>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322CCB36-54DC-573F-A626-FD5F6B47F455}"/>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41</a:t>
            </a:fld>
            <a:endParaRPr lang="en-US"/>
          </a:p>
        </p:txBody>
      </p:sp>
      <p:graphicFrame>
        <p:nvGraphicFramePr>
          <p:cNvPr id="8" name="Content Placeholder 2">
            <a:extLst>
              <a:ext uri="{FF2B5EF4-FFF2-40B4-BE49-F238E27FC236}">
                <a16:creationId xmlns:a16="http://schemas.microsoft.com/office/drawing/2014/main" id="{839C7759-AC55-9713-8949-8A9DEB470B3C}"/>
              </a:ext>
            </a:extLst>
          </p:cNvPr>
          <p:cNvGraphicFramePr>
            <a:graphicFrameLocks noGrp="1"/>
          </p:cNvGraphicFramePr>
          <p:nvPr>
            <p:ph idx="1"/>
          </p:nvPr>
        </p:nvGraphicFramePr>
        <p:xfrm>
          <a:off x="431172" y="1384847"/>
          <a:ext cx="11125032" cy="490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6272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02956-8C45-CC03-B9D3-8AB7A60218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F8A3A7-8138-3627-EF5B-52FD1C2B96B7}"/>
              </a:ext>
            </a:extLst>
          </p:cNvPr>
          <p:cNvSpPr>
            <a:spLocks noGrp="1"/>
          </p:cNvSpPr>
          <p:nvPr>
            <p:ph type="title"/>
          </p:nvPr>
        </p:nvSpPr>
        <p:spPr/>
        <p:txBody>
          <a:bodyPr/>
          <a:lstStyle/>
          <a:p>
            <a:endParaRPr lang="es-ES"/>
          </a:p>
        </p:txBody>
      </p:sp>
    </p:spTree>
    <p:extLst>
      <p:ext uri="{BB962C8B-B14F-4D97-AF65-F5344CB8AC3E}">
        <p14:creationId xmlns:p14="http://schemas.microsoft.com/office/powerpoint/2010/main" val="454490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BF1B83D-B098-2BAF-BFEF-E9661EE67D31}"/>
              </a:ext>
            </a:extLst>
          </p:cNvPr>
          <p:cNvSpPr>
            <a:spLocks noGrp="1"/>
          </p:cNvSpPr>
          <p:nvPr>
            <p:ph type="title"/>
          </p:nvPr>
        </p:nvSpPr>
        <p:spPr/>
        <p:txBody>
          <a:bodyPr>
            <a:normAutofit/>
          </a:bodyPr>
          <a:lstStyle/>
          <a:p>
            <a:pPr algn="ctr"/>
            <a:r>
              <a:rPr lang="en-US" sz="3200" dirty="0"/>
              <a:t>Join the Global AI Meetup</a:t>
            </a:r>
          </a:p>
        </p:txBody>
      </p:sp>
      <p:pic>
        <p:nvPicPr>
          <p:cNvPr id="4" name="Picture 3">
            <a:extLst>
              <a:ext uri="{FF2B5EF4-FFF2-40B4-BE49-F238E27FC236}">
                <a16:creationId xmlns:a16="http://schemas.microsoft.com/office/drawing/2014/main" id="{CDC9CE60-98FE-4D70-2098-F37DB40E651F}"/>
              </a:ext>
            </a:extLst>
          </p:cNvPr>
          <p:cNvPicPr>
            <a:picLocks noChangeAspect="1"/>
          </p:cNvPicPr>
          <p:nvPr/>
        </p:nvPicPr>
        <p:blipFill>
          <a:blip r:embed="rId3"/>
          <a:stretch>
            <a:fillRect/>
          </a:stretch>
        </p:blipFill>
        <p:spPr>
          <a:xfrm>
            <a:off x="4467403" y="2070233"/>
            <a:ext cx="3257194" cy="3219099"/>
          </a:xfrm>
          <a:prstGeom prst="rect">
            <a:avLst/>
          </a:prstGeom>
        </p:spPr>
      </p:pic>
    </p:spTree>
    <p:extLst>
      <p:ext uri="{BB962C8B-B14F-4D97-AF65-F5344CB8AC3E}">
        <p14:creationId xmlns:p14="http://schemas.microsoft.com/office/powerpoint/2010/main" val="1422167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ea2f3c7-c116-4f99-9f2b-046c4dd523a5">
      <Terms xmlns="http://schemas.microsoft.com/office/infopath/2007/PartnerControls"/>
    </lcf76f155ced4ddcb4097134ff3c332f>
    <TaxCatchAll xmlns="d3edfee5-c738-40ce-954d-ccc6c355380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19CF0AF175EFE41AD7B37A1BAD40794" ma:contentTypeVersion="11" ma:contentTypeDescription="Crear nuevo documento." ma:contentTypeScope="" ma:versionID="a558fd477e90189f66f173b4c47e9130">
  <xsd:schema xmlns:xsd="http://www.w3.org/2001/XMLSchema" xmlns:xs="http://www.w3.org/2001/XMLSchema" xmlns:p="http://schemas.microsoft.com/office/2006/metadata/properties" xmlns:ns2="8ea2f3c7-c116-4f99-9f2b-046c4dd523a5" xmlns:ns3="d3edfee5-c738-40ce-954d-ccc6c3553808" targetNamespace="http://schemas.microsoft.com/office/2006/metadata/properties" ma:root="true" ma:fieldsID="de200625dc6c7640c6ff657b0da5e6c0" ns2:_="" ns3:_="">
    <xsd:import namespace="8ea2f3c7-c116-4f99-9f2b-046c4dd523a5"/>
    <xsd:import namespace="d3edfee5-c738-40ce-954d-ccc6c355380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a2f3c7-c116-4f99-9f2b-046c4dd523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0154099f-ff77-4dd6-bb50-c15c3bb27e9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edfee5-c738-40ce-954d-ccc6c355380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291a4a7-c366-406a-bdf3-8ba1f1be23f2}" ma:internalName="TaxCatchAll" ma:showField="CatchAllData" ma:web="d3edfee5-c738-40ce-954d-ccc6c355380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66A811-0E9C-4D5C-AB8F-5DC215D8F617}">
  <ds:schemaRefs>
    <ds:schemaRef ds:uri="http://schemas.microsoft.com/sharepoint/v3/contenttype/forms"/>
  </ds:schemaRefs>
</ds:datastoreItem>
</file>

<file path=customXml/itemProps2.xml><?xml version="1.0" encoding="utf-8"?>
<ds:datastoreItem xmlns:ds="http://schemas.openxmlformats.org/officeDocument/2006/customXml" ds:itemID="{B1F6091E-1E8B-4BD4-AA90-75221ED3D456}">
  <ds:schemaRefs>
    <ds:schemaRef ds:uri="http://purl.org/dc/elements/1.1/"/>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www.w3.org/XML/1998/namespace"/>
    <ds:schemaRef ds:uri="b8df2ea9-3bda-4d08-aeb7-dd7d258d2e46"/>
    <ds:schemaRef ds:uri="http://schemas.microsoft.com/office/infopath/2007/PartnerControls"/>
    <ds:schemaRef ds:uri="http://purl.org/dc/terms/"/>
    <ds:schemaRef ds:uri="8ea2f3c7-c116-4f99-9f2b-046c4dd523a5"/>
    <ds:schemaRef ds:uri="d3edfee5-c738-40ce-954d-ccc6c3553808"/>
  </ds:schemaRefs>
</ds:datastoreItem>
</file>

<file path=customXml/itemProps3.xml><?xml version="1.0" encoding="utf-8"?>
<ds:datastoreItem xmlns:ds="http://schemas.openxmlformats.org/officeDocument/2006/customXml" ds:itemID="{159A6791-ED12-49F5-B694-230F36AEC6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a2f3c7-c116-4f99-9f2b-046c4dd523a5"/>
    <ds:schemaRef ds:uri="d3edfee5-c738-40ce-954d-ccc6c35538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199</TotalTime>
  <Words>4533</Words>
  <Application>Microsoft Office PowerPoint</Application>
  <PresentationFormat>Widescreen</PresentationFormat>
  <Paragraphs>422</Paragraphs>
  <Slides>43</Slides>
  <Notes>43</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Avenir Next LT Pro Regular</vt:lpstr>
      <vt:lpstr>Lufga</vt:lpstr>
      <vt:lpstr>Avenir Next LT Pro</vt:lpstr>
      <vt:lpstr>Neue Haas Grotesk Text Pro</vt:lpstr>
      <vt:lpstr>Arial</vt:lpstr>
      <vt:lpstr>Avenir Next LT Pro Bold</vt:lpstr>
      <vt:lpstr>Aptos</vt:lpstr>
      <vt:lpstr>Office Theme</vt:lpstr>
      <vt:lpstr>PowerPoint Presentation</vt:lpstr>
      <vt:lpstr>PowerPoint Presentation</vt:lpstr>
      <vt:lpstr>ENTERPRISE AI INFRASTRUCTURE FOCUS  </vt:lpstr>
      <vt:lpstr>PowerPoint Presentation</vt:lpstr>
      <vt:lpstr>PowerPoint Presentation</vt:lpstr>
      <vt:lpstr>PowerPoint Presentation</vt:lpstr>
      <vt:lpstr>SECURITY, COMPLIANCE, AND GOVERNANCE </vt:lpstr>
      <vt:lpstr>Security &amp; Compliance Challenges </vt:lpstr>
      <vt:lpstr>PowerPoint Presentation</vt:lpstr>
      <vt:lpstr>PowerPoint Presentation</vt:lpstr>
      <vt:lpstr>PowerPoint Presentation</vt:lpstr>
      <vt:lpstr>OUTCOME</vt:lpstr>
      <vt:lpstr>ARCHITECTURE AND INTEGRATION PATTERNS  </vt:lpstr>
      <vt:lpstr>PowerPoint Presentation</vt:lpstr>
      <vt:lpstr>PowerPoint Presentation</vt:lpstr>
      <vt:lpstr>Azure Landing zone</vt:lpstr>
      <vt:lpstr>PowerPoint Presentation</vt:lpstr>
      <vt:lpstr>Provisioning</vt:lpstr>
      <vt:lpstr>PLATFORM LANDING ZONE </vt:lpstr>
      <vt:lpstr>Ai hub CORE COMPONENTS</vt:lpstr>
      <vt:lpstr>APPLICATION spoke</vt:lpstr>
      <vt:lpstr>PowerPoint Presentation</vt:lpstr>
      <vt:lpstr>COST MODELLING OPTIMISATION </vt:lpstr>
      <vt:lpstr>PowerPoint Presentation</vt:lpstr>
      <vt:lpstr>Capacity Estimates </vt:lpstr>
      <vt:lpstr>PowerPoint Presentation</vt:lpstr>
      <vt:lpstr>Azure OpenAI PTU Calculator</vt:lpstr>
      <vt:lpstr>Hybrid Model: PTU + PAYG </vt:lpstr>
      <vt:lpstr>Zero Trust Security Principles </vt:lpstr>
      <vt:lpstr>Managed Identity Auth Flow </vt:lpstr>
      <vt:lpstr>APIM Security Policies </vt:lpstr>
      <vt:lpstr>Application Framework Support </vt:lpstr>
      <vt:lpstr>Chargeback Architecture </vt:lpstr>
      <vt:lpstr>Azure Policy Enforcement </vt:lpstr>
      <vt:lpstr>MONITORING OPERATIONS MIGRATION </vt:lpstr>
      <vt:lpstr>PowerPoint Presentation</vt:lpstr>
      <vt:lpstr>APIM DASHBOARD </vt:lpstr>
      <vt:lpstr>PowerPoint Presentation</vt:lpstr>
      <vt:lpstr>Migration Phases </vt:lpstr>
      <vt:lpstr>PowerPoint Presentation</vt:lpstr>
      <vt:lpstr>Key Recommendations </vt:lpstr>
      <vt:lpstr>PowerPoint Presentation</vt:lpstr>
      <vt:lpstr>Join the Global AI Meetup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Simon</dc:creator>
  <cp:lastModifiedBy>Toribio, Ruben</cp:lastModifiedBy>
  <cp:revision>18</cp:revision>
  <dcterms:created xsi:type="dcterms:W3CDTF">2026-01-15T14:46:51Z</dcterms:created>
  <dcterms:modified xsi:type="dcterms:W3CDTF">2026-03-14T00:00:05Z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0x010100819CF0AF175EFE41AD7B37A1BAD40794</vt:lpwstr>
  </property>
  <property fmtid="{D5CDD505-2E9C-101B-9397-08002B2CF9AE}" pid="3" name="MSIP_Label_defa4170-0d19-0005-0004-bc88714345d2_Enabled">
    <vt:lpwstr>true</vt:lpwstr>
  </property>
  <property fmtid="{D5CDD505-2E9C-101B-9397-08002B2CF9AE}" pid="4" name="MSIP_Label_defa4170-0d19-0005-0004-bc88714345d2_SetDate">
    <vt:lpwstr>2026-03-13T23:38:53Z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6de34623-e9d8-45f7-b735-d90da9f13e14</vt:lpwstr>
  </property>
  <property fmtid="{D5CDD505-2E9C-101B-9397-08002B2CF9AE}" pid="8" name="MSIP_Label_defa4170-0d19-0005-0004-bc88714345d2_ActionId">
    <vt:lpwstr>82cb79af-2c48-4d48-b6ab-b83200df95b9</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y fmtid="{D5CDD505-2E9C-101B-9397-08002B2CF9AE}" pid="11" name="DocumentInfoFinished">
    <vt:lpwstr>True</vt:lpwstr>
  </property>
</Properties>
</file>